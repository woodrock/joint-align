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notesMasterIdLst>
    <p:notesMasterId r:id="rId2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notesMaster" Target="notesMasters/notesMaster1.xml"/><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Built from your question-and-answer session about the joint alignment paper. Numbers come from the paper (main.tex) and the code (src/multibatch.py). Slides tagged Intuition use the cream background; slides tagged Maths use the blue-grey background.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11 (is IRLS like Adam?) was a follow-up to question 10, and question 13 merges two related questions you asked about the uncertainty section.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shared clock is the latent retention-time axis. Every batch k has one monotone warp f_k from its own retention time onto that axis. A map between batches is always “go onto the clock with the first batch’s warp, come off with the second batch’s inverse warp.” Blue: the direct route from k to l. Orange: the detour through m, which leaves the clock at τ and returns to the very same τ. The next slide writes this as algebra.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composition right to left: f_k acts first. The proof uses only two facts: composition is associative, and f composed with its own inverse is the identity on the shared clock. Neither depends on the data, which is why the property holds “by construction.” The 0.0023 min is numerical: the code inverts each warp by linear interpolation on a grid of 4T points, so the maps cancel up to that interpolation error.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anchor is a pair of peaks, a in batch k and b in batch l, judged to be the same compound. A perfect fit would land both on the same point of the shared clock. The miss is measured on the clock, where both peaks arrive by their own forward warps, so the inverse never appears in the objective. The code computes each inverse after the fit by evaluating f_k on a grid of 4T = 800 points and swapping the axes with linear interpolation.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t = 22, the left knot is 20 and the right knot is 30, with spacing 10. Left weight (30 − 22)/10 = 0.8; right weight (22 − 20)/10 = 0.2. The nearer knot gets the larger weight. Because B(t) is computed from t and the fixed knot grid alone, it is a row of known numbers before any fitting happens. In the code this is _hat_basis(t, knots).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θ_k holds the increments (c, δ₁, δ₂, …); multiplying by L turns them into the knot values. With θ_k = (0, 2, −1, 2), L θ_k = (0, 2, 1, 3). The chat’s worked example used drift in minutes; this toy uses bins. Neither piece alone is the warp: θ_k only knows the knots, and B(t) knows nothing about the batch.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row has non-zero entries only in the two blocks of the batches the anchor connects. Every other batch’s block is zero, because that anchor says nothing about those batches directly. 205 columns = 5 batches times 41 knots. The order of the five blocks on the slide is illustrative; k and l can be any two different batches.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Δu is the knot spacing: 41 knots spread over bins 0 to 199 gives 199/40 ≈ 4.98 bins, or about 1.12 min at 0.225 min per bin. The slope bound [0.5, 2] means the warp can run at between half and double the speed of the shared clock, never stopping or reversing, so every warp is strictly increasing and has an inverse. The bound on δ is the slope bound rearranged: 0.5 ≤ 1 + δ/Δu gives δ ≥ −0.5Δu, and 1 + δ/Δu ≤ 2 gives δ ≤ Δu. The raw-value version is still a convex problem, just not one with simple bounds.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“Bounded-variable least squares” is ordinary least squares where each unknown must stay inside its own interval. The chat said this problem is strictly convex and has an exact global minimum. It is convex, so any minimum is global, but the anchor term alone is not strictly convex: the next two slides show why, and what makes the minimum unique.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 is the Hessian, the matrix of second derivatives, which describes how the loss curves in each direction. For the loss (d₁ − d₂ − y)², the second derivatives are 2, −2, −2, 2. Its eigenvalue 0 goes with the direction (1, 1): moving both drifts up together. In the full model the same flat direction exists with 205 unknowns: add a constant s to every c_k. Every anchor miss is unchanged, so A has a null space and AᵀA is singular.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symmetric matrix H is positive definite when xᵀHx is positive for every non-zero x. That is the same as all its eigenvalues being positive. Semi-definite allows zero, which is a flat direction. In the toy, the first term is zero along the valley (x₁ = x₂), and the gauge term is zero only when x₁ = 0. Both are zero together only at x = 0, so the trough has become a bowl with one lowest point.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batches are drawn as runners on a track. The top row is one possible answer; the bottom row moves all three forward by 2. The gaps, which are all the anchors can measure, are identical. Without a gauge the solver has no reason to prefer one row over the other. Each gauge is a choice of convention, not a fact about the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paper’s sentence: a common monotone reparameterisation f_k ↦ h ∘ f_k leaves every map g_k→l unchanged, but the penalty and bounds are not invariant to it, so gauges can give slightly different maps. The two-batch toy treats the map as roughly t plus the gap between the drifts, which holds when drifts change slowly. Under the reference gauge the whole curve sits in one warp; under the mean gauge it is split in two halves, and squaring halves gives a quarter each, so a half in total.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Think of the shared clock as a rubber ruler laid beside every batch. Sliding the ruler (a shift) moves all the marks equally: every batch’s offset changes by the same amount, and no curve gets more or less bent. Stretching the ruler unevenly (a change of shape) changes where the marks fall: a warp that was straight against the old ruler becomes bent against the new one, and vice versa. The maps between batches only ask which marks line up across batches, so they do not care about either. The smoothness penalty asks how bent each warp is against the ruler, so it cares about the stretch but not the slide. The reference gauge says “the ruler is batch A’s own clock”, which puts all the bend into B. The mean gauge says “the ruler is the average of the batches”, which splits it. With the same λ, the split version pays half the penalty for the same relative bump.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Numbers from the paper’s sensitivity results. The chat’s explanation that the mean gauge “distributes the warping responsibility evenly” is a plausible story but the paper does not test it. A fuller comparison would tune λ separately for each gauge; the paper’s rule tunes λ for the reference gauge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Your summary was right apart from naming Huber twice: the second stage is Tukey’s bisquare. Two corrections to the chat. First, Huber’s loss is convex but not strictly convex: beyond the threshold it grows in a straight line. Second, the loop does not run to convergence; the code runs one unweighted solve, three Huber-weighted solves and four Tukey-weighted solves. Each solve is a weighted bounded least-squares problem with a unique answer, thanks to the gauge and smoothness terms. MAD is the median absolute deviation; 1.4826 × MAD estimates the standard deviation for Gaussian data while ignoring outliers.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asked whether IRLS is like Adam giving each weight its own learning rate. The shared idea is adaptive re-scaling from the latest errors. The difference is what gets re-scaled: IRLS re-scales the rows of A (data points), Adam re-scales the steps along each column (parameters). IRLS also needs no step size: each round is a complete least-squares solve.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cross-validation is used to pick λ, just not ordinary cross-validation. The full grid is 0.1, 1, 10, 30, 100, 300, 1000, 3000 and 10,000. 200 bins divided into blocks of 12 gives 16 full blocks and one of 8. This is the same idea as spatially or temporally blocked cross-validation in machine learning, used when nearby points share information.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band answers “how sure are we about the average map?” The interval answers “where should I look for this compound in the other batch?” A well-pinned line with scattered points gives a thin band and a wide interval, which is what the fish data show. The 15% is expected to be low: the band was never meant to contain individual peaks.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Adding the two widths “in quadrature” (square root of the sum of squares) treats the line’s uncertainty and the peak’s scatter as independent. σ_kl is a robust spread of the anchor misses for batch pair k, l, computed from the anchors that kept a positive weight. Smoothing bias is a hypothesis in the paper, not a measured cause; the Gaussian assumption behind 1.645 is another place the interval could fall short.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“Imputes the missing map through the network of partial constraints” means: the map between two batches is never fitted on its own. Each batch’s warp onto the clock is fixed by all its anchors with every batch, and the map is then f_l inverse composed with f_k. The chat said deleting a pair’s anchors gives “virtually zero shift”; that holds for nine pairs, not the tenth. The chat also invented anchor counts for the bridges; the slide shows only the 228 reported in the paper.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None of these change the method or its results; they change how it should be described. The first was corrected by the chat itself after you questioned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chat also described the mean gauge as “distributing warping responsibility evenly” and gave anchor counts for the borrowing example that the paper does not report. Treat both as illustration, not findings.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one-slide recap to come back to. Each card points back to a group of questions: 1 to Q1 and Q14, 2 to Q2–Q4, 3 to Q5–Q6, 4 to Q7–Q9, 5 to Q10–Q12, 6 to Q13.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7F5F0"/>
        </a:solidFill>
      </p:bgPr>
    </p:bg>
    <p:spTree>
      <p:nvGrpSpPr>
        <p:cNvPr id="1" name=""/>
        <p:cNvGrpSpPr/>
        <p:nvPr/>
      </p:nvGrpSpPr>
      <p:grpSpPr>
        <a:xfrm>
          <a:off x="0" y="0"/>
          <a:ext cx="0" cy="0"/>
          <a:chOff x="0" y="0"/>
          <a:chExt cx="0" cy="0"/>
        </a:xfrm>
      </p:grpSpPr>
      <p:sp>
        <p:nvSpPr>
          <p:cNvPr id="2" name="Title Placeholder 1"/>
          <p:cNvSpPr/>
          <p:nvPr>
            <p:ph type="title"/>
          </p:nvPr>
        </p:nvSpPr>
        <p:spPr>
          <a:xfrm>
            <a:off x="812782" y="1127665"/>
            <a:ext cx="10566436" cy="447026"/>
          </a:xfrm>
          <a:prstGeom prst="rect">
            <a:avLst/>
          </a:prstGeom>
          <a:noFill/>
          <a:ln/>
        </p:spPr>
        <p:txBody>
          <a:bodyPr wrap="square" lIns="0" tIns="0" rIns="0" bIns="0" rtlCol="0" anchor="t"/>
          <a:lstStyle>
            <a:lvl1pPr algn="l" indent="0" marL="0">
              <a:lnSpc>
                <a:spcPct val="115000"/>
              </a:lnSpc>
              <a:buNone/>
              <a:defRPr lang="en-US" sz="3200" dirty="0">
                <a:solidFill>
                  <a:srgbClr val="1B2A3A"/>
                </a:solidFill>
                <a:latin typeface="Source Serif 4" pitchFamily="34" charset="0"/>
                <a:ea typeface="Source Serif 4" pitchFamily="34" charset="-122"/>
                <a:cs typeface="Source Serif 4"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782" y="1879490"/>
            <a:ext cx="10566418" cy="4165710"/>
          </a:xfrm>
          <a:prstGeom prst="rect">
            <a:avLst/>
          </a:prstGeom>
          <a:noFill/>
          <a:ln/>
        </p:spPr>
        <p:txBody>
          <a:bodyPr wrap="square" lIns="0" tIns="0" rIns="0" bIns="0" rtlCol="0" anchor="t"/>
          <a:lstStyle>
            <a:lvl1pPr algn="l" indent="0" marL="0">
              <a:lnSpc>
                <a:spcPct val="140000"/>
              </a:lnSpc>
              <a:buNone/>
              <a:defRPr lang="en-US" sz="1600" dirty="0">
                <a:solidFill>
                  <a:srgbClr val="1B2A3A"/>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7F5F0"/>
        </a:solidFill>
      </p:bgPr>
    </p:bg>
    <p:spTree>
      <p:nvGrpSpPr>
        <p:cNvPr id="1" name=""/>
        <p:cNvGrpSpPr/>
        <p:nvPr/>
      </p:nvGrpSpPr>
      <p:grpSpPr>
        <a:xfrm>
          <a:off x="0" y="0"/>
          <a:ext cx="0" cy="0"/>
          <a:chOff x="0" y="0"/>
          <a:chExt cx="0" cy="0"/>
        </a:xfrm>
      </p:grpSpPr>
      <p:sp>
        <p:nvSpPr>
          <p:cNvPr id="2" name="Title Placeholder 1"/>
          <p:cNvSpPr/>
          <p:nvPr>
            <p:ph type="title"/>
          </p:nvPr>
        </p:nvSpPr>
        <p:spPr>
          <a:xfrm>
            <a:off x="812782" y="1127665"/>
            <a:ext cx="10566436" cy="447026"/>
          </a:xfrm>
          <a:prstGeom prst="rect">
            <a:avLst/>
          </a:prstGeom>
          <a:noFill/>
          <a:ln/>
        </p:spPr>
        <p:txBody>
          <a:bodyPr wrap="square" lIns="0" tIns="0" rIns="0" bIns="0" rtlCol="0" anchor="t"/>
          <a:lstStyle>
            <a:lvl1pPr algn="l" indent="0" marL="0">
              <a:lnSpc>
                <a:spcPct val="115000"/>
              </a:lnSpc>
              <a:buNone/>
              <a:defRPr lang="en-US" sz="3200" dirty="0">
                <a:solidFill>
                  <a:srgbClr val="1B2A3A"/>
                </a:solidFill>
                <a:latin typeface="Source Serif 4" pitchFamily="34" charset="0"/>
                <a:ea typeface="Source Serif 4" pitchFamily="34" charset="-122"/>
                <a:cs typeface="Source Serif 4"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782" y="1879490"/>
            <a:ext cx="10566418" cy="4165710"/>
          </a:xfrm>
          <a:prstGeom prst="rect">
            <a:avLst/>
          </a:prstGeom>
          <a:noFill/>
          <a:ln/>
        </p:spPr>
        <p:txBody>
          <a:bodyPr wrap="square" lIns="0" tIns="0" rIns="0" bIns="0" rtlCol="0" anchor="t"/>
          <a:lstStyle>
            <a:lvl1pPr algn="l" indent="0" marL="0">
              <a:lnSpc>
                <a:spcPct val="140000"/>
              </a:lnSpc>
              <a:buNone/>
              <a:defRPr lang="en-US" sz="1600" dirty="0">
                <a:solidFill>
                  <a:srgbClr val="1B2A3A"/>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2.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2.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2.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2.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2.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slideLayout" Target="../slideLayouts/slideLayout2.xml"/><Relationship Id="rId5"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slideLayout" Target="../slideLayouts/slideLayout2.xml"/><Relationship Id="rId5"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image" Target="../media/image-22-4.png"/><Relationship Id="rId5" Type="http://schemas.openxmlformats.org/officeDocument/2006/relationships/image" Target="../media/image-22-5.png"/><Relationship Id="rId6" Type="http://schemas.openxmlformats.org/officeDocument/2006/relationships/image" Target="../media/image-22-6.png"/><Relationship Id="rId7" Type="http://schemas.openxmlformats.org/officeDocument/2006/relationships/image" Target="../media/image-22-7.png"/><Relationship Id="rId8" Type="http://schemas.openxmlformats.org/officeDocument/2006/relationships/image" Target="../media/image-22-8.png"/><Relationship Id="rId9" Type="http://schemas.openxmlformats.org/officeDocument/2006/relationships/image" Target="../media/image-22-9.png"/><Relationship Id="rId10" Type="http://schemas.openxmlformats.org/officeDocument/2006/relationships/image" Target="../media/image-22-10.png"/><Relationship Id="rId11" Type="http://schemas.openxmlformats.org/officeDocument/2006/relationships/slideLayout" Target="../slideLayouts/slideLayout2.xml"/><Relationship Id="rId1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A3A"/>
        </a:solidFill>
      </p:bgPr>
    </p:bg>
    <p:spTree>
      <p:nvGrpSpPr>
        <p:cNvPr id="1" name=""/>
        <p:cNvGrpSpPr/>
        <p:nvPr/>
      </p:nvGrpSpPr>
      <p:grpSpPr>
        <a:xfrm>
          <a:off x="0" y="0"/>
          <a:ext cx="0" cy="0"/>
          <a:chOff x="0" y="0"/>
          <a:chExt cx="0" cy="0"/>
        </a:xfrm>
      </p:grpSpPr>
      <p:sp>
        <p:nvSpPr>
          <p:cNvPr id="2" name="Text 0"/>
          <p:cNvSpPr/>
          <p:nvPr/>
        </p:nvSpPr>
        <p:spPr>
          <a:xfrm>
            <a:off x="812782" y="1717161"/>
            <a:ext cx="10883429" cy="274259"/>
          </a:xfrm>
          <a:prstGeom prst="rect">
            <a:avLst/>
          </a:prstGeom>
          <a:noFill/>
          <a:ln/>
        </p:spPr>
        <p:txBody>
          <a:bodyPr wrap="square" lIns="0" tIns="0" rIns="0" bIns="0" rtlCol="0" anchor="t">
            <a:normAutofit/>
          </a:bodyPr>
          <a:lstStyle/>
          <a:p>
            <a:pPr algn="l" indent="0" marL="0">
              <a:lnSpc>
                <a:spcPts val="1960"/>
              </a:lnSpc>
              <a:buNone/>
            </a:pPr>
            <a:r>
              <a:rPr lang="en-US" sz="1400" spc="150" kern="0" dirty="0">
                <a:solidFill>
                  <a:srgbClr val="8FB4E6"/>
                </a:solidFill>
                <a:latin typeface="IBM Plex Sans" pitchFamily="34" charset="0"/>
                <a:ea typeface="IBM Plex Sans" pitchFamily="34" charset="-122"/>
                <a:cs typeface="IBM Plex Sans" pitchFamily="34" charset="-120"/>
              </a:rPr>
              <a:t>STUDY NOTES · THE JOINT MODEL</a:t>
            </a:r>
            <a:endParaRPr lang="en-US" sz="1400" dirty="0"/>
          </a:p>
        </p:txBody>
      </p:sp>
      <p:sp>
        <p:nvSpPr>
          <p:cNvPr id="3" name="Text 1"/>
          <p:cNvSpPr/>
          <p:nvPr>
            <p:ph type="title"/>
          </p:nvPr>
        </p:nvSpPr>
        <p:spPr>
          <a:xfrm>
            <a:off x="812782" y="2220020"/>
            <a:ext cx="10883429" cy="1625528"/>
          </a:xfrm>
          <a:prstGeom prst="rect">
            <a:avLst/>
          </a:prstGeom>
          <a:noFill/>
          <a:ln/>
        </p:spPr>
        <p:txBody>
          <a:bodyPr wrap="square" lIns="0" tIns="0" rIns="0" bIns="0" rtlCol="0" anchor="t">
            <a:normAutofit/>
          </a:bodyPr>
          <a:lstStyle/>
          <a:p>
            <a:pPr algn="l" indent="0" marL="0">
              <a:lnSpc>
                <a:spcPts val="6300"/>
              </a:lnSpc>
              <a:buNone/>
            </a:pPr>
            <a:r>
              <a:rPr lang="en-US" sz="6000" b="1" i="0" dirty="0">
                <a:solidFill>
                  <a:srgbClr val="F7F5F0"/>
                </a:solidFill>
                <a:latin typeface="Source Serif 4" pitchFamily="18" charset="0"/>
                <a:ea typeface="Source Serif 4" pitchFamily="18" charset="-122"/>
                <a:cs typeface="Source Serif 4" pitchFamily="18" charset="-120"/>
              </a:rPr>
              <a:t>Joint alignment,</a:t>
            </a:r>
            <a:endParaRPr lang="en-US" sz="6000" dirty="0"/>
          </a:p>
          <a:p>
            <a:pPr algn="l" indent="0" marL="0">
              <a:lnSpc>
                <a:spcPts val="6300"/>
              </a:lnSpc>
              <a:buNone/>
            </a:pPr>
            <a:r>
              <a:rPr lang="en-US" sz="6000" b="1" i="0" dirty="0">
                <a:solidFill>
                  <a:srgbClr val="F7F5F0"/>
                </a:solidFill>
                <a:latin typeface="Source Serif 4" pitchFamily="18" charset="0"/>
                <a:ea typeface="Source Serif 4" pitchFamily="18" charset="-122"/>
                <a:cs typeface="Source Serif 4" pitchFamily="18" charset="-120"/>
              </a:rPr>
              <a:t>question by question</a:t>
            </a:r>
            <a:endParaRPr lang="en-US" sz="6000" dirty="0"/>
          </a:p>
        </p:txBody>
      </p:sp>
      <p:sp>
        <p:nvSpPr>
          <p:cNvPr id="4" name="Text 2"/>
          <p:cNvSpPr/>
          <p:nvPr/>
        </p:nvSpPr>
        <p:spPr>
          <a:xfrm>
            <a:off x="812782" y="4074147"/>
            <a:ext cx="8502650" cy="1092092"/>
          </a:xfrm>
          <a:prstGeom prst="rect">
            <a:avLst/>
          </a:prstGeom>
          <a:noFill/>
          <a:ln/>
        </p:spPr>
        <p:txBody>
          <a:bodyPr wrap="square" lIns="0" tIns="0" rIns="0" bIns="0" rtlCol="0" anchor="t">
            <a:normAutofit/>
          </a:bodyPr>
          <a:lstStyle/>
          <a:p>
            <a:pPr algn="l" indent="0" marL="0">
              <a:lnSpc>
                <a:spcPts val="2800"/>
              </a:lnSpc>
              <a:buNone/>
            </a:pPr>
            <a:r>
              <a:rPr lang="en-US" sz="2000" dirty="0">
                <a:solidFill>
                  <a:srgbClr val="C9D3DC"/>
                </a:solidFill>
                <a:latin typeface="IBM Plex Sans" pitchFamily="34" charset="0"/>
                <a:ea typeface="IBM Plex Sans" pitchFamily="34" charset="-122"/>
                <a:cs typeface="IBM Plex Sans" pitchFamily="34" charset="-120"/>
              </a:rPr>
              <a:t>The questions you asked while working through the paper, in the order you asked them. Each answer goes intuition first, then a picture, then the maths.</a:t>
            </a:r>
            <a:endParaRPr lang="en-US" sz="2000" dirty="0"/>
          </a:p>
        </p:txBody>
      </p:sp>
      <p:sp>
        <p:nvSpPr>
          <p:cNvPr id="5" name="Text 3"/>
          <p:cNvSpPr/>
          <p:nvPr/>
        </p:nvSpPr>
        <p:spPr>
          <a:xfrm>
            <a:off x="812782" y="6024968"/>
            <a:ext cx="10883382"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AA8B5"/>
                </a:solidFill>
                <a:latin typeface="IBM Plex Sans" pitchFamily="34" charset="0"/>
                <a:ea typeface="IBM Plex Sans" pitchFamily="34" charset="-122"/>
                <a:cs typeface="IBM Plex Sans" pitchFamily="34" charset="-120"/>
              </a:rPr>
              <a:t>Every answer was checked against the paper and the code. Where the chat got something wrong, the slide says so, and two slides at the end collect the corrections.</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5F0"/>
        </a:solidFill>
      </p:bgPr>
    </p:bg>
    <p:spTree>
      <p:nvGrpSpPr>
        <p:cNvPr id="1" name=""/>
        <p:cNvGrpSpPr/>
        <p:nvPr/>
      </p:nvGrpSpPr>
      <p:grpSpPr>
        <a:xfrm>
          <a:off x="0" y="0"/>
          <a:ext cx="0" cy="0"/>
          <a:chOff x="0" y="0"/>
          <a:chExt cx="0" cy="0"/>
        </a:xfrm>
      </p:grpSpPr>
      <p:sp>
        <p:nvSpPr>
          <p:cNvPr id="2" name="Text 0"/>
          <p:cNvSpPr/>
          <p:nvPr/>
        </p:nvSpPr>
        <p:spPr>
          <a:xfrm>
            <a:off x="812782" y="812781"/>
            <a:ext cx="10883429"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2F6FBF"/>
                </a:solidFill>
                <a:latin typeface="IBM Plex Sans" pitchFamily="34" charset="0"/>
                <a:ea typeface="IBM Plex Sans" pitchFamily="34" charset="-122"/>
                <a:cs typeface="IBM Plex Sans" pitchFamily="34" charset="-120"/>
              </a:rPr>
              <a:t>YOUR QUESTIONS</a:t>
            </a:r>
            <a:endParaRPr lang="en-US" sz="1200" dirty="0"/>
          </a:p>
        </p:txBody>
      </p:sp>
      <p:sp>
        <p:nvSpPr>
          <p:cNvPr id="3" name="Text 1"/>
          <p:cNvSpPr/>
          <p:nvPr>
            <p:ph type="title"/>
          </p:nvPr>
        </p:nvSpPr>
        <p:spPr>
          <a:xfrm>
            <a:off x="812782" y="1127666"/>
            <a:ext cx="10883429" cy="472426"/>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B2A3A"/>
                </a:solidFill>
                <a:latin typeface="Source Serif 4" pitchFamily="18" charset="0"/>
                <a:ea typeface="Source Serif 4" pitchFamily="18" charset="-122"/>
                <a:cs typeface="Source Serif 4" pitchFamily="18" charset="-120"/>
              </a:rPr>
              <a:t>Fourteen questions, in the order you asked them</a:t>
            </a:r>
            <a:endParaRPr lang="en-US" sz="3200" dirty="0"/>
          </a:p>
        </p:txBody>
      </p:sp>
      <p:sp>
        <p:nvSpPr>
          <p:cNvPr id="4" name="Text 2"/>
          <p:cNvSpPr/>
          <p:nvPr/>
        </p:nvSpPr>
        <p:spPr>
          <a:xfrm>
            <a:off x="812782" y="1879474"/>
            <a:ext cx="5441714" cy="292073"/>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2F6FBF"/>
                </a:solidFill>
                <a:latin typeface="IBM Plex Sans" pitchFamily="34" charset="0"/>
                <a:ea typeface="IBM Plex Sans" pitchFamily="34" charset="-122"/>
                <a:cs typeface="IBM Plex Sans" pitchFamily="34" charset="-120"/>
              </a:rPr>
              <a:t>1</a:t>
            </a:r>
            <a:r>
              <a:rPr lang="en-US" sz="1500" dirty="0">
                <a:solidFill>
                  <a:srgbClr val="3E4A56"/>
                </a:solidFill>
                <a:latin typeface="IBM Plex Sans" pitchFamily="34" charset="0"/>
                <a:ea typeface="IBM Plex Sans" pitchFamily="34" charset="-122"/>
                <a:cs typeface="IBM Plex Sans" pitchFamily="34" charset="-120"/>
              </a:rPr>
              <a:t> Why does every route between batches give the same map?</a:t>
            </a:r>
            <a:endParaRPr lang="en-US" sz="1500" dirty="0"/>
          </a:p>
        </p:txBody>
      </p:sp>
      <p:sp>
        <p:nvSpPr>
          <p:cNvPr id="5" name="Text 3"/>
          <p:cNvSpPr/>
          <p:nvPr/>
        </p:nvSpPr>
        <p:spPr>
          <a:xfrm>
            <a:off x="6096000" y="1879474"/>
            <a:ext cx="5441714" cy="292073"/>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2F6FBF"/>
                </a:solidFill>
                <a:latin typeface="IBM Plex Sans" pitchFamily="34" charset="0"/>
                <a:ea typeface="IBM Plex Sans" pitchFamily="34" charset="-122"/>
                <a:cs typeface="IBM Plex Sans" pitchFamily="34" charset="-120"/>
              </a:rPr>
              <a:t>8</a:t>
            </a:r>
            <a:r>
              <a:rPr lang="en-US" sz="1500" dirty="0">
                <a:solidFill>
                  <a:srgbClr val="3E4A56"/>
                </a:solidFill>
                <a:latin typeface="IBM Plex Sans" pitchFamily="34" charset="0"/>
                <a:ea typeface="IBM Plex Sans" pitchFamily="34" charset="-122"/>
                <a:cs typeface="IBM Plex Sans" pitchFamily="34" charset="-120"/>
              </a:rPr>
              <a:t> What does “positive definite” mean?</a:t>
            </a:r>
            <a:endParaRPr lang="en-US" sz="1500" dirty="0"/>
          </a:p>
        </p:txBody>
      </p:sp>
      <p:sp>
        <p:nvSpPr>
          <p:cNvPr id="6" name="Text 4"/>
          <p:cNvSpPr/>
          <p:nvPr/>
        </p:nvSpPr>
        <p:spPr>
          <a:xfrm>
            <a:off x="812782" y="2146147"/>
            <a:ext cx="5441714" cy="292073"/>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2F6FBF"/>
                </a:solidFill>
                <a:latin typeface="IBM Plex Sans" pitchFamily="34" charset="0"/>
                <a:ea typeface="IBM Plex Sans" pitchFamily="34" charset="-122"/>
                <a:cs typeface="IBM Plex Sans" pitchFamily="34" charset="-120"/>
              </a:rPr>
              <a:t>2</a:t>
            </a:r>
            <a:r>
              <a:rPr lang="en-US" sz="1500" dirty="0">
                <a:solidFill>
                  <a:srgbClr val="3E4A56"/>
                </a:solidFill>
                <a:latin typeface="IBM Plex Sans" pitchFamily="34" charset="0"/>
                <a:ea typeface="IBM Plex Sans" pitchFamily="34" charset="-122"/>
                <a:cs typeface="IBM Plex Sans" pitchFamily="34" charset="-120"/>
              </a:rPr>
              <a:t> Why does fitting never need an inverse?</a:t>
            </a:r>
            <a:endParaRPr lang="en-US" sz="1500" dirty="0"/>
          </a:p>
        </p:txBody>
      </p:sp>
      <p:sp>
        <p:nvSpPr>
          <p:cNvPr id="7" name="Text 5"/>
          <p:cNvSpPr/>
          <p:nvPr/>
        </p:nvSpPr>
        <p:spPr>
          <a:xfrm>
            <a:off x="6096000" y="2146147"/>
            <a:ext cx="5441714" cy="292073"/>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2F6FBF"/>
                </a:solidFill>
                <a:latin typeface="IBM Plex Sans" pitchFamily="34" charset="0"/>
                <a:ea typeface="IBM Plex Sans" pitchFamily="34" charset="-122"/>
                <a:cs typeface="IBM Plex Sans" pitchFamily="34" charset="-120"/>
              </a:rPr>
              <a:t>9</a:t>
            </a:r>
            <a:r>
              <a:rPr lang="en-US" sz="1500" dirty="0">
                <a:solidFill>
                  <a:srgbClr val="3E4A56"/>
                </a:solidFill>
                <a:latin typeface="IBM Plex Sans" pitchFamily="34" charset="0"/>
                <a:ea typeface="IBM Plex Sans" pitchFamily="34" charset="-122"/>
                <a:cs typeface="IBM Plex Sans" pitchFamily="34" charset="-120"/>
              </a:rPr>
              <a:t> What is the gauge, and does the choice matter?</a:t>
            </a:r>
            <a:endParaRPr lang="en-US" sz="1500" dirty="0"/>
          </a:p>
        </p:txBody>
      </p:sp>
      <p:sp>
        <p:nvSpPr>
          <p:cNvPr id="8" name="Text 6"/>
          <p:cNvSpPr/>
          <p:nvPr/>
        </p:nvSpPr>
        <p:spPr>
          <a:xfrm>
            <a:off x="812782" y="2412819"/>
            <a:ext cx="5441714" cy="292073"/>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2F6FBF"/>
                </a:solidFill>
                <a:latin typeface="IBM Plex Sans" pitchFamily="34" charset="0"/>
                <a:ea typeface="IBM Plex Sans" pitchFamily="34" charset="-122"/>
                <a:cs typeface="IBM Plex Sans" pitchFamily="34" charset="-120"/>
              </a:rPr>
              <a:t>3</a:t>
            </a:r>
            <a:r>
              <a:rPr lang="en-US" sz="1500" dirty="0">
                <a:solidFill>
                  <a:srgbClr val="3E4A56"/>
                </a:solidFill>
                <a:latin typeface="IBM Plex Sans" pitchFamily="34" charset="0"/>
                <a:ea typeface="IBM Plex Sans" pitchFamily="34" charset="-122"/>
                <a:cs typeface="IBM Plex Sans" pitchFamily="34" charset="-120"/>
              </a:rPr>
              <a:t> What is a piecewise-linear hat basis?</a:t>
            </a:r>
            <a:endParaRPr lang="en-US" sz="1500" dirty="0"/>
          </a:p>
        </p:txBody>
      </p:sp>
      <p:sp>
        <p:nvSpPr>
          <p:cNvPr id="9" name="Text 7"/>
          <p:cNvSpPr/>
          <p:nvPr/>
        </p:nvSpPr>
        <p:spPr>
          <a:xfrm>
            <a:off x="6096000" y="2412819"/>
            <a:ext cx="5441714" cy="292073"/>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2F6FBF"/>
                </a:solidFill>
                <a:latin typeface="IBM Plex Sans" pitchFamily="34" charset="0"/>
                <a:ea typeface="IBM Plex Sans" pitchFamily="34" charset="-122"/>
                <a:cs typeface="IBM Plex Sans" pitchFamily="34" charset="-120"/>
              </a:rPr>
              <a:t>10</a:t>
            </a:r>
            <a:r>
              <a:rPr lang="en-US" sz="1500" dirty="0">
                <a:solidFill>
                  <a:srgbClr val="3E4A56"/>
                </a:solidFill>
                <a:latin typeface="IBM Plex Sans" pitchFamily="34" charset="0"/>
                <a:ea typeface="IBM Plex Sans" pitchFamily="34" charset="-122"/>
                <a:cs typeface="IBM Plex Sans" pitchFamily="34" charset="-120"/>
              </a:rPr>
              <a:t> How does robust reweighting (IRLS) work?</a:t>
            </a:r>
            <a:endParaRPr lang="en-US" sz="1500" dirty="0"/>
          </a:p>
        </p:txBody>
      </p:sp>
      <p:sp>
        <p:nvSpPr>
          <p:cNvPr id="10" name="Text 8"/>
          <p:cNvSpPr/>
          <p:nvPr/>
        </p:nvSpPr>
        <p:spPr>
          <a:xfrm>
            <a:off x="812782" y="2679492"/>
            <a:ext cx="5441714" cy="292073"/>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2F6FBF"/>
                </a:solidFill>
                <a:latin typeface="IBM Plex Sans" pitchFamily="34" charset="0"/>
                <a:ea typeface="IBM Plex Sans" pitchFamily="34" charset="-122"/>
                <a:cs typeface="IBM Plex Sans" pitchFamily="34" charset="-120"/>
              </a:rPr>
              <a:t>4</a:t>
            </a:r>
            <a:r>
              <a:rPr lang="en-US" sz="1500" dirty="0">
                <a:solidFill>
                  <a:srgbClr val="3E4A56"/>
                </a:solidFill>
                <a:latin typeface="IBM Plex Sans" pitchFamily="34" charset="0"/>
                <a:ea typeface="IBM Plex Sans" pitchFamily="34" charset="-122"/>
                <a:cs typeface="IBM Plex Sans" pitchFamily="34" charset="-120"/>
              </a:rPr>
              <a:t> Basis weights or knot parameters: which is the warp?</a:t>
            </a:r>
            <a:endParaRPr lang="en-US" sz="1500" dirty="0"/>
          </a:p>
        </p:txBody>
      </p:sp>
      <p:sp>
        <p:nvSpPr>
          <p:cNvPr id="11" name="Text 9"/>
          <p:cNvSpPr/>
          <p:nvPr/>
        </p:nvSpPr>
        <p:spPr>
          <a:xfrm>
            <a:off x="6096000" y="2679492"/>
            <a:ext cx="5441714" cy="292073"/>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2F6FBF"/>
                </a:solidFill>
                <a:latin typeface="IBM Plex Sans" pitchFamily="34" charset="0"/>
                <a:ea typeface="IBM Plex Sans" pitchFamily="34" charset="-122"/>
                <a:cs typeface="IBM Plex Sans" pitchFamily="34" charset="-120"/>
              </a:rPr>
              <a:t>11</a:t>
            </a:r>
            <a:r>
              <a:rPr lang="en-US" sz="1500" dirty="0">
                <a:solidFill>
                  <a:srgbClr val="3E4A56"/>
                </a:solidFill>
                <a:latin typeface="IBM Plex Sans" pitchFamily="34" charset="0"/>
                <a:ea typeface="IBM Plex Sans" pitchFamily="34" charset="-122"/>
                <a:cs typeface="IBM Plex Sans" pitchFamily="34" charset="-120"/>
              </a:rPr>
              <a:t> Is IRLS like Adam?</a:t>
            </a:r>
            <a:endParaRPr lang="en-US" sz="1500" dirty="0"/>
          </a:p>
        </p:txBody>
      </p:sp>
      <p:sp>
        <p:nvSpPr>
          <p:cNvPr id="12" name="Text 10"/>
          <p:cNvSpPr/>
          <p:nvPr/>
        </p:nvSpPr>
        <p:spPr>
          <a:xfrm>
            <a:off x="812782" y="2946165"/>
            <a:ext cx="5441714" cy="292073"/>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2F6FBF"/>
                </a:solidFill>
                <a:latin typeface="IBM Plex Sans" pitchFamily="34" charset="0"/>
                <a:ea typeface="IBM Plex Sans" pitchFamily="34" charset="-122"/>
                <a:cs typeface="IBM Plex Sans" pitchFamily="34" charset="-120"/>
              </a:rPr>
              <a:t>5</a:t>
            </a:r>
            <a:r>
              <a:rPr lang="en-US" sz="1500" dirty="0">
                <a:solidFill>
                  <a:srgbClr val="3E4A56"/>
                </a:solidFill>
                <a:latin typeface="IBM Plex Sans" pitchFamily="34" charset="0"/>
                <a:ea typeface="IBM Plex Sans" pitchFamily="34" charset="-122"/>
                <a:cs typeface="IBM Plex Sans" pitchFamily="34" charset="-120"/>
              </a:rPr>
              <a:t> Why store increments instead of knot values?</a:t>
            </a:r>
            <a:endParaRPr lang="en-US" sz="1500" dirty="0"/>
          </a:p>
        </p:txBody>
      </p:sp>
      <p:sp>
        <p:nvSpPr>
          <p:cNvPr id="13" name="Text 11"/>
          <p:cNvSpPr/>
          <p:nvPr/>
        </p:nvSpPr>
        <p:spPr>
          <a:xfrm>
            <a:off x="6096000" y="2946165"/>
            <a:ext cx="6096000" cy="292073"/>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2F6FBF"/>
                </a:solidFill>
                <a:latin typeface="IBM Plex Sans" pitchFamily="34" charset="0"/>
                <a:ea typeface="IBM Plex Sans" pitchFamily="34" charset="-122"/>
                <a:cs typeface="IBM Plex Sans" pitchFamily="34" charset="-120"/>
              </a:rPr>
              <a:t>12</a:t>
            </a:r>
            <a:r>
              <a:rPr lang="en-US" sz="1500" dirty="0">
                <a:solidFill>
                  <a:srgbClr val="3E4A56"/>
                </a:solidFill>
                <a:latin typeface="IBM Plex Sans" pitchFamily="34" charset="0"/>
                <a:ea typeface="IBM Plex Sans" pitchFamily="34" charset="-122"/>
                <a:cs typeface="IBM Plex Sans" pitchFamily="34" charset="-120"/>
              </a:rPr>
              <a:t> Why can’t ordinary cross-validation pick the smoothness?</a:t>
            </a:r>
            <a:endParaRPr lang="en-US" sz="1500" dirty="0"/>
          </a:p>
        </p:txBody>
      </p:sp>
      <p:sp>
        <p:nvSpPr>
          <p:cNvPr id="14" name="Text 12"/>
          <p:cNvSpPr/>
          <p:nvPr/>
        </p:nvSpPr>
        <p:spPr>
          <a:xfrm>
            <a:off x="812782" y="3212838"/>
            <a:ext cx="5441714" cy="292073"/>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2F6FBF"/>
                </a:solidFill>
                <a:latin typeface="IBM Plex Sans" pitchFamily="34" charset="0"/>
                <a:ea typeface="IBM Plex Sans" pitchFamily="34" charset="-122"/>
                <a:cs typeface="IBM Plex Sans" pitchFamily="34" charset="-120"/>
              </a:rPr>
              <a:t>6</a:t>
            </a:r>
            <a:r>
              <a:rPr lang="en-US" sz="1500" dirty="0">
                <a:solidFill>
                  <a:srgbClr val="3E4A56"/>
                </a:solidFill>
                <a:latin typeface="IBM Plex Sans" pitchFamily="34" charset="0"/>
                <a:ea typeface="IBM Plex Sans" pitchFamily="34" charset="-122"/>
                <a:cs typeface="IBM Plex Sans" pitchFamily="34" charset="-120"/>
              </a:rPr>
              <a:t> What does min ‖Aθ − y‖² subject to bounds say?</a:t>
            </a:r>
            <a:endParaRPr lang="en-US" sz="1500" dirty="0"/>
          </a:p>
        </p:txBody>
      </p:sp>
      <p:sp>
        <p:nvSpPr>
          <p:cNvPr id="15" name="Text 13"/>
          <p:cNvSpPr/>
          <p:nvPr/>
        </p:nvSpPr>
        <p:spPr>
          <a:xfrm>
            <a:off x="6096000" y="3212838"/>
            <a:ext cx="5441714" cy="292073"/>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2F6FBF"/>
                </a:solidFill>
                <a:latin typeface="IBM Plex Sans" pitchFamily="34" charset="0"/>
                <a:ea typeface="IBM Plex Sans" pitchFamily="34" charset="-122"/>
                <a:cs typeface="IBM Plex Sans" pitchFamily="34" charset="-120"/>
              </a:rPr>
              <a:t>13</a:t>
            </a:r>
            <a:r>
              <a:rPr lang="en-US" sz="1500" dirty="0">
                <a:solidFill>
                  <a:srgbClr val="3E4A56"/>
                </a:solidFill>
                <a:latin typeface="IBM Plex Sans" pitchFamily="34" charset="0"/>
                <a:ea typeface="IBM Plex Sans" pitchFamily="34" charset="-122"/>
                <a:cs typeface="IBM Plex Sans" pitchFamily="34" charset="-120"/>
              </a:rPr>
              <a:t> What do the band and the interval tell us, and why 81%?</a:t>
            </a:r>
            <a:endParaRPr lang="en-US" sz="1500" dirty="0"/>
          </a:p>
        </p:txBody>
      </p:sp>
      <p:sp>
        <p:nvSpPr>
          <p:cNvPr id="16" name="Text 14"/>
          <p:cNvSpPr/>
          <p:nvPr/>
        </p:nvSpPr>
        <p:spPr>
          <a:xfrm>
            <a:off x="812782" y="3479511"/>
            <a:ext cx="5441714" cy="292073"/>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2F6FBF"/>
                </a:solidFill>
                <a:latin typeface="IBM Plex Sans" pitchFamily="34" charset="0"/>
                <a:ea typeface="IBM Plex Sans" pitchFamily="34" charset="-122"/>
                <a:cs typeface="IBM Plex Sans" pitchFamily="34" charset="-120"/>
              </a:rPr>
              <a:t>7</a:t>
            </a:r>
            <a:r>
              <a:rPr lang="en-US" sz="1500" dirty="0">
                <a:solidFill>
                  <a:srgbClr val="3E4A56"/>
                </a:solidFill>
                <a:latin typeface="IBM Plex Sans" pitchFamily="34" charset="0"/>
                <a:ea typeface="IBM Plex Sans" pitchFamily="34" charset="-122"/>
                <a:cs typeface="IBM Plex Sans" pitchFamily="34" charset="-120"/>
              </a:rPr>
              <a:t> Is the loss “strictly convex”?</a:t>
            </a:r>
            <a:endParaRPr lang="en-US" sz="1500" dirty="0"/>
          </a:p>
        </p:txBody>
      </p:sp>
      <p:sp>
        <p:nvSpPr>
          <p:cNvPr id="17" name="Text 15"/>
          <p:cNvSpPr/>
          <p:nvPr/>
        </p:nvSpPr>
        <p:spPr>
          <a:xfrm>
            <a:off x="6096000" y="3479511"/>
            <a:ext cx="5441714" cy="292073"/>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2F6FBF"/>
                </a:solidFill>
                <a:latin typeface="IBM Plex Sans" pitchFamily="34" charset="0"/>
                <a:ea typeface="IBM Plex Sans" pitchFamily="34" charset="-122"/>
                <a:cs typeface="IBM Plex Sans" pitchFamily="34" charset="-120"/>
              </a:rPr>
              <a:t>14</a:t>
            </a:r>
            <a:r>
              <a:rPr lang="en-US" sz="1500" dirty="0">
                <a:solidFill>
                  <a:srgbClr val="3E4A56"/>
                </a:solidFill>
                <a:latin typeface="IBM Plex Sans" pitchFamily="34" charset="0"/>
                <a:ea typeface="IBM Plex Sans" pitchFamily="34" charset="-122"/>
                <a:cs typeface="IBM Plex Sans" pitchFamily="34" charset="-120"/>
              </a:rPr>
              <a:t> How does one batch borrow strength from the others?</a:t>
            </a:r>
            <a:endParaRPr lang="en-US" sz="1500" dirty="0"/>
          </a:p>
        </p:txBody>
      </p:sp>
      <p:sp>
        <p:nvSpPr>
          <p:cNvPr id="18" name="Text 16"/>
          <p:cNvSpPr/>
          <p:nvPr/>
        </p:nvSpPr>
        <p:spPr>
          <a:xfrm>
            <a:off x="812782" y="6238289"/>
            <a:ext cx="1088338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682"/>
                </a:solidFill>
                <a:latin typeface="IBM Plex Sans" pitchFamily="34" charset="0"/>
                <a:ea typeface="IBM Plex Sans" pitchFamily="34" charset="-122"/>
                <a:cs typeface="IBM Plex Sans" pitchFamily="34" charset="-120"/>
              </a:rPr>
              <a:t>Each slide’s eyebrow gives the question number and whether it is the intuition or the maths.</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5F0"/>
        </a:solidFill>
      </p:bgPr>
    </p:bg>
    <p:spTree>
      <p:nvGrpSpPr>
        <p:cNvPr id="1" name=""/>
        <p:cNvGrpSpPr/>
        <p:nvPr/>
      </p:nvGrpSpPr>
      <p:grpSpPr>
        <a:xfrm>
          <a:off x="0" y="0"/>
          <a:ext cx="0" cy="0"/>
          <a:chOff x="0" y="0"/>
          <a:chExt cx="0" cy="0"/>
        </a:xfrm>
      </p:grpSpPr>
      <p:sp>
        <p:nvSpPr>
          <p:cNvPr id="2" name="Text 0"/>
          <p:cNvSpPr/>
          <p:nvPr/>
        </p:nvSpPr>
        <p:spPr>
          <a:xfrm>
            <a:off x="812782" y="812781"/>
            <a:ext cx="10883429"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2F6FBF"/>
                </a:solidFill>
                <a:latin typeface="IBM Plex Sans" pitchFamily="34" charset="0"/>
                <a:ea typeface="IBM Plex Sans" pitchFamily="34" charset="-122"/>
                <a:cs typeface="IBM Plex Sans" pitchFamily="34" charset="-120"/>
              </a:rPr>
              <a:t>Q1 · INTUITION</a:t>
            </a:r>
            <a:endParaRPr lang="en-US" sz="1200" dirty="0"/>
          </a:p>
        </p:txBody>
      </p:sp>
      <p:sp>
        <p:nvSpPr>
          <p:cNvPr id="3" name="Text 1"/>
          <p:cNvSpPr/>
          <p:nvPr>
            <p:ph type="title"/>
          </p:nvPr>
        </p:nvSpPr>
        <p:spPr>
          <a:xfrm>
            <a:off x="812782" y="1127666"/>
            <a:ext cx="10883429" cy="472426"/>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B2A3A"/>
                </a:solidFill>
                <a:latin typeface="Source Serif 4" pitchFamily="18" charset="0"/>
                <a:ea typeface="Source Serif 4" pitchFamily="18" charset="-122"/>
                <a:cs typeface="Source Serif 4" pitchFamily="18" charset="-120"/>
              </a:rPr>
              <a:t>A detour steps off the clock and back on</a:t>
            </a:r>
            <a:endParaRPr lang="en-US" sz="3200" dirty="0"/>
          </a:p>
        </p:txBody>
      </p:sp>
      <p:sp>
        <p:nvSpPr>
          <p:cNvPr id="4" name="Shape 2"/>
          <p:cNvSpPr/>
          <p:nvPr/>
        </p:nvSpPr>
        <p:spPr>
          <a:xfrm>
            <a:off x="812782" y="3073256"/>
            <a:ext cx="10566391" cy="355564"/>
          </a:xfrm>
          <a:prstGeom prst="roundRect">
            <a:avLst>
              <a:gd name="adj" fmla="val 21431"/>
            </a:avLst>
          </a:prstGeom>
          <a:solidFill>
            <a:srgbClr val="1B2A3A"/>
          </a:solidFill>
          <a:ln/>
        </p:spPr>
      </p:sp>
      <p:sp>
        <p:nvSpPr>
          <p:cNvPr id="5" name="Text 3"/>
          <p:cNvSpPr/>
          <p:nvPr/>
        </p:nvSpPr>
        <p:spPr>
          <a:xfrm>
            <a:off x="990564" y="3130441"/>
            <a:ext cx="2747010" cy="256535"/>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F7F5F0"/>
                </a:solidFill>
                <a:latin typeface="IBM Plex Sans" pitchFamily="34" charset="0"/>
                <a:ea typeface="IBM Plex Sans" pitchFamily="34" charset="-122"/>
                <a:cs typeface="IBM Plex Sans" pitchFamily="34" charset="-120"/>
              </a:rPr>
              <a:t>shared clock</a:t>
            </a:r>
            <a:endParaRPr lang="en-US" sz="1300" dirty="0"/>
          </a:p>
        </p:txBody>
      </p:sp>
      <p:sp>
        <p:nvSpPr>
          <p:cNvPr id="6" name="Shape 4"/>
          <p:cNvSpPr/>
          <p:nvPr/>
        </p:nvSpPr>
        <p:spPr>
          <a:xfrm>
            <a:off x="5994346" y="3149473"/>
            <a:ext cx="203173" cy="203173"/>
          </a:xfrm>
          <a:prstGeom prst="roundRect">
            <a:avLst>
              <a:gd name="adj" fmla="val 50000"/>
            </a:avLst>
          </a:prstGeom>
          <a:solidFill>
            <a:srgbClr val="F7F5F0"/>
          </a:solidFill>
          <a:ln/>
        </p:spPr>
      </p:sp>
      <p:sp>
        <p:nvSpPr>
          <p:cNvPr id="7" name="Text 5"/>
          <p:cNvSpPr/>
          <p:nvPr/>
        </p:nvSpPr>
        <p:spPr>
          <a:xfrm>
            <a:off x="1581132" y="1835041"/>
            <a:ext cx="1765300" cy="596864"/>
          </a:xfrm>
          <a:prstGeom prst="roundRect">
            <a:avLst>
              <a:gd name="adj" fmla="val 15958"/>
            </a:avLst>
          </a:prstGeom>
          <a:solidFill>
            <a:srgbClr val="FDFCF9"/>
          </a:solidFill>
          <a:ln w="12700">
            <a:solidFill>
              <a:srgbClr val="2F6FBF"/>
            </a:solidFill>
            <a:prstDash val="solid"/>
          </a:ln>
        </p:spPr>
        <p:txBody>
          <a:bodyPr wrap="square" lIns="0" tIns="0" rIns="0" bIns="0" rtlCol="0" anchor="ctr">
            <a:normAutofit/>
          </a:bodyPr>
          <a:lstStyle/>
          <a:p>
            <a:pPr algn="ctr" indent="0" marL="0">
              <a:lnSpc>
                <a:spcPts val="2240"/>
              </a:lnSpc>
              <a:buNone/>
            </a:pPr>
            <a:r>
              <a:rPr lang="en-US" sz="1600" b="1" dirty="0">
                <a:solidFill>
                  <a:srgbClr val="1B2A3A"/>
                </a:solidFill>
                <a:latin typeface="IBM Plex Sans" pitchFamily="34" charset="0"/>
                <a:ea typeface="IBM Plex Sans" pitchFamily="34" charset="-122"/>
                <a:cs typeface="IBM Plex Sans" pitchFamily="34" charset="-120"/>
              </a:rPr>
              <a:t>Batch k</a:t>
            </a:r>
            <a:endParaRPr lang="en-US" sz="1600" dirty="0"/>
          </a:p>
        </p:txBody>
      </p:sp>
      <p:sp>
        <p:nvSpPr>
          <p:cNvPr id="8" name="Text 6"/>
          <p:cNvSpPr/>
          <p:nvPr/>
        </p:nvSpPr>
        <p:spPr>
          <a:xfrm>
            <a:off x="5213305" y="1835041"/>
            <a:ext cx="1765300" cy="596864"/>
          </a:xfrm>
          <a:prstGeom prst="roundRect">
            <a:avLst>
              <a:gd name="adj" fmla="val 15958"/>
            </a:avLst>
          </a:prstGeom>
          <a:solidFill>
            <a:srgbClr val="FDFCF9"/>
          </a:solidFill>
          <a:ln w="12700">
            <a:solidFill>
              <a:srgbClr val="C8641E"/>
            </a:solidFill>
            <a:prstDash val="solid"/>
          </a:ln>
        </p:spPr>
        <p:txBody>
          <a:bodyPr wrap="square" lIns="0" tIns="0" rIns="0" bIns="0" rtlCol="0" anchor="ctr">
            <a:normAutofit/>
          </a:bodyPr>
          <a:lstStyle/>
          <a:p>
            <a:pPr algn="ctr" indent="0" marL="0">
              <a:lnSpc>
                <a:spcPts val="2240"/>
              </a:lnSpc>
              <a:buNone/>
            </a:pPr>
            <a:r>
              <a:rPr lang="en-US" sz="1600" b="1" dirty="0">
                <a:solidFill>
                  <a:srgbClr val="1B2A3A"/>
                </a:solidFill>
                <a:latin typeface="IBM Plex Sans" pitchFamily="34" charset="0"/>
                <a:ea typeface="IBM Plex Sans" pitchFamily="34" charset="-122"/>
                <a:cs typeface="IBM Plex Sans" pitchFamily="34" charset="-120"/>
              </a:rPr>
              <a:t>Batch m</a:t>
            </a:r>
            <a:endParaRPr lang="en-US" sz="1600" dirty="0"/>
          </a:p>
        </p:txBody>
      </p:sp>
      <p:sp>
        <p:nvSpPr>
          <p:cNvPr id="9" name="Text 7"/>
          <p:cNvSpPr/>
          <p:nvPr/>
        </p:nvSpPr>
        <p:spPr>
          <a:xfrm>
            <a:off x="8845523" y="4019432"/>
            <a:ext cx="1765300" cy="596864"/>
          </a:xfrm>
          <a:prstGeom prst="roundRect">
            <a:avLst>
              <a:gd name="adj" fmla="val 15958"/>
            </a:avLst>
          </a:prstGeom>
          <a:solidFill>
            <a:srgbClr val="FDFCF9"/>
          </a:solidFill>
          <a:ln w="12700">
            <a:solidFill>
              <a:srgbClr val="2F6FBF"/>
            </a:solidFill>
            <a:prstDash val="solid"/>
          </a:ln>
        </p:spPr>
        <p:txBody>
          <a:bodyPr wrap="square" lIns="0" tIns="0" rIns="0" bIns="0" rtlCol="0" anchor="ctr">
            <a:normAutofit/>
          </a:bodyPr>
          <a:lstStyle/>
          <a:p>
            <a:pPr algn="ctr" indent="0" marL="0">
              <a:lnSpc>
                <a:spcPts val="2240"/>
              </a:lnSpc>
              <a:buNone/>
            </a:pPr>
            <a:r>
              <a:rPr lang="en-US" sz="1600" b="1" dirty="0">
                <a:solidFill>
                  <a:srgbClr val="1B2A3A"/>
                </a:solidFill>
                <a:latin typeface="IBM Plex Sans" pitchFamily="34" charset="0"/>
                <a:ea typeface="IBM Plex Sans" pitchFamily="34" charset="-122"/>
                <a:cs typeface="IBM Plex Sans" pitchFamily="34" charset="-120"/>
              </a:rPr>
              <a:t>Batch l</a:t>
            </a:r>
            <a:endParaRPr lang="en-US" sz="1600" dirty="0"/>
          </a:p>
        </p:txBody>
      </p:sp>
      <p:pic>
        <p:nvPicPr>
          <p:cNvPr id="10" name="Image 0" descr="connector">    </p:cNvPr>
          <p:cNvPicPr>
            <a:picLocks noChangeAspect="1"/>
          </p:cNvPicPr>
          <p:nvPr/>
        </p:nvPicPr>
        <p:blipFill>
          <a:blip r:embed="rId1"/>
          <a:srcRect l="-2" r="-2" t="0" b="0"/>
          <a:stretch/>
        </p:blipFill>
        <p:spPr>
          <a:xfrm>
            <a:off x="3162282" y="2374756"/>
            <a:ext cx="2882891" cy="863564"/>
          </a:xfrm>
          <a:prstGeom prst="rect">
            <a:avLst/>
          </a:prstGeom>
        </p:spPr>
      </p:pic>
      <p:pic>
        <p:nvPicPr>
          <p:cNvPr id="11" name="Image 1" descr="connector">    </p:cNvPr>
          <p:cNvPicPr>
            <a:picLocks noChangeAspect="1"/>
          </p:cNvPicPr>
          <p:nvPr/>
        </p:nvPicPr>
        <p:blipFill>
          <a:blip r:embed="rId2"/>
          <a:srcRect l="-2" r="-2" t="0" b="0"/>
          <a:stretch/>
        </p:blipFill>
        <p:spPr>
          <a:xfrm>
            <a:off x="6146782" y="3276473"/>
            <a:ext cx="2921000" cy="800064"/>
          </a:xfrm>
          <a:prstGeom prst="rect">
            <a:avLst/>
          </a:prstGeom>
        </p:spPr>
      </p:pic>
      <p:pic>
        <p:nvPicPr>
          <p:cNvPr id="12" name="Image 2" descr="connector">    </p:cNvPr>
          <p:cNvPicPr>
            <a:picLocks noChangeAspect="1"/>
          </p:cNvPicPr>
          <p:nvPr/>
        </p:nvPicPr>
        <p:blipFill>
          <a:blip r:embed="rId3"/>
          <a:srcRect l="-1" r="-1" t="0" b="0"/>
          <a:stretch/>
        </p:blipFill>
        <p:spPr>
          <a:xfrm>
            <a:off x="5905455" y="2400191"/>
            <a:ext cx="127000" cy="812782"/>
          </a:xfrm>
          <a:prstGeom prst="rect">
            <a:avLst/>
          </a:prstGeom>
        </p:spPr>
      </p:pic>
      <p:pic>
        <p:nvPicPr>
          <p:cNvPr id="13" name="Image 3" descr="connector">    </p:cNvPr>
          <p:cNvPicPr>
            <a:picLocks noChangeAspect="1"/>
          </p:cNvPicPr>
          <p:nvPr/>
        </p:nvPicPr>
        <p:blipFill>
          <a:blip r:embed="rId4"/>
          <a:srcRect l="-1" r="-1" t="0" b="0"/>
          <a:stretch/>
        </p:blipFill>
        <p:spPr>
          <a:xfrm>
            <a:off x="6159455" y="2400191"/>
            <a:ext cx="127000" cy="787391"/>
          </a:xfrm>
          <a:prstGeom prst="rect">
            <a:avLst/>
          </a:prstGeom>
        </p:spPr>
      </p:pic>
      <p:sp>
        <p:nvSpPr>
          <p:cNvPr id="14" name="Text 8"/>
          <p:cNvSpPr/>
          <p:nvPr/>
        </p:nvSpPr>
        <p:spPr>
          <a:xfrm>
            <a:off x="3797282" y="2438256"/>
            <a:ext cx="812800" cy="292073"/>
          </a:xfrm>
          <a:prstGeom prst="rect">
            <a:avLst/>
          </a:prstGeom>
          <a:noFill/>
          <a:ln/>
        </p:spPr>
        <p:txBody>
          <a:bodyPr wrap="square" lIns="0" tIns="0" rIns="0" bIns="0" rtlCol="0" anchor="t">
            <a:normAutofit/>
          </a:bodyPr>
          <a:lstStyle/>
          <a:p>
            <a:pPr algn="l" indent="0" marL="0">
              <a:lnSpc>
                <a:spcPts val="2100"/>
              </a:lnSpc>
              <a:buNone/>
            </a:pPr>
            <a:r>
              <a:rPr lang="en-US" sz="1500" i="1" dirty="0">
                <a:solidFill>
                  <a:srgbClr val="1B2A3A"/>
                </a:solidFill>
                <a:latin typeface="IBM Plex Sans" pitchFamily="34" charset="0"/>
                <a:ea typeface="IBM Plex Sans" pitchFamily="34" charset="-122"/>
                <a:cs typeface="IBM Plex Sans" pitchFamily="34" charset="-120"/>
              </a:rPr>
              <a:t>fₖ</a:t>
            </a:r>
            <a:endParaRPr lang="en-US" sz="1500" dirty="0"/>
          </a:p>
        </p:txBody>
      </p:sp>
      <p:sp>
        <p:nvSpPr>
          <p:cNvPr id="15" name="Text 9"/>
          <p:cNvSpPr/>
          <p:nvPr/>
        </p:nvSpPr>
        <p:spPr>
          <a:xfrm>
            <a:off x="7924781" y="3416191"/>
            <a:ext cx="939800" cy="292073"/>
          </a:xfrm>
          <a:prstGeom prst="rect">
            <a:avLst/>
          </a:prstGeom>
          <a:noFill/>
          <a:ln/>
        </p:spPr>
        <p:txBody>
          <a:bodyPr wrap="square" lIns="0" tIns="0" rIns="0" bIns="0" rtlCol="0" anchor="t">
            <a:normAutofit/>
          </a:bodyPr>
          <a:lstStyle/>
          <a:p>
            <a:pPr algn="l" indent="0" marL="0">
              <a:lnSpc>
                <a:spcPts val="2100"/>
              </a:lnSpc>
              <a:buNone/>
            </a:pPr>
            <a:r>
              <a:rPr lang="en-US" sz="1500" i="1" dirty="0">
                <a:solidFill>
                  <a:srgbClr val="1B2A3A"/>
                </a:solidFill>
                <a:latin typeface="IBM Plex Sans" pitchFamily="34" charset="0"/>
                <a:ea typeface="IBM Plex Sans" pitchFamily="34" charset="-122"/>
                <a:cs typeface="IBM Plex Sans" pitchFamily="34" charset="-120"/>
              </a:rPr>
              <a:t>fₗ⁻¹</a:t>
            </a:r>
            <a:endParaRPr lang="en-US" sz="1500" dirty="0"/>
          </a:p>
        </p:txBody>
      </p:sp>
      <p:sp>
        <p:nvSpPr>
          <p:cNvPr id="16" name="Text 10"/>
          <p:cNvSpPr/>
          <p:nvPr/>
        </p:nvSpPr>
        <p:spPr>
          <a:xfrm>
            <a:off x="4825982" y="2590691"/>
            <a:ext cx="1003300" cy="292073"/>
          </a:xfrm>
          <a:prstGeom prst="rect">
            <a:avLst/>
          </a:prstGeom>
          <a:noFill/>
          <a:ln/>
        </p:spPr>
        <p:txBody>
          <a:bodyPr wrap="square" lIns="0" tIns="0" rIns="0" bIns="0" rtlCol="0" anchor="t">
            <a:normAutofit/>
          </a:bodyPr>
          <a:lstStyle/>
          <a:p>
            <a:pPr algn="r" indent="0" marL="0">
              <a:lnSpc>
                <a:spcPts val="2100"/>
              </a:lnSpc>
              <a:buNone/>
            </a:pPr>
            <a:r>
              <a:rPr lang="en-US" sz="1500" i="1" dirty="0">
                <a:solidFill>
                  <a:srgbClr val="A9520F"/>
                </a:solidFill>
                <a:latin typeface="IBM Plex Sans" pitchFamily="34" charset="0"/>
                <a:ea typeface="IBM Plex Sans" pitchFamily="34" charset="-122"/>
                <a:cs typeface="IBM Plex Sans" pitchFamily="34" charset="-120"/>
              </a:rPr>
              <a:t>fₘ⁻¹</a:t>
            </a:r>
            <a:endParaRPr lang="en-US" sz="1500" dirty="0"/>
          </a:p>
        </p:txBody>
      </p:sp>
      <p:sp>
        <p:nvSpPr>
          <p:cNvPr id="17" name="Text 11"/>
          <p:cNvSpPr/>
          <p:nvPr/>
        </p:nvSpPr>
        <p:spPr>
          <a:xfrm>
            <a:off x="6388064" y="2590691"/>
            <a:ext cx="812800" cy="292073"/>
          </a:xfrm>
          <a:prstGeom prst="rect">
            <a:avLst/>
          </a:prstGeom>
          <a:noFill/>
          <a:ln/>
        </p:spPr>
        <p:txBody>
          <a:bodyPr wrap="square" lIns="0" tIns="0" rIns="0" bIns="0" rtlCol="0" anchor="t">
            <a:normAutofit/>
          </a:bodyPr>
          <a:lstStyle/>
          <a:p>
            <a:pPr algn="l" indent="0" marL="0">
              <a:lnSpc>
                <a:spcPts val="2100"/>
              </a:lnSpc>
              <a:buNone/>
            </a:pPr>
            <a:r>
              <a:rPr lang="en-US" sz="1500" i="1" dirty="0">
                <a:solidFill>
                  <a:srgbClr val="A9520F"/>
                </a:solidFill>
                <a:latin typeface="IBM Plex Sans" pitchFamily="34" charset="0"/>
                <a:ea typeface="IBM Plex Sans" pitchFamily="34" charset="-122"/>
                <a:cs typeface="IBM Plex Sans" pitchFamily="34" charset="-120"/>
              </a:rPr>
              <a:t>fₘ</a:t>
            </a:r>
            <a:endParaRPr lang="en-US" sz="1500" dirty="0"/>
          </a:p>
        </p:txBody>
      </p:sp>
      <p:sp>
        <p:nvSpPr>
          <p:cNvPr id="18" name="Text 12"/>
          <p:cNvSpPr/>
          <p:nvPr/>
        </p:nvSpPr>
        <p:spPr>
          <a:xfrm>
            <a:off x="4061442" y="3492364"/>
            <a:ext cx="1831340" cy="256535"/>
          </a:xfrm>
          <a:prstGeom prst="rect">
            <a:avLst/>
          </a:prstGeom>
          <a:noFill/>
          <a:ln/>
        </p:spPr>
        <p:txBody>
          <a:bodyPr wrap="square" lIns="0" tIns="0" rIns="0" bIns="0" rtlCol="0" anchor="t">
            <a:normAutofit/>
          </a:bodyPr>
          <a:lstStyle/>
          <a:p>
            <a:pPr algn="r" indent="0" marL="0">
              <a:lnSpc>
                <a:spcPts val="1820"/>
              </a:lnSpc>
              <a:buNone/>
            </a:pPr>
            <a:r>
              <a:rPr lang="en-US" sz="1300" dirty="0">
                <a:solidFill>
                  <a:srgbClr val="1B2A3A"/>
                </a:solidFill>
                <a:latin typeface="IBM Plex Sans" pitchFamily="34" charset="0"/>
                <a:ea typeface="IBM Plex Sans" pitchFamily="34" charset="-122"/>
                <a:cs typeface="IBM Plex Sans" pitchFamily="34" charset="-120"/>
              </a:rPr>
              <a:t>τ = fₖ(t)</a:t>
            </a:r>
            <a:endParaRPr lang="en-US" sz="1300" dirty="0"/>
          </a:p>
        </p:txBody>
      </p:sp>
      <p:sp>
        <p:nvSpPr>
          <p:cNvPr id="19" name="Text 13"/>
          <p:cNvSpPr/>
          <p:nvPr/>
        </p:nvSpPr>
        <p:spPr>
          <a:xfrm>
            <a:off x="812782" y="4876691"/>
            <a:ext cx="5284752" cy="853967"/>
          </a:xfrm>
          <a:prstGeom prst="rect">
            <a:avLst/>
          </a:prstGeom>
          <a:noFill/>
          <a:ln/>
        </p:spPr>
        <p:txBody>
          <a:bodyPr wrap="square" lIns="0" tIns="0" rIns="0" bIns="0" rtlCol="0" anchor="t">
            <a:normAutofit/>
          </a:bodyPr>
          <a:lstStyle/>
          <a:p>
            <a:pPr algn="l" indent="0" marL="0">
              <a:lnSpc>
                <a:spcPts val="2175"/>
              </a:lnSpc>
              <a:buNone/>
            </a:pPr>
            <a:r>
              <a:rPr lang="en-US" sz="1500" b="1" dirty="0">
                <a:solidFill>
                  <a:srgbClr val="3E4A56"/>
                </a:solidFill>
                <a:latin typeface="IBM Plex Sans" pitchFamily="34" charset="0"/>
                <a:ea typeface="IBM Plex Sans" pitchFamily="34" charset="-122"/>
                <a:cs typeface="IBM Plex Sans" pitchFamily="34" charset="-120"/>
              </a:rPr>
              <a:t>Pairwise fitting</a:t>
            </a:r>
            <a:r>
              <a:rPr lang="en-US" sz="1500" dirty="0">
                <a:solidFill>
                  <a:srgbClr val="3E4A56"/>
                </a:solidFill>
                <a:latin typeface="IBM Plex Sans" pitchFamily="34" charset="0"/>
                <a:ea typeface="IBM Plex Sans" pitchFamily="34" charset="-122"/>
                <a:cs typeface="IBM Plex Sans" pitchFamily="34" charset="-120"/>
              </a:rPr>
              <a:t> gives every pair its own map from its own anchors: 10 maps for 5 batches. Nothing forces k → m → l to agree with k → l.</a:t>
            </a:r>
            <a:endParaRPr lang="en-US" sz="1500" dirty="0"/>
          </a:p>
        </p:txBody>
      </p:sp>
      <p:sp>
        <p:nvSpPr>
          <p:cNvPr id="20" name="Text 14"/>
          <p:cNvSpPr/>
          <p:nvPr/>
        </p:nvSpPr>
        <p:spPr>
          <a:xfrm>
            <a:off x="6248391" y="4876691"/>
            <a:ext cx="5284752" cy="853967"/>
          </a:xfrm>
          <a:prstGeom prst="rect">
            <a:avLst/>
          </a:prstGeom>
          <a:noFill/>
          <a:ln/>
        </p:spPr>
        <p:txBody>
          <a:bodyPr wrap="square" lIns="0" tIns="0" rIns="0" bIns="0" rtlCol="0" anchor="t">
            <a:normAutofit/>
          </a:bodyPr>
          <a:lstStyle/>
          <a:p>
            <a:pPr algn="l" indent="0" marL="0">
              <a:lnSpc>
                <a:spcPts val="2175"/>
              </a:lnSpc>
              <a:buNone/>
            </a:pPr>
            <a:r>
              <a:rPr lang="en-US" sz="1500" b="1" dirty="0">
                <a:solidFill>
                  <a:srgbClr val="3E4A56"/>
                </a:solidFill>
                <a:latin typeface="IBM Plex Sans" pitchFamily="34" charset="0"/>
                <a:ea typeface="IBM Plex Sans" pitchFamily="34" charset="-122"/>
                <a:cs typeface="IBM Plex Sans" pitchFamily="34" charset="-120"/>
              </a:rPr>
              <a:t>The joint model</a:t>
            </a:r>
            <a:r>
              <a:rPr lang="en-US" sz="1500" dirty="0">
                <a:solidFill>
                  <a:srgbClr val="3E4A56"/>
                </a:solidFill>
                <a:latin typeface="IBM Plex Sans" pitchFamily="34" charset="0"/>
                <a:ea typeface="IBM Plex Sans" pitchFamily="34" charset="-122"/>
                <a:cs typeface="IBM Plex Sans" pitchFamily="34" charset="-120"/>
              </a:rPr>
              <a:t> gives each batch one warp onto a shared clock. Going via m means stepping off at τ and back on at the same τ, so the detour changes nothing.</a:t>
            </a:r>
            <a:endParaRPr lang="en-US" sz="1500" dirty="0"/>
          </a:p>
        </p:txBody>
      </p:sp>
      <p:sp>
        <p:nvSpPr>
          <p:cNvPr id="21" name="Text 15"/>
          <p:cNvSpPr/>
          <p:nvPr/>
        </p:nvSpPr>
        <p:spPr>
          <a:xfrm>
            <a:off x="812782" y="6238287"/>
            <a:ext cx="1088338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682"/>
                </a:solidFill>
                <a:latin typeface="IBM Plex Sans" pitchFamily="34" charset="0"/>
                <a:ea typeface="IBM Plex Sans" pitchFamily="34" charset="-122"/>
                <a:cs typeface="IBM Plex Sans" pitchFamily="34" charset="-120"/>
              </a:rPr>
              <a:t>You asked: how does “transitivity by construction” hold for any two paths between batches?</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ECF0F3"/>
        </a:solidFill>
      </p:bgPr>
    </p:bg>
    <p:spTree>
      <p:nvGrpSpPr>
        <p:cNvPr id="1" name=""/>
        <p:cNvGrpSpPr/>
        <p:nvPr/>
      </p:nvGrpSpPr>
      <p:grpSpPr>
        <a:xfrm>
          <a:off x="0" y="0"/>
          <a:ext cx="0" cy="0"/>
          <a:chOff x="0" y="0"/>
          <a:chExt cx="0" cy="0"/>
        </a:xfrm>
      </p:grpSpPr>
      <p:sp>
        <p:nvSpPr>
          <p:cNvPr id="2" name="Text 0"/>
          <p:cNvSpPr/>
          <p:nvPr/>
        </p:nvSpPr>
        <p:spPr>
          <a:xfrm>
            <a:off x="812782" y="812781"/>
            <a:ext cx="10883429"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2F6FBF"/>
                </a:solidFill>
                <a:latin typeface="IBM Plex Sans" pitchFamily="34" charset="0"/>
                <a:ea typeface="IBM Plex Sans" pitchFamily="34" charset="-122"/>
                <a:cs typeface="IBM Plex Sans" pitchFamily="34" charset="-120"/>
              </a:rPr>
              <a:t>Q1 · MATHS</a:t>
            </a:r>
            <a:endParaRPr lang="en-US" sz="1200" dirty="0"/>
          </a:p>
        </p:txBody>
      </p:sp>
      <p:sp>
        <p:nvSpPr>
          <p:cNvPr id="3" name="Text 1"/>
          <p:cNvSpPr/>
          <p:nvPr>
            <p:ph type="title"/>
          </p:nvPr>
        </p:nvSpPr>
        <p:spPr>
          <a:xfrm>
            <a:off x="812782" y="1127666"/>
            <a:ext cx="10883429" cy="472426"/>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B2A3A"/>
                </a:solidFill>
                <a:latin typeface="Source Serif 4" pitchFamily="18" charset="0"/>
                <a:ea typeface="Source Serif 4" pitchFamily="18" charset="-122"/>
                <a:cs typeface="Source Serif 4" pitchFamily="18" charset="-120"/>
              </a:rPr>
              <a:t>Every path telescopes to the same map</a:t>
            </a:r>
            <a:endParaRPr lang="en-US" sz="3200" dirty="0"/>
          </a:p>
        </p:txBody>
      </p:sp>
      <p:sp>
        <p:nvSpPr>
          <p:cNvPr id="4" name="Text 2"/>
          <p:cNvSpPr/>
          <p:nvPr/>
        </p:nvSpPr>
        <p:spPr>
          <a:xfrm>
            <a:off x="812782" y="1803254"/>
            <a:ext cx="10883429" cy="301589"/>
          </a:xfrm>
          <a:prstGeom prst="rect">
            <a:avLst/>
          </a:prstGeom>
          <a:noFill/>
          <a:ln/>
        </p:spPr>
        <p:txBody>
          <a:bodyPr wrap="square" lIns="0" tIns="0" rIns="0" bIns="0" rtlCol="0" anchor="t">
            <a:normAutofit/>
          </a:bodyPr>
          <a:lstStyle/>
          <a:p>
            <a:pPr algn="l" indent="0" marL="0">
              <a:lnSpc>
                <a:spcPts val="2175"/>
              </a:lnSpc>
              <a:buNone/>
            </a:pPr>
            <a:r>
              <a:rPr lang="en-US" sz="1500" dirty="0">
                <a:solidFill>
                  <a:srgbClr val="3E4A56"/>
                </a:solidFill>
                <a:latin typeface="IBM Plex Sans" pitchFamily="34" charset="0"/>
                <a:ea typeface="IBM Plex Sans" pitchFamily="34" charset="-122"/>
                <a:cs typeface="IBM Plex Sans" pitchFamily="34" charset="-120"/>
              </a:rPr>
              <a:t>Define the map from batch k to batch l as </a:t>
            </a:r>
            <a:r>
              <a:rPr lang="en-US" sz="1500" b="1" dirty="0">
                <a:solidFill>
                  <a:srgbClr val="3E4A56"/>
                </a:solidFill>
                <a:latin typeface="IBM Plex Sans" pitchFamily="34" charset="0"/>
                <a:ea typeface="IBM Plex Sans" pitchFamily="34" charset="-122"/>
                <a:cs typeface="IBM Plex Sans" pitchFamily="34" charset="-120"/>
              </a:rPr>
              <a:t>gₖ→ₗ = fₗ⁻¹ ∘ fₖ</a:t>
            </a:r>
            <a:r>
              <a:rPr lang="en-US" sz="1500" dirty="0">
                <a:solidFill>
                  <a:srgbClr val="3E4A56"/>
                </a:solidFill>
                <a:latin typeface="IBM Plex Sans" pitchFamily="34" charset="0"/>
                <a:ea typeface="IBM Plex Sans" pitchFamily="34" charset="-122"/>
                <a:cs typeface="IBM Plex Sans" pitchFamily="34" charset="-120"/>
              </a:rPr>
              <a:t>: on with fₖ, off with fₗ⁻¹. Then for any m:</a:t>
            </a:r>
            <a:endParaRPr lang="en-US" sz="1500" dirty="0"/>
          </a:p>
        </p:txBody>
      </p:sp>
      <p:sp>
        <p:nvSpPr>
          <p:cNvPr id="5" name="Text 3"/>
          <p:cNvSpPr/>
          <p:nvPr/>
        </p:nvSpPr>
        <p:spPr>
          <a:xfrm>
            <a:off x="812782" y="2155617"/>
            <a:ext cx="10883429" cy="330227"/>
          </a:xfrm>
          <a:prstGeom prst="rect">
            <a:avLst/>
          </a:prstGeom>
          <a:noFill/>
          <a:ln/>
        </p:spPr>
        <p:txBody>
          <a:bodyPr wrap="square" lIns="0" tIns="0" rIns="0" bIns="0" rtlCol="0" anchor="t">
            <a:normAutofit/>
          </a:bodyPr>
          <a:lstStyle/>
          <a:p>
            <a:pPr algn="l" indent="0" marL="0">
              <a:lnSpc>
                <a:spcPts val="2400"/>
              </a:lnSpc>
              <a:buNone/>
            </a:pPr>
            <a:r>
              <a:rPr lang="en-US" sz="1600" dirty="0">
                <a:solidFill>
                  <a:srgbClr val="1B2A3A"/>
                </a:solidFill>
                <a:latin typeface="JetBrains Mono" pitchFamily="49" charset="0"/>
                <a:ea typeface="JetBrains Mono" pitchFamily="49" charset="-122"/>
                <a:cs typeface="JetBrains Mono" pitchFamily="49" charset="-120"/>
              </a:rPr>
              <a:t>gₘ→ₗ ∘ gₖ→ₘ = fₗ⁻¹ ∘ (fₘ ∘ fₘ⁻¹) ∘ fₖ = fₗ⁻¹ ∘ fₖ = gₖ→ₗ</a:t>
            </a:r>
            <a:endParaRPr lang="en-US" sz="1600" dirty="0"/>
          </a:p>
        </p:txBody>
      </p:sp>
      <p:sp>
        <p:nvSpPr>
          <p:cNvPr id="6" name="Text 4"/>
          <p:cNvSpPr/>
          <p:nvPr/>
        </p:nvSpPr>
        <p:spPr>
          <a:xfrm>
            <a:off x="812782" y="2689008"/>
            <a:ext cx="10883429" cy="274259"/>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6A7682"/>
                </a:solidFill>
                <a:latin typeface="IBM Plex Sans" pitchFamily="34" charset="0"/>
                <a:ea typeface="IBM Plex Sans" pitchFamily="34" charset="-122"/>
                <a:cs typeface="IBM Plex Sans" pitchFamily="34" charset="-120"/>
              </a:rPr>
              <a:t>Any longer path k → p₁ → p₂ → l: every inner pair cancels to the identity.</a:t>
            </a:r>
            <a:endParaRPr lang="en-US" sz="1400" dirty="0"/>
          </a:p>
        </p:txBody>
      </p:sp>
      <p:sp>
        <p:nvSpPr>
          <p:cNvPr id="7" name="Text 5"/>
          <p:cNvSpPr/>
          <p:nvPr/>
        </p:nvSpPr>
        <p:spPr>
          <a:xfrm>
            <a:off x="812782" y="3025584"/>
            <a:ext cx="752033" cy="487615"/>
          </a:xfrm>
          <a:prstGeom prst="roundRect">
            <a:avLst>
              <a:gd name="adj" fmla="val 15627"/>
            </a:avLst>
          </a:prstGeom>
          <a:solidFill>
            <a:srgbClr val="2F6FBF"/>
          </a:solidFill>
          <a:ln/>
        </p:spPr>
        <p:txBody>
          <a:bodyPr wrap="none" lIns="0" tIns="0" rIns="0" bIns="0" rtlCol="0" anchor="ctr">
            <a:normAutofit/>
          </a:bodyPr>
          <a:lstStyle/>
          <a:p>
            <a:pPr algn="ctr" indent="0" marL="0">
              <a:lnSpc>
                <a:spcPts val="2240"/>
              </a:lnSpc>
              <a:buNone/>
            </a:pPr>
            <a:r>
              <a:rPr lang="en-US" sz="1600" dirty="0">
                <a:solidFill>
                  <a:srgbClr val="F7F5F0"/>
                </a:solidFill>
                <a:latin typeface="JetBrains Mono" pitchFamily="49" charset="0"/>
                <a:ea typeface="JetBrains Mono" pitchFamily="49" charset="-122"/>
                <a:cs typeface="JetBrains Mono" pitchFamily="49" charset="-120"/>
              </a:rPr>
              <a:t>fₗ⁻¹</a:t>
            </a:r>
            <a:endParaRPr lang="en-US" sz="1600" dirty="0"/>
          </a:p>
        </p:txBody>
      </p:sp>
      <p:sp>
        <p:nvSpPr>
          <p:cNvPr id="8" name="Text 6"/>
          <p:cNvSpPr/>
          <p:nvPr/>
        </p:nvSpPr>
        <p:spPr>
          <a:xfrm>
            <a:off x="1672729" y="3020389"/>
            <a:ext cx="2228516" cy="498006"/>
          </a:xfrm>
          <a:prstGeom prst="roundRect">
            <a:avLst>
              <a:gd name="adj" fmla="val 14026"/>
            </a:avLst>
          </a:prstGeom>
          <a:solidFill>
            <a:srgbClr val="F7F5F0"/>
          </a:solidFill>
          <a:ln w="12700">
            <a:solidFill>
              <a:srgbClr val="9AA8B5"/>
            </a:solidFill>
            <a:prstDash val="dash"/>
          </a:ln>
        </p:spPr>
        <p:txBody>
          <a:bodyPr wrap="none" lIns="0" tIns="0" rIns="0" bIns="0" rtlCol="0" anchor="ctr">
            <a:normAutofit/>
          </a:bodyPr>
          <a:lstStyle/>
          <a:p>
            <a:pPr algn="ctr" indent="0" marL="0">
              <a:lnSpc>
                <a:spcPts val="2240"/>
              </a:lnSpc>
              <a:buNone/>
            </a:pPr>
            <a:r>
              <a:rPr lang="en-US" sz="1600" dirty="0">
                <a:solidFill>
                  <a:srgbClr val="6A7682"/>
                </a:solidFill>
                <a:latin typeface="JetBrains Mono" pitchFamily="49" charset="0"/>
                <a:ea typeface="JetBrains Mono" pitchFamily="49" charset="-122"/>
                <a:cs typeface="JetBrains Mono" pitchFamily="49" charset="-120"/>
              </a:rPr>
              <a:t>fₚ₂ ∘ fₚ₂⁻¹ = id</a:t>
            </a:r>
            <a:endParaRPr lang="en-US" sz="1600" dirty="0"/>
          </a:p>
        </p:txBody>
      </p:sp>
      <p:sp>
        <p:nvSpPr>
          <p:cNvPr id="9" name="Text 7"/>
          <p:cNvSpPr/>
          <p:nvPr/>
        </p:nvSpPr>
        <p:spPr>
          <a:xfrm>
            <a:off x="4015509" y="3020389"/>
            <a:ext cx="2228516" cy="498006"/>
          </a:xfrm>
          <a:prstGeom prst="roundRect">
            <a:avLst>
              <a:gd name="adj" fmla="val 14026"/>
            </a:avLst>
          </a:prstGeom>
          <a:solidFill>
            <a:srgbClr val="F7F5F0"/>
          </a:solidFill>
          <a:ln w="12700">
            <a:solidFill>
              <a:srgbClr val="9AA8B5"/>
            </a:solidFill>
            <a:prstDash val="dash"/>
          </a:ln>
        </p:spPr>
        <p:txBody>
          <a:bodyPr wrap="none" lIns="0" tIns="0" rIns="0" bIns="0" rtlCol="0" anchor="ctr">
            <a:normAutofit/>
          </a:bodyPr>
          <a:lstStyle/>
          <a:p>
            <a:pPr algn="ctr" indent="0" marL="0">
              <a:lnSpc>
                <a:spcPts val="2240"/>
              </a:lnSpc>
              <a:buNone/>
            </a:pPr>
            <a:r>
              <a:rPr lang="en-US" sz="1600" dirty="0">
                <a:solidFill>
                  <a:srgbClr val="6A7682"/>
                </a:solidFill>
                <a:latin typeface="JetBrains Mono" pitchFamily="49" charset="0"/>
                <a:ea typeface="JetBrains Mono" pitchFamily="49" charset="-122"/>
                <a:cs typeface="JetBrains Mono" pitchFamily="49" charset="-120"/>
              </a:rPr>
              <a:t>fₚ₁ ∘ fₚ₁⁻¹ = id</a:t>
            </a:r>
            <a:endParaRPr lang="en-US" sz="1600" dirty="0"/>
          </a:p>
        </p:txBody>
      </p:sp>
      <p:sp>
        <p:nvSpPr>
          <p:cNvPr id="10" name="Text 8"/>
          <p:cNvSpPr/>
          <p:nvPr/>
        </p:nvSpPr>
        <p:spPr>
          <a:xfrm>
            <a:off x="6351939" y="3025584"/>
            <a:ext cx="545748" cy="487615"/>
          </a:xfrm>
          <a:prstGeom prst="roundRect">
            <a:avLst>
              <a:gd name="adj" fmla="val 15627"/>
            </a:avLst>
          </a:prstGeom>
          <a:solidFill>
            <a:srgbClr val="2F6FBF"/>
          </a:solidFill>
          <a:ln/>
        </p:spPr>
        <p:txBody>
          <a:bodyPr wrap="none" lIns="0" tIns="0" rIns="0" bIns="0" rtlCol="0" anchor="ctr">
            <a:normAutofit/>
          </a:bodyPr>
          <a:lstStyle/>
          <a:p>
            <a:pPr algn="ctr" indent="0" marL="0">
              <a:lnSpc>
                <a:spcPts val="2240"/>
              </a:lnSpc>
              <a:buNone/>
            </a:pPr>
            <a:r>
              <a:rPr lang="en-US" sz="1600" dirty="0">
                <a:solidFill>
                  <a:srgbClr val="F7F5F0"/>
                </a:solidFill>
                <a:latin typeface="JetBrains Mono" pitchFamily="49" charset="0"/>
                <a:ea typeface="JetBrains Mono" pitchFamily="49" charset="-122"/>
                <a:cs typeface="JetBrains Mono" pitchFamily="49" charset="-120"/>
              </a:rPr>
              <a:t>fₖ</a:t>
            </a:r>
            <a:endParaRPr lang="en-US" sz="1600" dirty="0"/>
          </a:p>
        </p:txBody>
      </p:sp>
      <p:sp>
        <p:nvSpPr>
          <p:cNvPr id="11" name="Text 9"/>
          <p:cNvSpPr/>
          <p:nvPr/>
        </p:nvSpPr>
        <p:spPr>
          <a:xfrm>
            <a:off x="7050051" y="3127184"/>
            <a:ext cx="703454" cy="309815"/>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B2A3A"/>
                </a:solidFill>
                <a:latin typeface="JetBrains Mono" pitchFamily="49" charset="0"/>
                <a:ea typeface="JetBrains Mono" pitchFamily="49" charset="-122"/>
                <a:cs typeface="JetBrains Mono" pitchFamily="49" charset="-120"/>
              </a:rPr>
              <a:t>= gₖ→ₗ</a:t>
            </a:r>
            <a:endParaRPr lang="en-US" sz="1600" dirty="0"/>
          </a:p>
        </p:txBody>
      </p:sp>
      <p:sp>
        <p:nvSpPr>
          <p:cNvPr id="12" name="Shape 10"/>
          <p:cNvSpPr/>
          <p:nvPr/>
        </p:nvSpPr>
        <p:spPr>
          <a:xfrm>
            <a:off x="815957" y="3756484"/>
            <a:ext cx="5169486" cy="1762540"/>
          </a:xfrm>
          <a:prstGeom prst="roundRect">
            <a:avLst>
              <a:gd name="adj" fmla="val 5584"/>
            </a:avLst>
          </a:prstGeom>
          <a:solidFill>
            <a:srgbClr val="FDFCF9"/>
          </a:solidFill>
          <a:ln w="6350">
            <a:solidFill>
              <a:srgbClr val="D3DAE0"/>
            </a:solidFill>
            <a:prstDash val="solid"/>
          </a:ln>
        </p:spPr>
      </p:sp>
      <p:sp>
        <p:nvSpPr>
          <p:cNvPr id="13" name="Text 11"/>
          <p:cNvSpPr/>
          <p:nvPr/>
        </p:nvSpPr>
        <p:spPr>
          <a:xfrm>
            <a:off x="1021728" y="3962254"/>
            <a:ext cx="4900683" cy="269253"/>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B2A3A"/>
                </a:solidFill>
                <a:latin typeface="IBM Plex Sans" pitchFamily="34" charset="0"/>
                <a:ea typeface="IBM Plex Sans" pitchFamily="34" charset="-122"/>
                <a:cs typeface="IBM Plex Sans" pitchFamily="34" charset="-120"/>
              </a:rPr>
              <a:t>On the fish data</a:t>
            </a:r>
            <a:endParaRPr lang="en-US" sz="1600" dirty="0"/>
          </a:p>
        </p:txBody>
      </p:sp>
      <p:sp>
        <p:nvSpPr>
          <p:cNvPr id="14" name="Text 12"/>
          <p:cNvSpPr/>
          <p:nvPr/>
        </p:nvSpPr>
        <p:spPr>
          <a:xfrm>
            <a:off x="1021728" y="4282280"/>
            <a:ext cx="4900683" cy="1056373"/>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3E4A56"/>
                </a:solidFill>
                <a:latin typeface="IBM Plex Sans" pitchFamily="34" charset="0"/>
                <a:ea typeface="IBM Plex Sans" pitchFamily="34" charset="-122"/>
                <a:cs typeface="IBM Plex Sans" pitchFamily="34" charset="-120"/>
              </a:rPr>
              <a:t>Composed pairwise maps miss the direct map by 0.116 min on average over 60 ordered triplets, and by up to 0.277 min, more than one bin. Joint model: at most 0.0023 min, from inverting on a grid.</a:t>
            </a:r>
            <a:endParaRPr lang="en-US" sz="1400" dirty="0"/>
          </a:p>
        </p:txBody>
      </p:sp>
      <p:sp>
        <p:nvSpPr>
          <p:cNvPr id="15" name="Shape 13"/>
          <p:cNvSpPr/>
          <p:nvPr/>
        </p:nvSpPr>
        <p:spPr>
          <a:xfrm>
            <a:off x="6198141" y="3759659"/>
            <a:ext cx="5174727" cy="1756190"/>
          </a:xfrm>
          <a:prstGeom prst="roundRect">
            <a:avLst>
              <a:gd name="adj" fmla="val 5424"/>
            </a:avLst>
          </a:prstGeom>
          <a:solidFill>
            <a:srgbClr val="FDFCF9"/>
          </a:solidFill>
          <a:ln w="12700">
            <a:solidFill>
              <a:srgbClr val="C8641E"/>
            </a:solidFill>
            <a:prstDash val="solid"/>
          </a:ln>
        </p:spPr>
      </p:sp>
      <p:sp>
        <p:nvSpPr>
          <p:cNvPr id="16" name="Text 14"/>
          <p:cNvSpPr/>
          <p:nvPr/>
        </p:nvSpPr>
        <p:spPr>
          <a:xfrm>
            <a:off x="6406509" y="3968028"/>
            <a:ext cx="4900730" cy="269253"/>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B2A3A"/>
                </a:solidFill>
                <a:latin typeface="IBM Plex Sans" pitchFamily="34" charset="0"/>
                <a:ea typeface="IBM Plex Sans" pitchFamily="34" charset="-122"/>
                <a:cs typeface="IBM Plex Sans" pitchFamily="34" charset="-120"/>
              </a:rPr>
              <a:t>Consistent is not correct</a:t>
            </a:r>
            <a:endParaRPr lang="en-US" sz="1600" dirty="0"/>
          </a:p>
        </p:txBody>
      </p:sp>
      <p:sp>
        <p:nvSpPr>
          <p:cNvPr id="17" name="Text 15"/>
          <p:cNvSpPr/>
          <p:nvPr/>
        </p:nvSpPr>
        <p:spPr>
          <a:xfrm>
            <a:off x="6406509" y="4288053"/>
            <a:ext cx="4900730" cy="798630"/>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3E4A56"/>
                </a:solidFill>
                <a:latin typeface="IBM Plex Sans" pitchFamily="34" charset="0"/>
                <a:ea typeface="IBM Plex Sans" pitchFamily="34" charset="-122"/>
                <a:cs typeface="IBM Plex Sans" pitchFamily="34" charset="-120"/>
              </a:rPr>
              <a:t>The cancelling only needs each fₖ to have an inverse; the slope bounds guarantee that. If an fₖ is wrong, every map through it is wrong in the same way.</a:t>
            </a:r>
            <a:endParaRPr lang="en-US" sz="1400" dirty="0"/>
          </a:p>
        </p:txBody>
      </p:sp>
      <p:sp>
        <p:nvSpPr>
          <p:cNvPr id="18" name="Text 16"/>
          <p:cNvSpPr/>
          <p:nvPr/>
        </p:nvSpPr>
        <p:spPr>
          <a:xfrm>
            <a:off x="812782" y="6238289"/>
            <a:ext cx="1088338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682"/>
                </a:solidFill>
                <a:latin typeface="IBM Plex Sans" pitchFamily="34" charset="0"/>
                <a:ea typeface="IBM Plex Sans" pitchFamily="34" charset="-122"/>
                <a:cs typeface="IBM Plex Sans" pitchFamily="34" charset="-120"/>
              </a:rPr>
              <a:t>Paper Eq. (1) and the transitivity figure. Function composition is associative, which is what lets the brackets move.</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5F0"/>
        </a:solidFill>
      </p:bgPr>
    </p:bg>
    <p:spTree>
      <p:nvGrpSpPr>
        <p:cNvPr id="1" name=""/>
        <p:cNvGrpSpPr/>
        <p:nvPr/>
      </p:nvGrpSpPr>
      <p:grpSpPr>
        <a:xfrm>
          <a:off x="0" y="0"/>
          <a:ext cx="0" cy="0"/>
          <a:chOff x="0" y="0"/>
          <a:chExt cx="0" cy="0"/>
        </a:xfrm>
      </p:grpSpPr>
      <p:sp>
        <p:nvSpPr>
          <p:cNvPr id="2" name="Text 0"/>
          <p:cNvSpPr/>
          <p:nvPr/>
        </p:nvSpPr>
        <p:spPr>
          <a:xfrm>
            <a:off x="812782" y="812781"/>
            <a:ext cx="10883429"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2F6FBF"/>
                </a:solidFill>
                <a:latin typeface="IBM Plex Sans" pitchFamily="34" charset="0"/>
                <a:ea typeface="IBM Plex Sans" pitchFamily="34" charset="-122"/>
                <a:cs typeface="IBM Plex Sans" pitchFamily="34" charset="-120"/>
              </a:rPr>
              <a:t>Q2 · INTUITION</a:t>
            </a:r>
            <a:endParaRPr lang="en-US" sz="1200" dirty="0"/>
          </a:p>
        </p:txBody>
      </p:sp>
      <p:sp>
        <p:nvSpPr>
          <p:cNvPr id="3" name="Text 1"/>
          <p:cNvSpPr/>
          <p:nvPr>
            <p:ph type="title"/>
          </p:nvPr>
        </p:nvSpPr>
        <p:spPr>
          <a:xfrm>
            <a:off x="812782" y="1127665"/>
            <a:ext cx="10883429" cy="472426"/>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B2A3A"/>
                </a:solidFill>
                <a:latin typeface="Source Serif 4" pitchFamily="18" charset="0"/>
                <a:ea typeface="Source Serif 4" pitchFamily="18" charset="-122"/>
                <a:cs typeface="Source Serif 4" pitchFamily="18" charset="-120"/>
              </a:rPr>
              <a:t>Fitting only ever warps forward</a:t>
            </a:r>
            <a:endParaRPr lang="en-US" sz="3200" dirty="0"/>
          </a:p>
        </p:txBody>
      </p:sp>
      <p:sp>
        <p:nvSpPr>
          <p:cNvPr id="4" name="Text 2"/>
          <p:cNvSpPr/>
          <p:nvPr/>
        </p:nvSpPr>
        <p:spPr>
          <a:xfrm>
            <a:off x="812782" y="1828645"/>
            <a:ext cx="1320800" cy="274259"/>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B2A3A"/>
                </a:solidFill>
                <a:latin typeface="IBM Plex Sans" pitchFamily="34" charset="0"/>
                <a:ea typeface="IBM Plex Sans" pitchFamily="34" charset="-122"/>
                <a:cs typeface="IBM Plex Sans" pitchFamily="34" charset="-120"/>
              </a:rPr>
              <a:t>Batch k</a:t>
            </a:r>
            <a:endParaRPr lang="en-US" sz="1400" dirty="0"/>
          </a:p>
        </p:txBody>
      </p:sp>
      <p:sp>
        <p:nvSpPr>
          <p:cNvPr id="5" name="Text 3"/>
          <p:cNvSpPr/>
          <p:nvPr/>
        </p:nvSpPr>
        <p:spPr>
          <a:xfrm>
            <a:off x="812782" y="2603364"/>
            <a:ext cx="1320800" cy="274259"/>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B2A3A"/>
                </a:solidFill>
                <a:latin typeface="IBM Plex Sans" pitchFamily="34" charset="0"/>
                <a:ea typeface="IBM Plex Sans" pitchFamily="34" charset="-122"/>
                <a:cs typeface="IBM Plex Sans" pitchFamily="34" charset="-120"/>
              </a:rPr>
              <a:t>Shared clock</a:t>
            </a:r>
            <a:endParaRPr lang="en-US" sz="1400" dirty="0"/>
          </a:p>
        </p:txBody>
      </p:sp>
      <p:sp>
        <p:nvSpPr>
          <p:cNvPr id="6" name="Text 4"/>
          <p:cNvSpPr/>
          <p:nvPr/>
        </p:nvSpPr>
        <p:spPr>
          <a:xfrm>
            <a:off x="812782" y="3378036"/>
            <a:ext cx="1320800" cy="274259"/>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B2A3A"/>
                </a:solidFill>
                <a:latin typeface="IBM Plex Sans" pitchFamily="34" charset="0"/>
                <a:ea typeface="IBM Plex Sans" pitchFamily="34" charset="-122"/>
                <a:cs typeface="IBM Plex Sans" pitchFamily="34" charset="-120"/>
              </a:rPr>
              <a:t>Batch l</a:t>
            </a:r>
            <a:endParaRPr lang="en-US" sz="1400" dirty="0"/>
          </a:p>
        </p:txBody>
      </p:sp>
      <p:sp>
        <p:nvSpPr>
          <p:cNvPr id="7" name="Shape 5"/>
          <p:cNvSpPr/>
          <p:nvPr/>
        </p:nvSpPr>
        <p:spPr>
          <a:xfrm>
            <a:off x="2209782" y="1777864"/>
            <a:ext cx="9169391" cy="355564"/>
          </a:xfrm>
          <a:prstGeom prst="roundRect">
            <a:avLst>
              <a:gd name="adj" fmla="val 17859"/>
            </a:avLst>
          </a:prstGeom>
          <a:solidFill>
            <a:srgbClr val="E2E7EC"/>
          </a:solidFill>
          <a:ln/>
        </p:spPr>
      </p:sp>
      <p:sp>
        <p:nvSpPr>
          <p:cNvPr id="8" name="Shape 6"/>
          <p:cNvSpPr/>
          <p:nvPr/>
        </p:nvSpPr>
        <p:spPr>
          <a:xfrm>
            <a:off x="2209782" y="2552536"/>
            <a:ext cx="9169391" cy="355564"/>
          </a:xfrm>
          <a:prstGeom prst="roundRect">
            <a:avLst>
              <a:gd name="adj" fmla="val 17859"/>
            </a:avLst>
          </a:prstGeom>
          <a:solidFill>
            <a:srgbClr val="1B2A3A"/>
          </a:solidFill>
          <a:ln/>
        </p:spPr>
      </p:sp>
      <p:sp>
        <p:nvSpPr>
          <p:cNvPr id="9" name="Shape 7"/>
          <p:cNvSpPr/>
          <p:nvPr/>
        </p:nvSpPr>
        <p:spPr>
          <a:xfrm>
            <a:off x="2209782" y="3327254"/>
            <a:ext cx="9169391" cy="355564"/>
          </a:xfrm>
          <a:prstGeom prst="roundRect">
            <a:avLst>
              <a:gd name="adj" fmla="val 17859"/>
            </a:avLst>
          </a:prstGeom>
          <a:solidFill>
            <a:srgbClr val="E2E7EC"/>
          </a:solidFill>
          <a:ln/>
        </p:spPr>
      </p:sp>
      <p:sp>
        <p:nvSpPr>
          <p:cNvPr id="10" name="Shape 8"/>
          <p:cNvSpPr/>
          <p:nvPr/>
        </p:nvSpPr>
        <p:spPr>
          <a:xfrm>
            <a:off x="5848314" y="1777864"/>
            <a:ext cx="63500" cy="355564"/>
          </a:xfrm>
          <a:prstGeom prst="rect">
            <a:avLst/>
          </a:prstGeom>
          <a:solidFill>
            <a:srgbClr val="2F6FBF"/>
          </a:solidFill>
          <a:ln/>
        </p:spPr>
      </p:sp>
      <p:sp>
        <p:nvSpPr>
          <p:cNvPr id="11" name="Shape 9"/>
          <p:cNvSpPr/>
          <p:nvPr/>
        </p:nvSpPr>
        <p:spPr>
          <a:xfrm>
            <a:off x="8045423" y="3327254"/>
            <a:ext cx="63500" cy="355564"/>
          </a:xfrm>
          <a:prstGeom prst="rect">
            <a:avLst/>
          </a:prstGeom>
          <a:solidFill>
            <a:srgbClr val="C8641E"/>
          </a:solidFill>
          <a:ln/>
        </p:spPr>
      </p:sp>
      <p:sp>
        <p:nvSpPr>
          <p:cNvPr id="12" name="Shape 10"/>
          <p:cNvSpPr/>
          <p:nvPr/>
        </p:nvSpPr>
        <p:spPr>
          <a:xfrm>
            <a:off x="6559531" y="2679536"/>
            <a:ext cx="101564" cy="101564"/>
          </a:xfrm>
          <a:prstGeom prst="roundRect">
            <a:avLst>
              <a:gd name="adj" fmla="val 50000"/>
            </a:avLst>
          </a:prstGeom>
          <a:solidFill>
            <a:srgbClr val="8FB4E6"/>
          </a:solidFill>
          <a:ln/>
        </p:spPr>
      </p:sp>
      <p:sp>
        <p:nvSpPr>
          <p:cNvPr id="13" name="Shape 11"/>
          <p:cNvSpPr/>
          <p:nvPr/>
        </p:nvSpPr>
        <p:spPr>
          <a:xfrm>
            <a:off x="6927814" y="2679536"/>
            <a:ext cx="101564" cy="101564"/>
          </a:xfrm>
          <a:prstGeom prst="roundRect">
            <a:avLst>
              <a:gd name="adj" fmla="val 50000"/>
            </a:avLst>
          </a:prstGeom>
          <a:solidFill>
            <a:srgbClr val="F0B184"/>
          </a:solidFill>
          <a:ln/>
        </p:spPr>
      </p:sp>
      <p:sp>
        <p:nvSpPr>
          <p:cNvPr id="14" name="Text 12"/>
          <p:cNvSpPr/>
          <p:nvPr/>
        </p:nvSpPr>
        <p:spPr>
          <a:xfrm>
            <a:off x="5994346" y="1828645"/>
            <a:ext cx="1320800" cy="274259"/>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B2A3A"/>
                </a:solidFill>
                <a:latin typeface="IBM Plex Sans" pitchFamily="34" charset="0"/>
                <a:ea typeface="IBM Plex Sans" pitchFamily="34" charset="-122"/>
                <a:cs typeface="IBM Plex Sans" pitchFamily="34" charset="-120"/>
              </a:rPr>
              <a:t>a = 50</a:t>
            </a:r>
            <a:endParaRPr lang="en-US" sz="1400" dirty="0"/>
          </a:p>
        </p:txBody>
      </p:sp>
      <p:sp>
        <p:nvSpPr>
          <p:cNvPr id="15" name="Text 13"/>
          <p:cNvSpPr/>
          <p:nvPr/>
        </p:nvSpPr>
        <p:spPr>
          <a:xfrm>
            <a:off x="8191454" y="3378036"/>
            <a:ext cx="1320800" cy="274259"/>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B2A3A"/>
                </a:solidFill>
                <a:latin typeface="IBM Plex Sans" pitchFamily="34" charset="0"/>
                <a:ea typeface="IBM Plex Sans" pitchFamily="34" charset="-122"/>
                <a:cs typeface="IBM Plex Sans" pitchFamily="34" charset="-120"/>
              </a:rPr>
              <a:t>b = 56</a:t>
            </a:r>
            <a:endParaRPr lang="en-US" sz="1400" dirty="0"/>
          </a:p>
        </p:txBody>
      </p:sp>
      <p:sp>
        <p:nvSpPr>
          <p:cNvPr id="16" name="Text 14"/>
          <p:cNvSpPr/>
          <p:nvPr/>
        </p:nvSpPr>
        <p:spPr>
          <a:xfrm>
            <a:off x="8872201" y="2616036"/>
            <a:ext cx="2354580" cy="256535"/>
          </a:xfrm>
          <a:prstGeom prst="rect">
            <a:avLst/>
          </a:prstGeom>
          <a:noFill/>
          <a:ln/>
        </p:spPr>
        <p:txBody>
          <a:bodyPr wrap="square" lIns="0" tIns="0" rIns="0" bIns="0" rtlCol="0" anchor="t">
            <a:normAutofit/>
          </a:bodyPr>
          <a:lstStyle/>
          <a:p>
            <a:pPr algn="r" indent="0" marL="0">
              <a:lnSpc>
                <a:spcPts val="1820"/>
              </a:lnSpc>
              <a:buNone/>
            </a:pPr>
            <a:r>
              <a:rPr lang="en-US" sz="1300" dirty="0">
                <a:solidFill>
                  <a:srgbClr val="C9D3DC"/>
                </a:solidFill>
                <a:latin typeface="IBM Plex Sans" pitchFamily="34" charset="0"/>
                <a:ea typeface="IBM Plex Sans" pitchFamily="34" charset="-122"/>
                <a:cs typeface="IBM Plex Sans" pitchFamily="34" charset="-120"/>
              </a:rPr>
              <a:t>fₖ(a) = 52, fₗ(b) = 53</a:t>
            </a:r>
            <a:endParaRPr lang="en-US" sz="1300" dirty="0"/>
          </a:p>
        </p:txBody>
      </p:sp>
      <p:pic>
        <p:nvPicPr>
          <p:cNvPr id="17" name="Image 0" descr="connector">    </p:cNvPr>
          <p:cNvPicPr>
            <a:picLocks noChangeAspect="1"/>
          </p:cNvPicPr>
          <p:nvPr/>
        </p:nvPicPr>
        <p:blipFill>
          <a:blip r:embed="rId1"/>
          <a:srcRect l="0" r="0" t="-2" b="-2"/>
          <a:stretch/>
        </p:blipFill>
        <p:spPr>
          <a:xfrm>
            <a:off x="5816564" y="2069926"/>
            <a:ext cx="831814" cy="660391"/>
          </a:xfrm>
          <a:prstGeom prst="rect">
            <a:avLst/>
          </a:prstGeom>
        </p:spPr>
      </p:pic>
      <p:pic>
        <p:nvPicPr>
          <p:cNvPr id="18" name="Image 1" descr="connector">    </p:cNvPr>
          <p:cNvPicPr>
            <a:picLocks noChangeAspect="1"/>
          </p:cNvPicPr>
          <p:nvPr/>
        </p:nvPicPr>
        <p:blipFill>
          <a:blip r:embed="rId2"/>
          <a:srcRect l="0" r="0" t="0" b="0"/>
          <a:stretch/>
        </p:blipFill>
        <p:spPr>
          <a:xfrm>
            <a:off x="6940531" y="2730364"/>
            <a:ext cx="1200141" cy="660391"/>
          </a:xfrm>
          <a:prstGeom prst="rect">
            <a:avLst/>
          </a:prstGeom>
        </p:spPr>
      </p:pic>
      <p:sp>
        <p:nvSpPr>
          <p:cNvPr id="19" name="Text 15"/>
          <p:cNvSpPr/>
          <p:nvPr/>
        </p:nvSpPr>
        <p:spPr>
          <a:xfrm>
            <a:off x="6400782" y="2196926"/>
            <a:ext cx="558800" cy="292073"/>
          </a:xfrm>
          <a:prstGeom prst="rect">
            <a:avLst/>
          </a:prstGeom>
          <a:noFill/>
          <a:ln/>
        </p:spPr>
        <p:txBody>
          <a:bodyPr wrap="square" lIns="0" tIns="0" rIns="0" bIns="0" rtlCol="0" anchor="t">
            <a:normAutofit/>
          </a:bodyPr>
          <a:lstStyle/>
          <a:p>
            <a:pPr algn="l" indent="0" marL="0">
              <a:lnSpc>
                <a:spcPts val="2100"/>
              </a:lnSpc>
              <a:buNone/>
            </a:pPr>
            <a:r>
              <a:rPr lang="en-US" sz="1500" i="1" dirty="0">
                <a:solidFill>
                  <a:srgbClr val="2F6FBF"/>
                </a:solidFill>
                <a:latin typeface="IBM Plex Sans" pitchFamily="34" charset="0"/>
                <a:ea typeface="IBM Plex Sans" pitchFamily="34" charset="-122"/>
                <a:cs typeface="IBM Plex Sans" pitchFamily="34" charset="-120"/>
              </a:rPr>
              <a:t>fₖ</a:t>
            </a:r>
            <a:endParaRPr lang="en-US" sz="1500" dirty="0"/>
          </a:p>
        </p:txBody>
      </p:sp>
      <p:sp>
        <p:nvSpPr>
          <p:cNvPr id="20" name="Text 16"/>
          <p:cNvSpPr/>
          <p:nvPr/>
        </p:nvSpPr>
        <p:spPr>
          <a:xfrm>
            <a:off x="7861281" y="2908145"/>
            <a:ext cx="558800" cy="292073"/>
          </a:xfrm>
          <a:prstGeom prst="rect">
            <a:avLst/>
          </a:prstGeom>
          <a:noFill/>
          <a:ln/>
        </p:spPr>
        <p:txBody>
          <a:bodyPr wrap="square" lIns="0" tIns="0" rIns="0" bIns="0" rtlCol="0" anchor="t">
            <a:normAutofit/>
          </a:bodyPr>
          <a:lstStyle/>
          <a:p>
            <a:pPr algn="l" indent="0" marL="0">
              <a:lnSpc>
                <a:spcPts val="2100"/>
              </a:lnSpc>
              <a:buNone/>
            </a:pPr>
            <a:r>
              <a:rPr lang="en-US" sz="1500" i="1" dirty="0">
                <a:solidFill>
                  <a:srgbClr val="A9520F"/>
                </a:solidFill>
                <a:latin typeface="IBM Plex Sans" pitchFamily="34" charset="0"/>
                <a:ea typeface="IBM Plex Sans" pitchFamily="34" charset="-122"/>
                <a:cs typeface="IBM Plex Sans" pitchFamily="34" charset="-120"/>
              </a:rPr>
              <a:t>fₗ</a:t>
            </a:r>
            <a:endParaRPr lang="en-US" sz="1500" dirty="0"/>
          </a:p>
        </p:txBody>
      </p:sp>
      <p:sp>
        <p:nvSpPr>
          <p:cNvPr id="21" name="Text 17"/>
          <p:cNvSpPr/>
          <p:nvPr/>
        </p:nvSpPr>
        <p:spPr>
          <a:xfrm>
            <a:off x="812782" y="3886036"/>
            <a:ext cx="10883429" cy="309887"/>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B2A3A"/>
                </a:solidFill>
                <a:latin typeface="JetBrains Mono" pitchFamily="49" charset="0"/>
                <a:ea typeface="JetBrains Mono" pitchFamily="49" charset="-122"/>
                <a:cs typeface="JetBrains Mono" pitchFamily="49" charset="-120"/>
              </a:rPr>
              <a:t>miss r = fₖ(a) − fₗ(b) = 52 − 53 = −1 bin</a:t>
            </a:r>
            <a:endParaRPr lang="en-US" sz="1600" dirty="0"/>
          </a:p>
        </p:txBody>
      </p:sp>
      <p:sp>
        <p:nvSpPr>
          <p:cNvPr id="22" name="Shape 18"/>
          <p:cNvSpPr/>
          <p:nvPr/>
        </p:nvSpPr>
        <p:spPr>
          <a:xfrm>
            <a:off x="819132" y="4380046"/>
            <a:ext cx="5174681" cy="1252249"/>
          </a:xfrm>
          <a:prstGeom prst="roundRect">
            <a:avLst>
              <a:gd name="adj" fmla="val 7606"/>
            </a:avLst>
          </a:prstGeom>
          <a:solidFill>
            <a:srgbClr val="FDFCF9"/>
          </a:solidFill>
          <a:ln w="12700">
            <a:solidFill>
              <a:srgbClr val="2F6FBF"/>
            </a:solidFill>
            <a:prstDash val="solid"/>
          </a:ln>
        </p:spPr>
      </p:sp>
      <p:sp>
        <p:nvSpPr>
          <p:cNvPr id="23" name="Text 19"/>
          <p:cNvSpPr/>
          <p:nvPr/>
        </p:nvSpPr>
        <p:spPr>
          <a:xfrm>
            <a:off x="1027500" y="4588415"/>
            <a:ext cx="4900683" cy="269253"/>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B2A3A"/>
                </a:solidFill>
                <a:latin typeface="IBM Plex Sans" pitchFamily="34" charset="0"/>
                <a:ea typeface="IBM Plex Sans" pitchFamily="34" charset="-122"/>
                <a:cs typeface="IBM Plex Sans" pitchFamily="34" charset="-120"/>
              </a:rPr>
              <a:t>While fitting</a:t>
            </a:r>
            <a:endParaRPr lang="en-US" sz="1600" dirty="0"/>
          </a:p>
        </p:txBody>
      </p:sp>
      <p:sp>
        <p:nvSpPr>
          <p:cNvPr id="24" name="Text 20"/>
          <p:cNvSpPr/>
          <p:nvPr/>
        </p:nvSpPr>
        <p:spPr>
          <a:xfrm>
            <a:off x="1027500" y="4908441"/>
            <a:ext cx="4900683" cy="540887"/>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3E4A56"/>
                </a:solidFill>
                <a:latin typeface="IBM Plex Sans" pitchFamily="34" charset="0"/>
                <a:ea typeface="IBM Plex Sans" pitchFamily="34" charset="-122"/>
                <a:cs typeface="IBM Plex Sans" pitchFamily="34" charset="-120"/>
              </a:rPr>
              <a:t>Both peaks go </a:t>
            </a:r>
            <a:r>
              <a:rPr lang="en-US" sz="1400" b="1" dirty="0">
                <a:solidFill>
                  <a:srgbClr val="3E4A56"/>
                </a:solidFill>
                <a:latin typeface="IBM Plex Sans" pitchFamily="34" charset="0"/>
                <a:ea typeface="IBM Plex Sans" pitchFamily="34" charset="-122"/>
                <a:cs typeface="IBM Plex Sans" pitchFamily="34" charset="-120"/>
              </a:rPr>
              <a:t>forward</a:t>
            </a:r>
            <a:r>
              <a:rPr lang="en-US" sz="1400" dirty="0">
                <a:solidFill>
                  <a:srgbClr val="3E4A56"/>
                </a:solidFill>
                <a:latin typeface="IBM Plex Sans" pitchFamily="34" charset="0"/>
                <a:ea typeface="IBM Plex Sans" pitchFamily="34" charset="-122"/>
                <a:cs typeface="IBM Plex Sans" pitchFamily="34" charset="-120"/>
              </a:rPr>
              <a:t> onto the clock and we score the gap. No inverse, so each miss stays linear in the unknowns.</a:t>
            </a:r>
            <a:endParaRPr lang="en-US" sz="1400" dirty="0"/>
          </a:p>
        </p:txBody>
      </p:sp>
      <p:sp>
        <p:nvSpPr>
          <p:cNvPr id="25" name="Shape 21"/>
          <p:cNvSpPr/>
          <p:nvPr/>
        </p:nvSpPr>
        <p:spPr>
          <a:xfrm>
            <a:off x="6206511" y="4376871"/>
            <a:ext cx="5169531" cy="1258599"/>
          </a:xfrm>
          <a:prstGeom prst="roundRect">
            <a:avLst>
              <a:gd name="adj" fmla="val 7820"/>
            </a:avLst>
          </a:prstGeom>
          <a:solidFill>
            <a:srgbClr val="FDFCF9"/>
          </a:solidFill>
          <a:ln w="6350">
            <a:solidFill>
              <a:srgbClr val="D3DAE0"/>
            </a:solidFill>
            <a:prstDash val="solid"/>
          </a:ln>
        </p:spPr>
      </p:sp>
      <p:sp>
        <p:nvSpPr>
          <p:cNvPr id="26" name="Text 22"/>
          <p:cNvSpPr/>
          <p:nvPr/>
        </p:nvSpPr>
        <p:spPr>
          <a:xfrm>
            <a:off x="6412282" y="4582641"/>
            <a:ext cx="4900730" cy="269253"/>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B2A3A"/>
                </a:solidFill>
                <a:latin typeface="IBM Plex Sans" pitchFamily="34" charset="0"/>
                <a:ea typeface="IBM Plex Sans" pitchFamily="34" charset="-122"/>
                <a:cs typeface="IBM Plex Sans" pitchFamily="34" charset="-120"/>
              </a:rPr>
              <a:t>After fitting</a:t>
            </a:r>
            <a:endParaRPr lang="en-US" sz="1600" dirty="0"/>
          </a:p>
        </p:txBody>
      </p:sp>
      <p:sp>
        <p:nvSpPr>
          <p:cNvPr id="27" name="Text 23"/>
          <p:cNvSpPr/>
          <p:nvPr/>
        </p:nvSpPr>
        <p:spPr>
          <a:xfrm>
            <a:off x="6412282" y="4902668"/>
            <a:ext cx="4900730" cy="540887"/>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3E4A56"/>
                </a:solidFill>
                <a:latin typeface="IBM Plex Sans" pitchFamily="34" charset="0"/>
                <a:ea typeface="IBM Plex Sans" pitchFamily="34" charset="-122"/>
                <a:cs typeface="IBM Plex Sans" pitchFamily="34" charset="-120"/>
              </a:rPr>
              <a:t>To move a whole chromatogram from k to l we need gₖ→ₗ = fₗ⁻¹ ∘ fₖ. The inverse is computed once, by interpolation.</a:t>
            </a:r>
            <a:endParaRPr lang="en-US" sz="1400" dirty="0"/>
          </a:p>
        </p:txBody>
      </p:sp>
      <p:sp>
        <p:nvSpPr>
          <p:cNvPr id="28" name="Text 24"/>
          <p:cNvSpPr/>
          <p:nvPr/>
        </p:nvSpPr>
        <p:spPr>
          <a:xfrm>
            <a:off x="812782" y="6238289"/>
            <a:ext cx="1137921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682"/>
                </a:solidFill>
                <a:latin typeface="IBM Plex Sans" pitchFamily="34" charset="0"/>
                <a:ea typeface="IBM Plex Sans" pitchFamily="34" charset="-122"/>
                <a:cs typeface="IBM Plex Sans" pitchFamily="34" charset="-120"/>
              </a:rPr>
              <a:t>You said: “We only care about the residual … not their warps back (the inverse) to another batch’s clock.” Correct. Toy numbers: dₖ(50) = +2, dₗ(56) = −3.</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5F0"/>
        </a:solidFill>
      </p:bgPr>
    </p:bg>
    <p:spTree>
      <p:nvGrpSpPr>
        <p:cNvPr id="1" name=""/>
        <p:cNvGrpSpPr/>
        <p:nvPr/>
      </p:nvGrpSpPr>
      <p:grpSpPr>
        <a:xfrm>
          <a:off x="0" y="0"/>
          <a:ext cx="0" cy="0"/>
          <a:chOff x="0" y="0"/>
          <a:chExt cx="0" cy="0"/>
        </a:xfrm>
      </p:grpSpPr>
      <p:sp>
        <p:nvSpPr>
          <p:cNvPr id="2" name="Text 0"/>
          <p:cNvSpPr/>
          <p:nvPr/>
        </p:nvSpPr>
        <p:spPr>
          <a:xfrm>
            <a:off x="812782" y="812781"/>
            <a:ext cx="10883429"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2F6FBF"/>
                </a:solidFill>
                <a:latin typeface="IBM Plex Sans" pitchFamily="34" charset="0"/>
                <a:ea typeface="IBM Plex Sans" pitchFamily="34" charset="-122"/>
                <a:cs typeface="IBM Plex Sans" pitchFamily="34" charset="-120"/>
              </a:rPr>
              <a:t>Q3 · INTUITION AND MATHS</a:t>
            </a:r>
            <a:endParaRPr lang="en-US" sz="1200" dirty="0"/>
          </a:p>
        </p:txBody>
      </p:sp>
      <p:sp>
        <p:nvSpPr>
          <p:cNvPr id="3" name="Text 1"/>
          <p:cNvSpPr/>
          <p:nvPr>
            <p:ph type="title"/>
          </p:nvPr>
        </p:nvSpPr>
        <p:spPr>
          <a:xfrm>
            <a:off x="812782" y="1127665"/>
            <a:ext cx="10883429" cy="472426"/>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B2A3A"/>
                </a:solidFill>
                <a:latin typeface="Source Serif 4" pitchFamily="18" charset="0"/>
                <a:ea typeface="Source Serif 4" pitchFamily="18" charset="-122"/>
                <a:cs typeface="Source Serif 4" pitchFamily="18" charset="-120"/>
              </a:rPr>
              <a:t>Each knot wears a hat; the two nearest share t</a:t>
            </a:r>
            <a:endParaRPr lang="en-US" sz="3200" dirty="0"/>
          </a:p>
        </p:txBody>
      </p:sp>
      <p:pic>
        <p:nvPicPr>
          <p:cNvPr id="4" name="Image 0" descr="Four triangular hat functions over knots at t = 0, 10, 20 and 30, with a dashed marker at t = 22 crossing the hats of knots 2 and 3">    </p:cNvPr>
          <p:cNvPicPr>
            <a:picLocks noChangeAspect="1"/>
          </p:cNvPicPr>
          <p:nvPr/>
        </p:nvPicPr>
        <p:blipFill>
          <a:blip r:embed="rId1"/>
          <a:srcRect l="0" r="0" t="0" b="0"/>
          <a:stretch/>
        </p:blipFill>
        <p:spPr>
          <a:xfrm>
            <a:off x="812782" y="1828691"/>
            <a:ext cx="4826000" cy="2413000"/>
          </a:xfrm>
          <a:prstGeom prst="rect">
            <a:avLst/>
          </a:prstGeom>
        </p:spPr>
      </p:pic>
      <p:sp>
        <p:nvSpPr>
          <p:cNvPr id="5" name="Text 2"/>
          <p:cNvSpPr/>
          <p:nvPr/>
        </p:nvSpPr>
        <p:spPr>
          <a:xfrm>
            <a:off x="812782" y="4343254"/>
            <a:ext cx="4970780"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682"/>
                </a:solidFill>
                <a:latin typeface="IBM Plex Sans" pitchFamily="34" charset="0"/>
                <a:ea typeface="IBM Plex Sans" pitchFamily="34" charset="-122"/>
                <a:cs typeface="IBM Plex Sans" pitchFamily="34" charset="-120"/>
              </a:rPr>
              <a:t>Knots 0–3 at t = 0, 10, 20, 30. Each hat is 1 on its own knot and 0 at its neighbours. Dashed: t = 22 meets knot 2’s hat at 0.8 and knot 3’s at 0.2.</a:t>
            </a:r>
            <a:endParaRPr lang="en-US" sz="1200" dirty="0"/>
          </a:p>
        </p:txBody>
      </p:sp>
      <p:sp>
        <p:nvSpPr>
          <p:cNvPr id="6" name="Text 3"/>
          <p:cNvSpPr/>
          <p:nvPr/>
        </p:nvSpPr>
        <p:spPr>
          <a:xfrm>
            <a:off x="5994346" y="2007149"/>
            <a:ext cx="5546418" cy="301589"/>
          </a:xfrm>
          <a:prstGeom prst="rect">
            <a:avLst/>
          </a:prstGeom>
          <a:noFill/>
          <a:ln/>
        </p:spPr>
        <p:txBody>
          <a:bodyPr wrap="square" lIns="0" tIns="0" rIns="0" bIns="0" rtlCol="0" anchor="t">
            <a:normAutofit/>
          </a:bodyPr>
          <a:lstStyle/>
          <a:p>
            <a:pPr algn="l" indent="0" marL="0">
              <a:lnSpc>
                <a:spcPts val="2175"/>
              </a:lnSpc>
              <a:buNone/>
            </a:pPr>
            <a:r>
              <a:rPr lang="en-US" sz="1500" dirty="0">
                <a:solidFill>
                  <a:srgbClr val="3E4A56"/>
                </a:solidFill>
                <a:latin typeface="IBM Plex Sans" pitchFamily="34" charset="0"/>
                <a:ea typeface="IBM Plex Sans" pitchFamily="34" charset="-122"/>
                <a:cs typeface="IBM Plex Sans" pitchFamily="34" charset="-120"/>
              </a:rPr>
              <a:t>For t between a left and a right knot, Δu apart:</a:t>
            </a:r>
            <a:endParaRPr lang="en-US" sz="1500" dirty="0"/>
          </a:p>
        </p:txBody>
      </p:sp>
      <p:sp>
        <p:nvSpPr>
          <p:cNvPr id="7" name="Text 4"/>
          <p:cNvSpPr/>
          <p:nvPr/>
        </p:nvSpPr>
        <p:spPr>
          <a:xfrm>
            <a:off x="5997521" y="2438902"/>
            <a:ext cx="5378522" cy="980426"/>
          </a:xfrm>
          <a:prstGeom prst="roundRect">
            <a:avLst>
              <a:gd name="adj" fmla="val 10039"/>
            </a:avLst>
          </a:prstGeom>
          <a:solidFill>
            <a:srgbClr val="FDFCF9"/>
          </a:solidFill>
          <a:ln w="6350">
            <a:solidFill>
              <a:srgbClr val="D3DAE0"/>
            </a:solidFill>
            <a:prstDash val="solid"/>
          </a:ln>
        </p:spPr>
        <p:txBody>
          <a:bodyPr wrap="square" lIns="176943" tIns="176970" rIns="27934" bIns="151516" rtlCol="0" anchor="t">
            <a:normAutofit/>
          </a:bodyPr>
          <a:lstStyle/>
          <a:p>
            <a:pPr algn="l" indent="0" marL="0">
              <a:lnSpc>
                <a:spcPts val="2240"/>
              </a:lnSpc>
              <a:buNone/>
            </a:pPr>
            <a:r>
              <a:rPr lang="en-US" sz="1400" dirty="0">
                <a:solidFill>
                  <a:srgbClr val="1B2A3A"/>
                </a:solidFill>
                <a:latin typeface="JetBrains Mono" pitchFamily="49" charset="0"/>
                <a:ea typeface="JetBrains Mono" pitchFamily="49" charset="-122"/>
                <a:cs typeface="JetBrains Mono" pitchFamily="49" charset="-120"/>
              </a:rPr>
              <a:t>left knot: (right − t) / Δu</a:t>
            </a:r>
            <a:endParaRPr lang="en-US" sz="1400" dirty="0"/>
          </a:p>
          <a:p>
            <a:pPr algn="l" indent="0" marL="0">
              <a:lnSpc>
                <a:spcPts val="2240"/>
              </a:lnSpc>
              <a:buNone/>
            </a:pPr>
            <a:r>
              <a:rPr lang="en-US" sz="1400" dirty="0">
                <a:solidFill>
                  <a:srgbClr val="1B2A3A"/>
                </a:solidFill>
                <a:latin typeface="JetBrains Mono" pitchFamily="49" charset="0"/>
                <a:ea typeface="JetBrains Mono" pitchFamily="49" charset="-122"/>
                <a:cs typeface="JetBrains Mono" pitchFamily="49" charset="-120"/>
              </a:rPr>
              <a:t>right knot: (t − left) / Δu</a:t>
            </a:r>
            <a:endParaRPr lang="en-US" sz="1400" dirty="0"/>
          </a:p>
        </p:txBody>
      </p:sp>
      <p:sp>
        <p:nvSpPr>
          <p:cNvPr id="8" name="Text 5"/>
          <p:cNvSpPr/>
          <p:nvPr/>
        </p:nvSpPr>
        <p:spPr>
          <a:xfrm>
            <a:off x="5994346" y="3574895"/>
            <a:ext cx="5546418" cy="853967"/>
          </a:xfrm>
          <a:prstGeom prst="rect">
            <a:avLst/>
          </a:prstGeom>
          <a:noFill/>
          <a:ln/>
        </p:spPr>
        <p:txBody>
          <a:bodyPr wrap="square" lIns="0" tIns="0" rIns="0" bIns="0" rtlCol="0" anchor="t">
            <a:normAutofit/>
          </a:bodyPr>
          <a:lstStyle/>
          <a:p>
            <a:pPr algn="l" indent="0" marL="0">
              <a:lnSpc>
                <a:spcPts val="2175"/>
              </a:lnSpc>
              <a:buNone/>
            </a:pPr>
            <a:r>
              <a:rPr lang="en-US" sz="1500" dirty="0">
                <a:solidFill>
                  <a:srgbClr val="3E4A56"/>
                </a:solidFill>
                <a:latin typeface="IBM Plex Sans" pitchFamily="34" charset="0"/>
                <a:ea typeface="IBM Plex Sans" pitchFamily="34" charset="-122"/>
                <a:cs typeface="IBM Plex Sans" pitchFamily="34" charset="-120"/>
              </a:rPr>
              <a:t>They add to 1. Stack all the hats’ heights at t into a row: </a:t>
            </a:r>
            <a:r>
              <a:rPr lang="en-US" sz="1500" b="1" dirty="0">
                <a:solidFill>
                  <a:srgbClr val="3E4A56"/>
                </a:solidFill>
                <a:latin typeface="IBM Plex Sans" pitchFamily="34" charset="0"/>
                <a:ea typeface="IBM Plex Sans" pitchFamily="34" charset="-122"/>
                <a:cs typeface="IBM Plex Sans" pitchFamily="34" charset="-120"/>
              </a:rPr>
              <a:t>B(t)</a:t>
            </a:r>
            <a:r>
              <a:rPr lang="en-US" sz="1500" dirty="0">
                <a:solidFill>
                  <a:srgbClr val="3E4A56"/>
                </a:solidFill>
                <a:latin typeface="IBM Plex Sans" pitchFamily="34" charset="0"/>
                <a:ea typeface="IBM Plex Sans" pitchFamily="34" charset="-122"/>
                <a:cs typeface="IBM Plex Sans" pitchFamily="34" charset="-120"/>
              </a:rPr>
              <a:t>. At most two entries are non-zero, and exactly one when t sits on a knot.</a:t>
            </a:r>
            <a:endParaRPr lang="en-US" sz="1500" dirty="0"/>
          </a:p>
        </p:txBody>
      </p:sp>
      <p:sp>
        <p:nvSpPr>
          <p:cNvPr id="9" name="Text 6"/>
          <p:cNvSpPr/>
          <p:nvPr/>
        </p:nvSpPr>
        <p:spPr>
          <a:xfrm>
            <a:off x="5994346" y="4555852"/>
            <a:ext cx="5546418" cy="274259"/>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B2A3A"/>
                </a:solidFill>
                <a:latin typeface="JetBrains Mono" pitchFamily="49" charset="0"/>
                <a:ea typeface="JetBrains Mono" pitchFamily="49" charset="-122"/>
                <a:cs typeface="JetBrains Mono" pitchFamily="49" charset="-120"/>
              </a:rPr>
              <a:t>B(22) = (0, 0, 0.8, 0.2)</a:t>
            </a:r>
            <a:endParaRPr lang="en-US" sz="1400" dirty="0"/>
          </a:p>
        </p:txBody>
      </p:sp>
      <p:sp>
        <p:nvSpPr>
          <p:cNvPr id="10" name="Text 7"/>
          <p:cNvSpPr/>
          <p:nvPr/>
        </p:nvSpPr>
        <p:spPr>
          <a:xfrm>
            <a:off x="812782" y="6238286"/>
            <a:ext cx="1088338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682"/>
                </a:solidFill>
                <a:latin typeface="IBM Plex Sans" pitchFamily="34" charset="0"/>
                <a:ea typeface="IBM Plex Sans" pitchFamily="34" charset="-122"/>
                <a:cs typeface="IBM Plex Sans" pitchFamily="34" charset="-120"/>
              </a:rPr>
              <a:t>Your summary (“at most two knots, or one knot if we are directly over a knot”) is exactly right. The model uses Q = 41 knots, about 1.1 min apart.</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ECF0F3"/>
        </a:solidFill>
      </p:bgPr>
    </p:bg>
    <p:spTree>
      <p:nvGrpSpPr>
        <p:cNvPr id="1" name=""/>
        <p:cNvGrpSpPr/>
        <p:nvPr/>
      </p:nvGrpSpPr>
      <p:grpSpPr>
        <a:xfrm>
          <a:off x="0" y="0"/>
          <a:ext cx="0" cy="0"/>
          <a:chOff x="0" y="0"/>
          <a:chExt cx="0" cy="0"/>
        </a:xfrm>
      </p:grpSpPr>
      <p:sp>
        <p:nvSpPr>
          <p:cNvPr id="2" name="Text 0"/>
          <p:cNvSpPr/>
          <p:nvPr/>
        </p:nvSpPr>
        <p:spPr>
          <a:xfrm>
            <a:off x="812782" y="812781"/>
            <a:ext cx="10883429"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2F6FBF"/>
                </a:solidFill>
                <a:latin typeface="IBM Plex Sans" pitchFamily="34" charset="0"/>
                <a:ea typeface="IBM Plex Sans" pitchFamily="34" charset="-122"/>
                <a:cs typeface="IBM Plex Sans" pitchFamily="34" charset="-120"/>
              </a:rPr>
              <a:t>Q4 · MATHS</a:t>
            </a:r>
            <a:endParaRPr lang="en-US" sz="1200" dirty="0"/>
          </a:p>
        </p:txBody>
      </p:sp>
      <p:sp>
        <p:nvSpPr>
          <p:cNvPr id="3" name="Text 1"/>
          <p:cNvSpPr/>
          <p:nvPr>
            <p:ph type="title"/>
          </p:nvPr>
        </p:nvSpPr>
        <p:spPr>
          <a:xfrm>
            <a:off x="812782" y="1127665"/>
            <a:ext cx="10883429" cy="472426"/>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B2A3A"/>
                </a:solidFill>
                <a:latin typeface="Source Serif 4" pitchFamily="18" charset="0"/>
                <a:ea typeface="Source Serif 4" pitchFamily="18" charset="-122"/>
                <a:cs typeface="Source Serif 4" pitchFamily="18" charset="-120"/>
              </a:rPr>
              <a:t>The warp needs both: weights times values</a:t>
            </a:r>
            <a:endParaRPr lang="en-US" sz="3200" dirty="0"/>
          </a:p>
        </p:txBody>
      </p:sp>
      <p:sp>
        <p:nvSpPr>
          <p:cNvPr id="4" name="Shape 2"/>
          <p:cNvSpPr/>
          <p:nvPr/>
        </p:nvSpPr>
        <p:spPr>
          <a:xfrm>
            <a:off x="815957" y="1831866"/>
            <a:ext cx="5169486" cy="1629316"/>
          </a:xfrm>
          <a:prstGeom prst="roundRect">
            <a:avLst>
              <a:gd name="adj" fmla="val 6041"/>
            </a:avLst>
          </a:prstGeom>
          <a:solidFill>
            <a:srgbClr val="FDFCF9"/>
          </a:solidFill>
          <a:ln w="6350">
            <a:solidFill>
              <a:srgbClr val="D3DAE0"/>
            </a:solidFill>
            <a:prstDash val="solid"/>
          </a:ln>
        </p:spPr>
      </p:sp>
      <p:sp>
        <p:nvSpPr>
          <p:cNvPr id="5" name="Text 3"/>
          <p:cNvSpPr/>
          <p:nvPr/>
        </p:nvSpPr>
        <p:spPr>
          <a:xfrm>
            <a:off x="1047119" y="2063028"/>
            <a:ext cx="4848378"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6A7682"/>
                </a:solidFill>
                <a:latin typeface="IBM Plex Sans" pitchFamily="34" charset="0"/>
                <a:ea typeface="IBM Plex Sans" pitchFamily="34" charset="-122"/>
                <a:cs typeface="IBM Plex Sans" pitchFamily="34" charset="-120"/>
              </a:rPr>
              <a:t>FIXED · GEOMETRY</a:t>
            </a:r>
            <a:endParaRPr lang="en-US" sz="1200" dirty="0"/>
          </a:p>
        </p:txBody>
      </p:sp>
      <p:sp>
        <p:nvSpPr>
          <p:cNvPr id="6" name="Text 4"/>
          <p:cNvSpPr/>
          <p:nvPr/>
        </p:nvSpPr>
        <p:spPr>
          <a:xfrm>
            <a:off x="1047119" y="2352520"/>
            <a:ext cx="4848378" cy="299695"/>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B2A3A"/>
                </a:solidFill>
                <a:latin typeface="IBM Plex Sans" pitchFamily="34" charset="0"/>
                <a:ea typeface="IBM Plex Sans" pitchFamily="34" charset="-122"/>
                <a:cs typeface="IBM Plex Sans" pitchFamily="34" charset="-120"/>
              </a:rPr>
              <a:t>Basis weights B(t)</a:t>
            </a:r>
            <a:endParaRPr lang="en-US" sz="1800" dirty="0"/>
          </a:p>
        </p:txBody>
      </p:sp>
      <p:sp>
        <p:nvSpPr>
          <p:cNvPr id="7" name="Text 5"/>
          <p:cNvSpPr/>
          <p:nvPr/>
        </p:nvSpPr>
        <p:spPr>
          <a:xfrm>
            <a:off x="1047119" y="2702989"/>
            <a:ext cx="4848378" cy="540887"/>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3E4A56"/>
                </a:solidFill>
                <a:latin typeface="IBM Plex Sans" pitchFamily="34" charset="0"/>
                <a:ea typeface="IBM Plex Sans" pitchFamily="34" charset="-122"/>
                <a:cs typeface="IBM Plex Sans" pitchFamily="34" charset="-120"/>
              </a:rPr>
              <a:t>How close is t to each knot? Known from t and the knot grid before fitting. Never learned.</a:t>
            </a:r>
            <a:endParaRPr lang="en-US" sz="1400" dirty="0"/>
          </a:p>
        </p:txBody>
      </p:sp>
      <p:sp>
        <p:nvSpPr>
          <p:cNvPr id="8" name="Shape 6"/>
          <p:cNvSpPr/>
          <p:nvPr/>
        </p:nvSpPr>
        <p:spPr>
          <a:xfrm>
            <a:off x="6198141" y="1835041"/>
            <a:ext cx="5174727" cy="1622966"/>
          </a:xfrm>
          <a:prstGeom prst="roundRect">
            <a:avLst>
              <a:gd name="adj" fmla="val 5869"/>
            </a:avLst>
          </a:prstGeom>
          <a:solidFill>
            <a:srgbClr val="FDFCF9"/>
          </a:solidFill>
          <a:ln w="12700">
            <a:solidFill>
              <a:srgbClr val="2F6FBF"/>
            </a:solidFill>
            <a:prstDash val="solid"/>
          </a:ln>
        </p:spPr>
      </p:sp>
      <p:sp>
        <p:nvSpPr>
          <p:cNvPr id="9" name="Text 7"/>
          <p:cNvSpPr/>
          <p:nvPr/>
        </p:nvSpPr>
        <p:spPr>
          <a:xfrm>
            <a:off x="6431900" y="2068801"/>
            <a:ext cx="4848424"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2F6FBF"/>
                </a:solidFill>
                <a:latin typeface="IBM Plex Sans" pitchFamily="34" charset="0"/>
                <a:ea typeface="IBM Plex Sans" pitchFamily="34" charset="-122"/>
                <a:cs typeface="IBM Plex Sans" pitchFamily="34" charset="-120"/>
              </a:rPr>
              <a:t>LEARNED · DATA</a:t>
            </a:r>
            <a:endParaRPr lang="en-US" sz="1200" dirty="0"/>
          </a:p>
        </p:txBody>
      </p:sp>
      <p:sp>
        <p:nvSpPr>
          <p:cNvPr id="10" name="Text 8"/>
          <p:cNvSpPr/>
          <p:nvPr/>
        </p:nvSpPr>
        <p:spPr>
          <a:xfrm>
            <a:off x="6431900" y="2358293"/>
            <a:ext cx="4848424" cy="299695"/>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B2A3A"/>
                </a:solidFill>
                <a:latin typeface="IBM Plex Sans" pitchFamily="34" charset="0"/>
                <a:ea typeface="IBM Plex Sans" pitchFamily="34" charset="-122"/>
                <a:cs typeface="IBM Plex Sans" pitchFamily="34" charset="-120"/>
              </a:rPr>
              <a:t>Knot values Lθₖ</a:t>
            </a:r>
            <a:endParaRPr lang="en-US" sz="1800" dirty="0"/>
          </a:p>
        </p:txBody>
      </p:sp>
      <p:sp>
        <p:nvSpPr>
          <p:cNvPr id="11" name="Text 9"/>
          <p:cNvSpPr/>
          <p:nvPr/>
        </p:nvSpPr>
        <p:spPr>
          <a:xfrm>
            <a:off x="6431900" y="2708762"/>
            <a:ext cx="4848424" cy="540887"/>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3E4A56"/>
                </a:solidFill>
                <a:latin typeface="IBM Plex Sans" pitchFamily="34" charset="0"/>
                <a:ea typeface="IBM Plex Sans" pitchFamily="34" charset="-122"/>
                <a:cs typeface="IBM Plex Sans" pitchFamily="34" charset="-120"/>
              </a:rPr>
              <a:t>How much has batch k drifted at each knot? These are what the solver fits, one set per batch.</a:t>
            </a:r>
            <a:endParaRPr lang="en-US" sz="1400" dirty="0"/>
          </a:p>
        </p:txBody>
      </p:sp>
      <p:sp>
        <p:nvSpPr>
          <p:cNvPr id="12" name="Text 10"/>
          <p:cNvSpPr/>
          <p:nvPr/>
        </p:nvSpPr>
        <p:spPr>
          <a:xfrm>
            <a:off x="815957" y="3721531"/>
            <a:ext cx="3236074" cy="492810"/>
          </a:xfrm>
          <a:prstGeom prst="roundRect">
            <a:avLst>
              <a:gd name="adj" fmla="val 14818"/>
            </a:avLst>
          </a:prstGeom>
          <a:solidFill>
            <a:srgbClr val="FDFCF9"/>
          </a:solidFill>
          <a:ln w="6350">
            <a:solidFill>
              <a:srgbClr val="D3DAE0"/>
            </a:solidFill>
            <a:prstDash val="solid"/>
          </a:ln>
        </p:spPr>
        <p:txBody>
          <a:bodyPr wrap="none" lIns="0" tIns="0" rIns="0" bIns="0" rtlCol="0" anchor="ctr">
            <a:normAutofit/>
          </a:bodyPr>
          <a:lstStyle/>
          <a:p>
            <a:pPr algn="ctr" indent="0" marL="0">
              <a:lnSpc>
                <a:spcPts val="2240"/>
              </a:lnSpc>
              <a:buNone/>
            </a:pPr>
            <a:r>
              <a:rPr lang="en-US" sz="1600" dirty="0">
                <a:solidFill>
                  <a:srgbClr val="1B2A3A"/>
                </a:solidFill>
                <a:latin typeface="JetBrains Mono" pitchFamily="49" charset="0"/>
                <a:ea typeface="JetBrains Mono" pitchFamily="49" charset="-122"/>
                <a:cs typeface="JetBrains Mono" pitchFamily="49" charset="-120"/>
              </a:rPr>
              <a:t>B(22) = (0, 0, 0.8, 0.2)</a:t>
            </a:r>
            <a:endParaRPr lang="en-US" sz="1600" dirty="0"/>
          </a:p>
        </p:txBody>
      </p:sp>
      <p:sp>
        <p:nvSpPr>
          <p:cNvPr id="13" name="Text 11"/>
          <p:cNvSpPr/>
          <p:nvPr/>
        </p:nvSpPr>
        <p:spPr>
          <a:xfrm>
            <a:off x="4182206" y="3825692"/>
            <a:ext cx="172749" cy="309887"/>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B2A3A"/>
                </a:solidFill>
                <a:latin typeface="JetBrains Mono" pitchFamily="49" charset="0"/>
                <a:ea typeface="JetBrains Mono" pitchFamily="49" charset="-122"/>
                <a:cs typeface="JetBrains Mono" pitchFamily="49" charset="-120"/>
              </a:rPr>
              <a:t>·</a:t>
            </a:r>
            <a:endParaRPr lang="en-US" sz="1600" dirty="0"/>
          </a:p>
        </p:txBody>
      </p:sp>
      <p:sp>
        <p:nvSpPr>
          <p:cNvPr id="14" name="Text 12"/>
          <p:cNvSpPr/>
          <p:nvPr/>
        </p:nvSpPr>
        <p:spPr>
          <a:xfrm>
            <a:off x="4431154" y="3724129"/>
            <a:ext cx="2445697" cy="487615"/>
          </a:xfrm>
          <a:prstGeom prst="roundRect">
            <a:avLst>
              <a:gd name="adj" fmla="val 15627"/>
            </a:avLst>
          </a:prstGeom>
          <a:solidFill>
            <a:srgbClr val="2F6FBF"/>
          </a:solidFill>
          <a:ln/>
        </p:spPr>
        <p:txBody>
          <a:bodyPr wrap="none" lIns="0" tIns="0" rIns="0" bIns="0" rtlCol="0" anchor="ctr">
            <a:normAutofit/>
          </a:bodyPr>
          <a:lstStyle/>
          <a:p>
            <a:pPr algn="ctr" indent="0" marL="0">
              <a:lnSpc>
                <a:spcPts val="2240"/>
              </a:lnSpc>
              <a:buNone/>
            </a:pPr>
            <a:r>
              <a:rPr lang="en-US" sz="1600" dirty="0">
                <a:solidFill>
                  <a:srgbClr val="F7F5F0"/>
                </a:solidFill>
                <a:latin typeface="JetBrains Mono" pitchFamily="49" charset="0"/>
                <a:ea typeface="JetBrains Mono" pitchFamily="49" charset="-122"/>
                <a:cs typeface="JetBrains Mono" pitchFamily="49" charset="-120"/>
              </a:rPr>
              <a:t>Lθₖ = (0, 2, 1, 3)</a:t>
            </a:r>
            <a:endParaRPr lang="en-US" sz="1600" dirty="0"/>
          </a:p>
        </p:txBody>
      </p:sp>
      <p:sp>
        <p:nvSpPr>
          <p:cNvPr id="15" name="Text 13"/>
          <p:cNvSpPr/>
          <p:nvPr/>
        </p:nvSpPr>
        <p:spPr>
          <a:xfrm>
            <a:off x="7003852" y="3825692"/>
            <a:ext cx="4324783" cy="309887"/>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B2A3A"/>
                </a:solidFill>
                <a:latin typeface="JetBrains Mono" pitchFamily="49" charset="0"/>
                <a:ea typeface="JetBrains Mono" pitchFamily="49" charset="-122"/>
                <a:cs typeface="JetBrains Mono" pitchFamily="49" charset="-120"/>
              </a:rPr>
              <a:t>= 0.8·1 + 0.2·3 = 1.4 = dₖ(22)</a:t>
            </a:r>
            <a:endParaRPr lang="en-US" sz="1600" dirty="0"/>
          </a:p>
        </p:txBody>
      </p:sp>
      <p:sp>
        <p:nvSpPr>
          <p:cNvPr id="16" name="Text 14"/>
          <p:cNvSpPr/>
          <p:nvPr/>
        </p:nvSpPr>
        <p:spPr>
          <a:xfrm>
            <a:off x="812782" y="4471516"/>
            <a:ext cx="10883429" cy="614669"/>
          </a:xfrm>
          <a:prstGeom prst="rect">
            <a:avLst/>
          </a:prstGeom>
          <a:noFill/>
          <a:ln/>
        </p:spPr>
        <p:txBody>
          <a:bodyPr wrap="square" lIns="0" tIns="0" rIns="0" bIns="0" rtlCol="0" anchor="t">
            <a:normAutofit/>
          </a:bodyPr>
          <a:lstStyle/>
          <a:p>
            <a:pPr algn="l" indent="0" marL="0">
              <a:lnSpc>
                <a:spcPts val="2320"/>
              </a:lnSpc>
              <a:buNone/>
            </a:pPr>
            <a:r>
              <a:rPr lang="en-US" sz="1600" dirty="0">
                <a:solidFill>
                  <a:srgbClr val="1B2A3A"/>
                </a:solidFill>
                <a:latin typeface="IBM Plex Sans" pitchFamily="34" charset="0"/>
                <a:ea typeface="IBM Plex Sans" pitchFamily="34" charset="-122"/>
                <a:cs typeface="IBM Plex Sans" pitchFamily="34" charset="-120"/>
              </a:rPr>
              <a:t>The dot product is the drift at t, and the warp adds t back: </a:t>
            </a:r>
            <a:r>
              <a:rPr lang="en-US" sz="1600" b="1" dirty="0">
                <a:solidFill>
                  <a:srgbClr val="1B2A3A"/>
                </a:solidFill>
                <a:latin typeface="IBM Plex Sans" pitchFamily="34" charset="0"/>
                <a:ea typeface="IBM Plex Sans" pitchFamily="34" charset="-122"/>
                <a:cs typeface="IBM Plex Sans" pitchFamily="34" charset="-120"/>
              </a:rPr>
              <a:t>fₖ(t) = t + B(t) L θₖ</a:t>
            </a:r>
            <a:r>
              <a:rPr lang="en-US" sz="1600" dirty="0">
                <a:solidFill>
                  <a:srgbClr val="1B2A3A"/>
                </a:solidFill>
                <a:latin typeface="IBM Plex Sans" pitchFamily="34" charset="0"/>
                <a:ea typeface="IBM Plex Sans" pitchFamily="34" charset="-122"/>
                <a:cs typeface="IBM Plex Sans" pitchFamily="34" charset="-120"/>
              </a:rPr>
              <a:t>. The knot values say </a:t>
            </a:r>
            <a:r>
              <a:rPr lang="en-US" sz="1600" i="1" dirty="0">
                <a:solidFill>
                  <a:srgbClr val="1B2A3A"/>
                </a:solidFill>
                <a:latin typeface="IBM Plex Sans" pitchFamily="34" charset="0"/>
                <a:ea typeface="IBM Plex Sans" pitchFamily="34" charset="-122"/>
                <a:cs typeface="IBM Plex Sans" pitchFamily="34" charset="-120"/>
              </a:rPr>
              <a:t>what</a:t>
            </a:r>
            <a:r>
              <a:rPr lang="en-US" sz="1600" dirty="0">
                <a:solidFill>
                  <a:srgbClr val="1B2A3A"/>
                </a:solidFill>
                <a:latin typeface="IBM Plex Sans" pitchFamily="34" charset="0"/>
                <a:ea typeface="IBM Plex Sans" pitchFamily="34" charset="-122"/>
                <a:cs typeface="IBM Plex Sans" pitchFamily="34" charset="-120"/>
              </a:rPr>
              <a:t> the drift is; the weights say </a:t>
            </a:r>
            <a:r>
              <a:rPr lang="en-US" sz="1600" i="1" dirty="0">
                <a:solidFill>
                  <a:srgbClr val="1B2A3A"/>
                </a:solidFill>
                <a:latin typeface="IBM Plex Sans" pitchFamily="34" charset="0"/>
                <a:ea typeface="IBM Plex Sans" pitchFamily="34" charset="-122"/>
                <a:cs typeface="IBM Plex Sans" pitchFamily="34" charset="-120"/>
              </a:rPr>
              <a:t>how</a:t>
            </a:r>
            <a:r>
              <a:rPr lang="en-US" sz="1600" dirty="0">
                <a:solidFill>
                  <a:srgbClr val="1B2A3A"/>
                </a:solidFill>
                <a:latin typeface="IBM Plex Sans" pitchFamily="34" charset="0"/>
                <a:ea typeface="IBM Plex Sans" pitchFamily="34" charset="-122"/>
                <a:cs typeface="IBM Plex Sans" pitchFamily="34" charset="-120"/>
              </a:rPr>
              <a:t> to read it between knots.</a:t>
            </a:r>
            <a:endParaRPr lang="en-US" sz="1600" dirty="0"/>
          </a:p>
        </p:txBody>
      </p:sp>
      <p:sp>
        <p:nvSpPr>
          <p:cNvPr id="17" name="Text 15"/>
          <p:cNvSpPr/>
          <p:nvPr/>
        </p:nvSpPr>
        <p:spPr>
          <a:xfrm>
            <a:off x="812782" y="6238286"/>
            <a:ext cx="1088338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682"/>
                </a:solidFill>
                <a:latin typeface="IBM Plex Sans" pitchFamily="34" charset="0"/>
                <a:ea typeface="IBM Plex Sans" pitchFamily="34" charset="-122"/>
                <a:cs typeface="IBM Plex Sans" pitchFamily="34" charset="-120"/>
              </a:rPr>
              <a:t>You asked: is the warp stored in the weights, the parameters, or the product of both? The product. And yes, B(t) is the row of basis weights.</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ECF0F3"/>
        </a:solidFill>
      </p:bgPr>
    </p:bg>
    <p:spTree>
      <p:nvGrpSpPr>
        <p:cNvPr id="1" name=""/>
        <p:cNvGrpSpPr/>
        <p:nvPr/>
      </p:nvGrpSpPr>
      <p:grpSpPr>
        <a:xfrm>
          <a:off x="0" y="0"/>
          <a:ext cx="0" cy="0"/>
          <a:chOff x="0" y="0"/>
          <a:chExt cx="0" cy="0"/>
        </a:xfrm>
      </p:grpSpPr>
      <p:sp>
        <p:nvSpPr>
          <p:cNvPr id="2" name="Text 0"/>
          <p:cNvSpPr/>
          <p:nvPr/>
        </p:nvSpPr>
        <p:spPr>
          <a:xfrm>
            <a:off x="812782" y="812784"/>
            <a:ext cx="10883429"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2F6FBF"/>
                </a:solidFill>
                <a:latin typeface="IBM Plex Sans" pitchFamily="34" charset="0"/>
                <a:ea typeface="IBM Plex Sans" pitchFamily="34" charset="-122"/>
                <a:cs typeface="IBM Plex Sans" pitchFamily="34" charset="-120"/>
              </a:rPr>
              <a:t>Q4 · MATHS, CONTINUED</a:t>
            </a:r>
            <a:endParaRPr lang="en-US" sz="1200" dirty="0"/>
          </a:p>
        </p:txBody>
      </p:sp>
      <p:sp>
        <p:nvSpPr>
          <p:cNvPr id="3" name="Text 1"/>
          <p:cNvSpPr/>
          <p:nvPr>
            <p:ph type="title"/>
          </p:nvPr>
        </p:nvSpPr>
        <p:spPr>
          <a:xfrm>
            <a:off x="812782" y="1127668"/>
            <a:ext cx="10883429" cy="472426"/>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B2A3A"/>
                </a:solidFill>
                <a:latin typeface="Source Serif 4" pitchFamily="18" charset="0"/>
                <a:ea typeface="Source Serif 4" pitchFamily="18" charset="-122"/>
                <a:cs typeface="Source Serif 4" pitchFamily="18" charset="-120"/>
              </a:rPr>
              <a:t>One anchor becomes one row of a big matrix</a:t>
            </a:r>
            <a:endParaRPr lang="en-US" sz="3200" dirty="0"/>
          </a:p>
        </p:txBody>
      </p:sp>
      <p:sp>
        <p:nvSpPr>
          <p:cNvPr id="4" name="Text 2"/>
          <p:cNvSpPr/>
          <p:nvPr/>
        </p:nvSpPr>
        <p:spPr>
          <a:xfrm>
            <a:off x="815957" y="1831870"/>
            <a:ext cx="10560086" cy="1325887"/>
          </a:xfrm>
          <a:prstGeom prst="roundRect">
            <a:avLst>
              <a:gd name="adj" fmla="val 7423"/>
            </a:avLst>
          </a:prstGeom>
          <a:solidFill>
            <a:srgbClr val="FDFCF9"/>
          </a:solidFill>
          <a:ln w="6350">
            <a:solidFill>
              <a:srgbClr val="D3DAE0"/>
            </a:solidFill>
            <a:prstDash val="solid"/>
          </a:ln>
        </p:spPr>
        <p:txBody>
          <a:bodyPr wrap="square" lIns="176943" tIns="176970" rIns="0" bIns="151516" rtlCol="0" anchor="t">
            <a:normAutofit/>
          </a:bodyPr>
          <a:lstStyle/>
          <a:p>
            <a:pPr algn="l" indent="0" marL="0">
              <a:lnSpc>
                <a:spcPts val="2400"/>
              </a:lnSpc>
              <a:buNone/>
            </a:pPr>
            <a:r>
              <a:rPr lang="en-US" sz="1500" dirty="0">
                <a:solidFill>
                  <a:srgbClr val="1B2A3A"/>
                </a:solidFill>
                <a:latin typeface="JetBrains Mono" pitchFamily="49" charset="0"/>
                <a:ea typeface="JetBrains Mono" pitchFamily="49" charset="-122"/>
                <a:cs typeface="JetBrains Mono" pitchFamily="49" charset="-120"/>
              </a:rPr>
              <a:t>fₖ(a) = a + B(a) L θₖ</a:t>
            </a:r>
            <a:endParaRPr lang="en-US" sz="1500" dirty="0"/>
          </a:p>
          <a:p>
            <a:pPr algn="l" indent="0" marL="0">
              <a:lnSpc>
                <a:spcPts val="2400"/>
              </a:lnSpc>
              <a:buNone/>
            </a:pPr>
            <a:r>
              <a:rPr lang="en-US" sz="1500" dirty="0">
                <a:solidFill>
                  <a:srgbClr val="1B2A3A"/>
                </a:solidFill>
                <a:latin typeface="JetBrains Mono" pitchFamily="49" charset="0"/>
                <a:ea typeface="JetBrains Mono" pitchFamily="49" charset="-122"/>
                <a:cs typeface="JetBrains Mono" pitchFamily="49" charset="-120"/>
              </a:rPr>
              <a:t>fₗ(b) = b + B(b) L θₗ</a:t>
            </a:r>
            <a:endParaRPr lang="en-US" sz="1500" dirty="0"/>
          </a:p>
          <a:p>
            <a:pPr algn="l" indent="0" marL="0">
              <a:lnSpc>
                <a:spcPts val="2400"/>
              </a:lnSpc>
              <a:buNone/>
            </a:pPr>
            <a:r>
              <a:rPr lang="en-US" sz="1500" dirty="0">
                <a:solidFill>
                  <a:srgbClr val="1B2A3A"/>
                </a:solidFill>
                <a:latin typeface="JetBrains Mono" pitchFamily="49" charset="0"/>
                <a:ea typeface="JetBrains Mono" pitchFamily="49" charset="-122"/>
                <a:cs typeface="JetBrains Mono" pitchFamily="49" charset="-120"/>
              </a:rPr>
              <a:t>r = fₖ(a) − fₗ(b) = </a:t>
            </a:r>
            <a:r>
              <a:rPr lang="en-US" sz="1500" dirty="0">
                <a:solidFill>
                  <a:srgbClr val="A9520F"/>
                </a:solidFill>
                <a:latin typeface="JetBrains Mono" pitchFamily="49" charset="0"/>
                <a:ea typeface="JetBrains Mono" pitchFamily="49" charset="-122"/>
                <a:cs typeface="JetBrains Mono" pitchFamily="49" charset="-120"/>
              </a:rPr>
              <a:t>(a − b)</a:t>
            </a:r>
            <a:r>
              <a:rPr lang="en-US" sz="1500" dirty="0">
                <a:solidFill>
                  <a:srgbClr val="1B2A3A"/>
                </a:solidFill>
                <a:latin typeface="JetBrains Mono" pitchFamily="49" charset="0"/>
                <a:ea typeface="JetBrains Mono" pitchFamily="49" charset="-122"/>
                <a:cs typeface="JetBrains Mono" pitchFamily="49" charset="-120"/>
              </a:rPr>
              <a:t> + </a:t>
            </a:r>
            <a:r>
              <a:rPr lang="en-US" sz="1500" dirty="0">
                <a:solidFill>
                  <a:srgbClr val="2F6FBF"/>
                </a:solidFill>
                <a:latin typeface="JetBrains Mono" pitchFamily="49" charset="0"/>
                <a:ea typeface="JetBrains Mono" pitchFamily="49" charset="-122"/>
                <a:cs typeface="JetBrains Mono" pitchFamily="49" charset="-120"/>
              </a:rPr>
              <a:t>B(a) L θₖ − B(b) L θₗ</a:t>
            </a:r>
            <a:endParaRPr lang="en-US" sz="1500" dirty="0"/>
          </a:p>
        </p:txBody>
      </p:sp>
      <p:sp>
        <p:nvSpPr>
          <p:cNvPr id="5" name="Text 3"/>
          <p:cNvSpPr/>
          <p:nvPr/>
        </p:nvSpPr>
        <p:spPr>
          <a:xfrm>
            <a:off x="812782" y="3414930"/>
            <a:ext cx="10883429" cy="256535"/>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6A7682"/>
                </a:solidFill>
                <a:latin typeface="IBM Plex Sans" pitchFamily="34" charset="0"/>
                <a:ea typeface="IBM Plex Sans" pitchFamily="34" charset="-122"/>
                <a:cs typeface="IBM Plex Sans" pitchFamily="34" charset="-120"/>
              </a:rPr>
              <a:t>The row for this anchor, across all five batches’ parameters (41 columns each):</a:t>
            </a:r>
            <a:endParaRPr lang="en-US" sz="1300" dirty="0"/>
          </a:p>
        </p:txBody>
      </p:sp>
      <p:sp>
        <p:nvSpPr>
          <p:cNvPr id="6" name="Text 4"/>
          <p:cNvSpPr/>
          <p:nvPr/>
        </p:nvSpPr>
        <p:spPr>
          <a:xfrm>
            <a:off x="812782" y="3722238"/>
            <a:ext cx="2072635" cy="459698"/>
          </a:xfrm>
          <a:custGeom>
            <a:avLst/>
            <a:gdLst/>
            <a:ahLst/>
            <a:cxnLst/>
            <a:rect l="l" t="t" r="r" b="b"/>
            <a:pathLst>
              <a:path w="2072635" h="459698">
                <a:moveTo>
                  <a:pt x="50800" y="0"/>
                </a:moveTo>
                <a:lnTo>
                  <a:pt x="2021835" y="0"/>
                </a:lnTo>
                <a:arcTo hR="50800" wR="50800" stAng="16200000" swAng="5400000"/>
                <a:lnTo>
                  <a:pt x="2072635" y="408898"/>
                </a:lnTo>
                <a:arcTo hR="50800" wR="50800" stAng="0" swAng="5400000"/>
                <a:lnTo>
                  <a:pt x="50800" y="459698"/>
                </a:lnTo>
                <a:arcTo hR="50800" wR="50800" stAng="5400000" swAng="5400000"/>
                <a:lnTo>
                  <a:pt x="0" y="50800"/>
                </a:lnTo>
                <a:arcTo hR="50800" wR="50800" stAng="10800000" swAng="5400000"/>
                <a:close/>
              </a:path>
            </a:pathLst>
          </a:custGeom>
          <a:solidFill>
            <a:srgbClr val="DDE3E8"/>
          </a:solidFill>
          <a:ln/>
        </p:spPr>
        <p:txBody>
          <a:bodyPr wrap="square" lIns="21234" tIns="114300" rIns="21234" bIns="88900" rtlCol="0" anchor="t">
            <a:normAutofit/>
          </a:bodyPr>
          <a:lstStyle/>
          <a:p>
            <a:pPr algn="ctr" indent="0" marL="0">
              <a:lnSpc>
                <a:spcPts val="1820"/>
              </a:lnSpc>
              <a:buNone/>
            </a:pPr>
            <a:r>
              <a:rPr lang="en-US" sz="1300" dirty="0">
                <a:solidFill>
                  <a:srgbClr val="6A7682"/>
                </a:solidFill>
                <a:latin typeface="JetBrains Mono" pitchFamily="49" charset="0"/>
                <a:ea typeface="JetBrains Mono" pitchFamily="49" charset="-122"/>
                <a:cs typeface="JetBrains Mono" pitchFamily="49" charset="-120"/>
              </a:rPr>
              <a:t>0 … 0</a:t>
            </a:r>
            <a:endParaRPr lang="en-US" sz="1300" dirty="0"/>
          </a:p>
        </p:txBody>
      </p:sp>
      <p:sp>
        <p:nvSpPr>
          <p:cNvPr id="7" name="Text 5"/>
          <p:cNvSpPr/>
          <p:nvPr/>
        </p:nvSpPr>
        <p:spPr>
          <a:xfrm>
            <a:off x="2936198" y="3722238"/>
            <a:ext cx="2072680" cy="459698"/>
          </a:xfrm>
          <a:custGeom>
            <a:avLst/>
            <a:gdLst/>
            <a:ahLst/>
            <a:cxnLst/>
            <a:rect l="l" t="t" r="r" b="b"/>
            <a:pathLst>
              <a:path w="2072680" h="459698">
                <a:moveTo>
                  <a:pt x="50800" y="0"/>
                </a:moveTo>
                <a:lnTo>
                  <a:pt x="2021880" y="0"/>
                </a:lnTo>
                <a:arcTo hR="50800" wR="50800" stAng="16200000" swAng="5400000"/>
                <a:lnTo>
                  <a:pt x="2072680" y="408898"/>
                </a:lnTo>
                <a:arcTo hR="50800" wR="50800" stAng="0" swAng="5400000"/>
                <a:lnTo>
                  <a:pt x="50800" y="459698"/>
                </a:lnTo>
                <a:arcTo hR="50800" wR="50800" stAng="5400000" swAng="5400000"/>
                <a:lnTo>
                  <a:pt x="0" y="50800"/>
                </a:lnTo>
                <a:arcTo hR="50800" wR="50800" stAng="10800000" swAng="5400000"/>
                <a:close/>
              </a:path>
            </a:pathLst>
          </a:custGeom>
          <a:solidFill>
            <a:srgbClr val="2F6FBF"/>
          </a:solidFill>
          <a:ln/>
        </p:spPr>
        <p:txBody>
          <a:bodyPr wrap="square" lIns="21234" tIns="114300" rIns="21234" bIns="88900" rtlCol="0" anchor="t">
            <a:normAutofit/>
          </a:bodyPr>
          <a:lstStyle/>
          <a:p>
            <a:pPr algn="ctr" indent="0" marL="0">
              <a:lnSpc>
                <a:spcPts val="1820"/>
              </a:lnSpc>
              <a:buNone/>
            </a:pPr>
            <a:r>
              <a:rPr lang="en-US" sz="1300" dirty="0">
                <a:solidFill>
                  <a:srgbClr val="F7F5F0"/>
                </a:solidFill>
                <a:latin typeface="JetBrains Mono" pitchFamily="49" charset="0"/>
                <a:ea typeface="JetBrains Mono" pitchFamily="49" charset="-122"/>
                <a:cs typeface="JetBrains Mono" pitchFamily="49" charset="-120"/>
              </a:rPr>
              <a:t>+B(a)L (batch k)</a:t>
            </a:r>
            <a:endParaRPr lang="en-US" sz="1300" dirty="0"/>
          </a:p>
        </p:txBody>
      </p:sp>
      <p:sp>
        <p:nvSpPr>
          <p:cNvPr id="8" name="Text 6"/>
          <p:cNvSpPr/>
          <p:nvPr/>
        </p:nvSpPr>
        <p:spPr>
          <a:xfrm>
            <a:off x="5059660" y="3722238"/>
            <a:ext cx="2072635" cy="459698"/>
          </a:xfrm>
          <a:custGeom>
            <a:avLst/>
            <a:gdLst/>
            <a:ahLst/>
            <a:cxnLst/>
            <a:rect l="l" t="t" r="r" b="b"/>
            <a:pathLst>
              <a:path w="2072635" h="459698">
                <a:moveTo>
                  <a:pt x="50800" y="0"/>
                </a:moveTo>
                <a:lnTo>
                  <a:pt x="2021835" y="0"/>
                </a:lnTo>
                <a:arcTo hR="50800" wR="50800" stAng="16200000" swAng="5400000"/>
                <a:lnTo>
                  <a:pt x="2072635" y="408898"/>
                </a:lnTo>
                <a:arcTo hR="50800" wR="50800" stAng="0" swAng="5400000"/>
                <a:lnTo>
                  <a:pt x="50800" y="459698"/>
                </a:lnTo>
                <a:arcTo hR="50800" wR="50800" stAng="5400000" swAng="5400000"/>
                <a:lnTo>
                  <a:pt x="0" y="50800"/>
                </a:lnTo>
                <a:arcTo hR="50800" wR="50800" stAng="10800000" swAng="5400000"/>
                <a:close/>
              </a:path>
            </a:pathLst>
          </a:custGeom>
          <a:solidFill>
            <a:srgbClr val="DDE3E8"/>
          </a:solidFill>
          <a:ln/>
        </p:spPr>
        <p:txBody>
          <a:bodyPr wrap="square" lIns="21234" tIns="114300" rIns="21234" bIns="88900" rtlCol="0" anchor="t">
            <a:normAutofit/>
          </a:bodyPr>
          <a:lstStyle/>
          <a:p>
            <a:pPr algn="ctr" indent="0" marL="0">
              <a:lnSpc>
                <a:spcPts val="1820"/>
              </a:lnSpc>
              <a:buNone/>
            </a:pPr>
            <a:r>
              <a:rPr lang="en-US" sz="1300" dirty="0">
                <a:solidFill>
                  <a:srgbClr val="6A7682"/>
                </a:solidFill>
                <a:latin typeface="JetBrains Mono" pitchFamily="49" charset="0"/>
                <a:ea typeface="JetBrains Mono" pitchFamily="49" charset="-122"/>
                <a:cs typeface="JetBrains Mono" pitchFamily="49" charset="-120"/>
              </a:rPr>
              <a:t>0 … 0</a:t>
            </a:r>
            <a:endParaRPr lang="en-US" sz="1300" dirty="0"/>
          </a:p>
        </p:txBody>
      </p:sp>
      <p:sp>
        <p:nvSpPr>
          <p:cNvPr id="9" name="Text 7"/>
          <p:cNvSpPr/>
          <p:nvPr/>
        </p:nvSpPr>
        <p:spPr>
          <a:xfrm>
            <a:off x="7183076" y="3722238"/>
            <a:ext cx="2072680" cy="459698"/>
          </a:xfrm>
          <a:custGeom>
            <a:avLst/>
            <a:gdLst/>
            <a:ahLst/>
            <a:cxnLst/>
            <a:rect l="l" t="t" r="r" b="b"/>
            <a:pathLst>
              <a:path w="2072680" h="459698">
                <a:moveTo>
                  <a:pt x="50800" y="0"/>
                </a:moveTo>
                <a:lnTo>
                  <a:pt x="2021880" y="0"/>
                </a:lnTo>
                <a:arcTo hR="50800" wR="50800" stAng="16200000" swAng="5400000"/>
                <a:lnTo>
                  <a:pt x="2072680" y="408898"/>
                </a:lnTo>
                <a:arcTo hR="50800" wR="50800" stAng="0" swAng="5400000"/>
                <a:lnTo>
                  <a:pt x="50800" y="459698"/>
                </a:lnTo>
                <a:arcTo hR="50800" wR="50800" stAng="5400000" swAng="5400000"/>
                <a:lnTo>
                  <a:pt x="0" y="50800"/>
                </a:lnTo>
                <a:arcTo hR="50800" wR="50800" stAng="10800000" swAng="5400000"/>
                <a:close/>
              </a:path>
            </a:pathLst>
          </a:custGeom>
          <a:solidFill>
            <a:srgbClr val="F0B184"/>
          </a:solidFill>
          <a:ln/>
        </p:spPr>
        <p:txBody>
          <a:bodyPr wrap="square" lIns="21234" tIns="114300" rIns="21234" bIns="88900" rtlCol="0" anchor="t">
            <a:normAutofit/>
          </a:bodyPr>
          <a:lstStyle/>
          <a:p>
            <a:pPr algn="ctr" indent="0" marL="0">
              <a:lnSpc>
                <a:spcPts val="1820"/>
              </a:lnSpc>
              <a:buNone/>
            </a:pPr>
            <a:r>
              <a:rPr lang="en-US" sz="1300" dirty="0">
                <a:solidFill>
                  <a:srgbClr val="1B2A3A"/>
                </a:solidFill>
                <a:latin typeface="JetBrains Mono" pitchFamily="49" charset="0"/>
                <a:ea typeface="JetBrains Mono" pitchFamily="49" charset="-122"/>
                <a:cs typeface="JetBrains Mono" pitchFamily="49" charset="-120"/>
              </a:rPr>
              <a:t>−B(b)L (batch l)</a:t>
            </a:r>
            <a:endParaRPr lang="en-US" sz="1300" dirty="0"/>
          </a:p>
        </p:txBody>
      </p:sp>
      <p:sp>
        <p:nvSpPr>
          <p:cNvPr id="10" name="Text 8"/>
          <p:cNvSpPr/>
          <p:nvPr/>
        </p:nvSpPr>
        <p:spPr>
          <a:xfrm>
            <a:off x="9306538" y="3722238"/>
            <a:ext cx="2072680" cy="459698"/>
          </a:xfrm>
          <a:custGeom>
            <a:avLst/>
            <a:gdLst/>
            <a:ahLst/>
            <a:cxnLst/>
            <a:rect l="l" t="t" r="r" b="b"/>
            <a:pathLst>
              <a:path w="2072680" h="459698">
                <a:moveTo>
                  <a:pt x="50800" y="0"/>
                </a:moveTo>
                <a:lnTo>
                  <a:pt x="2021880" y="0"/>
                </a:lnTo>
                <a:arcTo hR="50800" wR="50800" stAng="16200000" swAng="5400000"/>
                <a:lnTo>
                  <a:pt x="2072680" y="408898"/>
                </a:lnTo>
                <a:arcTo hR="50800" wR="50800" stAng="0" swAng="5400000"/>
                <a:lnTo>
                  <a:pt x="50800" y="459698"/>
                </a:lnTo>
                <a:arcTo hR="50800" wR="50800" stAng="5400000" swAng="5400000"/>
                <a:lnTo>
                  <a:pt x="0" y="50800"/>
                </a:lnTo>
                <a:arcTo hR="50800" wR="50800" stAng="10800000" swAng="5400000"/>
                <a:close/>
              </a:path>
            </a:pathLst>
          </a:custGeom>
          <a:solidFill>
            <a:srgbClr val="DDE3E8"/>
          </a:solidFill>
          <a:ln/>
        </p:spPr>
        <p:txBody>
          <a:bodyPr wrap="square" lIns="21234" tIns="114300" rIns="21234" bIns="88900" rtlCol="0" anchor="t">
            <a:normAutofit/>
          </a:bodyPr>
          <a:lstStyle/>
          <a:p>
            <a:pPr algn="ctr" indent="0" marL="0">
              <a:lnSpc>
                <a:spcPts val="1820"/>
              </a:lnSpc>
              <a:buNone/>
            </a:pPr>
            <a:r>
              <a:rPr lang="en-US" sz="1300" dirty="0">
                <a:solidFill>
                  <a:srgbClr val="6A7682"/>
                </a:solidFill>
                <a:latin typeface="JetBrains Mono" pitchFamily="49" charset="0"/>
                <a:ea typeface="JetBrains Mono" pitchFamily="49" charset="-122"/>
                <a:cs typeface="JetBrains Mono" pitchFamily="49" charset="-120"/>
              </a:rPr>
              <a:t>0 … 0</a:t>
            </a:r>
            <a:endParaRPr lang="en-US" sz="1300" dirty="0"/>
          </a:p>
        </p:txBody>
      </p:sp>
      <p:sp>
        <p:nvSpPr>
          <p:cNvPr id="11" name="Text 9"/>
          <p:cNvSpPr/>
          <p:nvPr/>
        </p:nvSpPr>
        <p:spPr>
          <a:xfrm>
            <a:off x="812782" y="4435937"/>
            <a:ext cx="10883429" cy="577778"/>
          </a:xfrm>
          <a:prstGeom prst="rect">
            <a:avLst/>
          </a:prstGeom>
          <a:noFill/>
          <a:ln/>
        </p:spPr>
        <p:txBody>
          <a:bodyPr wrap="square" lIns="0" tIns="0" rIns="0" bIns="0" rtlCol="0" anchor="t">
            <a:normAutofit/>
          </a:bodyPr>
          <a:lstStyle/>
          <a:p>
            <a:pPr algn="l" indent="0" marL="0">
              <a:lnSpc>
                <a:spcPts val="2175"/>
              </a:lnSpc>
              <a:buNone/>
            </a:pPr>
            <a:r>
              <a:rPr lang="en-US" sz="1500" dirty="0">
                <a:solidFill>
                  <a:srgbClr val="3E4A56"/>
                </a:solidFill>
                <a:latin typeface="IBM Plex Sans" pitchFamily="34" charset="0"/>
                <a:ea typeface="IBM Plex Sans" pitchFamily="34" charset="-122"/>
                <a:cs typeface="IBM Plex Sans" pitchFamily="34" charset="-120"/>
              </a:rPr>
              <a:t>With target </a:t>
            </a:r>
            <a:r>
              <a:rPr lang="en-US" sz="1500" b="1" dirty="0">
                <a:solidFill>
                  <a:srgbClr val="3E4A56"/>
                </a:solidFill>
                <a:latin typeface="IBM Plex Sans" pitchFamily="34" charset="0"/>
                <a:ea typeface="IBM Plex Sans" pitchFamily="34" charset="-122"/>
                <a:cs typeface="IBM Plex Sans" pitchFamily="34" charset="-120"/>
              </a:rPr>
              <a:t>y = b − a</a:t>
            </a:r>
            <a:r>
              <a:rPr lang="en-US" sz="1500" dirty="0">
                <a:solidFill>
                  <a:srgbClr val="3E4A56"/>
                </a:solidFill>
                <a:latin typeface="IBM Plex Sans" pitchFamily="34" charset="0"/>
                <a:ea typeface="IBM Plex Sans" pitchFamily="34" charset="-122"/>
                <a:cs typeface="IBM Plex Sans" pitchFamily="34" charset="-120"/>
              </a:rPr>
              <a:t>, each miss is </a:t>
            </a:r>
            <a:r>
              <a:rPr lang="en-US" sz="1500" b="1" dirty="0">
                <a:solidFill>
                  <a:srgbClr val="3E4A56"/>
                </a:solidFill>
                <a:latin typeface="IBM Plex Sans" pitchFamily="34" charset="0"/>
                <a:ea typeface="IBM Plex Sans" pitchFamily="34" charset="-122"/>
                <a:cs typeface="IBM Plex Sans" pitchFamily="34" charset="-120"/>
              </a:rPr>
              <a:t>r = (row · θ) − y</a:t>
            </a:r>
            <a:r>
              <a:rPr lang="en-US" sz="1500" dirty="0">
                <a:solidFill>
                  <a:srgbClr val="3E4A56"/>
                </a:solidFill>
                <a:latin typeface="IBM Plex Sans" pitchFamily="34" charset="0"/>
                <a:ea typeface="IBM Plex Sans" pitchFamily="34" charset="-122"/>
                <a:cs typeface="IBM Plex Sans" pitchFamily="34" charset="-120"/>
              </a:rPr>
              <a:t>. The orange term is a known number and the blue term is linear in θ, so stacking every anchor gives </a:t>
            </a:r>
            <a:r>
              <a:rPr lang="en-US" sz="1500" b="1" dirty="0">
                <a:solidFill>
                  <a:srgbClr val="3E4A56"/>
                </a:solidFill>
                <a:latin typeface="IBM Plex Sans" pitchFamily="34" charset="0"/>
                <a:ea typeface="IBM Plex Sans" pitchFamily="34" charset="-122"/>
                <a:cs typeface="IBM Plex Sans" pitchFamily="34" charset="-120"/>
              </a:rPr>
              <a:t>r = Aθ − y</a:t>
            </a:r>
            <a:r>
              <a:rPr lang="en-US" sz="1500" dirty="0">
                <a:solidFill>
                  <a:srgbClr val="3E4A56"/>
                </a:solidFill>
                <a:latin typeface="IBM Plex Sans" pitchFamily="34" charset="0"/>
                <a:ea typeface="IBM Plex Sans" pitchFamily="34" charset="-122"/>
                <a:cs typeface="IBM Plex Sans" pitchFamily="34" charset="-120"/>
              </a:rPr>
              <a:t>: on the fish data, 25,011 rows by 205 columns.</a:t>
            </a:r>
            <a:endParaRPr lang="en-US" sz="1500" dirty="0"/>
          </a:p>
        </p:txBody>
      </p:sp>
      <p:sp>
        <p:nvSpPr>
          <p:cNvPr id="12" name="Text 10"/>
          <p:cNvSpPr/>
          <p:nvPr/>
        </p:nvSpPr>
        <p:spPr>
          <a:xfrm>
            <a:off x="812782" y="6238289"/>
            <a:ext cx="1088338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682"/>
                </a:solidFill>
                <a:latin typeface="IBM Plex Sans" pitchFamily="34" charset="0"/>
                <a:ea typeface="IBM Plex Sans" pitchFamily="34" charset="-122"/>
                <a:cs typeface="IBM Plex Sans" pitchFamily="34" charset="-120"/>
              </a:rPr>
              <a:t>You wrote “a − b + B(a)Lθₖ − B(b)Lθ…”: correct, with θₗ at the end. Paper Eq. (3); code builds A as X with y = tb − ta.</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5F0"/>
        </a:solidFill>
      </p:bgPr>
    </p:bg>
    <p:spTree>
      <p:nvGrpSpPr>
        <p:cNvPr id="1" name=""/>
        <p:cNvGrpSpPr/>
        <p:nvPr/>
      </p:nvGrpSpPr>
      <p:grpSpPr>
        <a:xfrm>
          <a:off x="0" y="0"/>
          <a:ext cx="0" cy="0"/>
          <a:chOff x="0" y="0"/>
          <a:chExt cx="0" cy="0"/>
        </a:xfrm>
      </p:grpSpPr>
      <p:sp>
        <p:nvSpPr>
          <p:cNvPr id="2" name="Text 0"/>
          <p:cNvSpPr/>
          <p:nvPr/>
        </p:nvSpPr>
        <p:spPr>
          <a:xfrm>
            <a:off x="812782" y="812781"/>
            <a:ext cx="10883429"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2F6FBF"/>
                </a:solidFill>
                <a:latin typeface="IBM Plex Sans" pitchFamily="34" charset="0"/>
                <a:ea typeface="IBM Plex Sans" pitchFamily="34" charset="-122"/>
                <a:cs typeface="IBM Plex Sans" pitchFamily="34" charset="-120"/>
              </a:rPr>
              <a:t>Q5 · INTUITION AND MATHS</a:t>
            </a:r>
            <a:endParaRPr lang="en-US" sz="1200" dirty="0"/>
          </a:p>
        </p:txBody>
      </p:sp>
      <p:sp>
        <p:nvSpPr>
          <p:cNvPr id="3" name="Text 1"/>
          <p:cNvSpPr/>
          <p:nvPr>
            <p:ph type="title"/>
          </p:nvPr>
        </p:nvSpPr>
        <p:spPr>
          <a:xfrm>
            <a:off x="812782" y="1127665"/>
            <a:ext cx="10883429" cy="472426"/>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B2A3A"/>
                </a:solidFill>
                <a:latin typeface="Source Serif 4" pitchFamily="18" charset="0"/>
                <a:ea typeface="Source Serif 4" pitchFamily="18" charset="-122"/>
                <a:cs typeface="Source Serif 4" pitchFamily="18" charset="-120"/>
              </a:rPr>
              <a:t>Increments turn the slope rule into a box</a:t>
            </a:r>
            <a:endParaRPr lang="en-US" sz="3200" dirty="0"/>
          </a:p>
        </p:txBody>
      </p:sp>
      <p:sp>
        <p:nvSpPr>
          <p:cNvPr id="4" name="Text 2"/>
          <p:cNvSpPr/>
          <p:nvPr/>
        </p:nvSpPr>
        <p:spPr>
          <a:xfrm>
            <a:off x="812782" y="1803251"/>
            <a:ext cx="5206293" cy="540887"/>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3E4A56"/>
                </a:solidFill>
                <a:latin typeface="IBM Plex Sans" pitchFamily="34" charset="0"/>
                <a:ea typeface="IBM Plex Sans" pitchFamily="34" charset="-122"/>
                <a:cs typeface="IBM Plex Sans" pitchFamily="34" charset="-120"/>
              </a:rPr>
              <a:t>θₖ = (c, δ₁, δ₂, …): the drift at the first knot, then the step to each next knot. L adds the steps up: </a:t>
            </a:r>
            <a:r>
              <a:rPr lang="en-US" sz="1400" b="1" dirty="0">
                <a:solidFill>
                  <a:srgbClr val="3E4A56"/>
                </a:solidFill>
                <a:latin typeface="IBM Plex Sans" pitchFamily="34" charset="0"/>
                <a:ea typeface="IBM Plex Sans" pitchFamily="34" charset="-122"/>
                <a:cs typeface="IBM Plex Sans" pitchFamily="34" charset="-120"/>
              </a:rPr>
              <a:t>Lθₖ</a:t>
            </a:r>
            <a:r>
              <a:rPr lang="en-US" sz="1400" dirty="0">
                <a:solidFill>
                  <a:srgbClr val="3E4A56"/>
                </a:solidFill>
                <a:latin typeface="IBM Plex Sans" pitchFamily="34" charset="0"/>
                <a:ea typeface="IBM Plex Sans" pitchFamily="34" charset="-122"/>
                <a:cs typeface="IBM Plex Sans" pitchFamily="34" charset="-120"/>
              </a:rPr>
              <a:t> = knot values.</a:t>
            </a:r>
            <a:endParaRPr lang="en-US" sz="1400" dirty="0"/>
          </a:p>
        </p:txBody>
      </p:sp>
      <p:sp>
        <p:nvSpPr>
          <p:cNvPr id="5" name="Text 3"/>
          <p:cNvSpPr/>
          <p:nvPr/>
        </p:nvSpPr>
        <p:spPr>
          <a:xfrm>
            <a:off x="812782" y="2445742"/>
            <a:ext cx="5206293" cy="540887"/>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3E4A56"/>
                </a:solidFill>
                <a:latin typeface="IBM Plex Sans" pitchFamily="34" charset="0"/>
                <a:ea typeface="IBM Plex Sans" pitchFamily="34" charset="-122"/>
                <a:cs typeface="IBM Plex Sans" pitchFamily="34" charset="-120"/>
              </a:rPr>
              <a:t>The warp’s slope between knots is 1 + δ/Δu. Keeping it in [0.5, 2]:</a:t>
            </a:r>
            <a:endParaRPr lang="en-US" sz="1400" dirty="0"/>
          </a:p>
        </p:txBody>
      </p:sp>
      <p:sp>
        <p:nvSpPr>
          <p:cNvPr id="6" name="Text 4"/>
          <p:cNvSpPr/>
          <p:nvPr/>
        </p:nvSpPr>
        <p:spPr>
          <a:xfrm>
            <a:off x="815957" y="3091402"/>
            <a:ext cx="5048304" cy="563977"/>
          </a:xfrm>
          <a:prstGeom prst="roundRect">
            <a:avLst>
              <a:gd name="adj" fmla="val 12948"/>
            </a:avLst>
          </a:prstGeom>
          <a:solidFill>
            <a:srgbClr val="FDFCF9"/>
          </a:solidFill>
          <a:ln w="6350">
            <a:solidFill>
              <a:srgbClr val="D3DAE0"/>
            </a:solidFill>
            <a:prstDash val="solid"/>
          </a:ln>
        </p:spPr>
        <p:txBody>
          <a:bodyPr wrap="square" lIns="133609" tIns="108209" rIns="0" bIns="82809" rtlCol="0" anchor="t">
            <a:normAutofit/>
          </a:bodyPr>
          <a:lstStyle/>
          <a:p>
            <a:pPr algn="l" indent="0" marL="0">
              <a:lnSpc>
                <a:spcPts val="2400"/>
              </a:lnSpc>
              <a:buNone/>
            </a:pPr>
            <a:r>
              <a:rPr lang="en-US" sz="1500" dirty="0">
                <a:solidFill>
                  <a:srgbClr val="1B2A3A"/>
                </a:solidFill>
                <a:latin typeface="JetBrains Mono" pitchFamily="49" charset="0"/>
                <a:ea typeface="JetBrains Mono" pitchFamily="49" charset="-122"/>
                <a:cs typeface="JetBrains Mono" pitchFamily="49" charset="-120"/>
              </a:rPr>
              <a:t>−0.5·Δu ≤ δ ≤ 1.0·Δu</a:t>
            </a:r>
            <a:endParaRPr lang="en-US" sz="1500" dirty="0"/>
          </a:p>
        </p:txBody>
      </p:sp>
      <p:sp>
        <p:nvSpPr>
          <p:cNvPr id="7" name="Text 5"/>
          <p:cNvSpPr/>
          <p:nvPr/>
        </p:nvSpPr>
        <p:spPr>
          <a:xfrm>
            <a:off x="812782" y="3785555"/>
            <a:ext cx="5206293" cy="540887"/>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3E4A56"/>
                </a:solidFill>
                <a:latin typeface="IBM Plex Sans" pitchFamily="34" charset="0"/>
                <a:ea typeface="IBM Plex Sans" pitchFamily="34" charset="-122"/>
                <a:cs typeface="IBM Plex Sans" pitchFamily="34" charset="-120"/>
              </a:rPr>
              <a:t>With Δu ≈ 4.98 bins: each step lies in [−2.49, 4.98] bins. The first entry, c, has no bound.</a:t>
            </a:r>
            <a:endParaRPr lang="en-US" sz="1400" dirty="0"/>
          </a:p>
        </p:txBody>
      </p:sp>
      <p:pic>
        <p:nvPicPr>
          <p:cNvPr id="8" name="Image 0" descr="Raw knot values: the allowed pairs form a diagonal band between two parallel lines">    </p:cNvPr>
          <p:cNvPicPr>
            <a:picLocks noChangeAspect="1"/>
          </p:cNvPicPr>
          <p:nvPr/>
        </p:nvPicPr>
        <p:blipFill>
          <a:blip r:embed="rId1"/>
          <a:srcRect l="0" r="0" t="0" b="0"/>
          <a:stretch/>
        </p:blipFill>
        <p:spPr>
          <a:xfrm>
            <a:off x="6172218" y="1803251"/>
            <a:ext cx="2540000" cy="2159000"/>
          </a:xfrm>
          <a:prstGeom prst="rect">
            <a:avLst/>
          </a:prstGeom>
        </p:spPr>
      </p:pic>
      <p:pic>
        <p:nvPicPr>
          <p:cNvPr id="9" name="Image 1" descr="Increments: the allowed pairs form a square box, each step bounded on its own">    </p:cNvPr>
          <p:cNvPicPr>
            <a:picLocks noChangeAspect="1"/>
          </p:cNvPicPr>
          <p:nvPr/>
        </p:nvPicPr>
        <p:blipFill>
          <a:blip r:embed="rId2"/>
          <a:srcRect l="0" r="0" t="0" b="0"/>
          <a:stretch/>
        </p:blipFill>
        <p:spPr>
          <a:xfrm>
            <a:off x="8839218" y="1803251"/>
            <a:ext cx="2540000" cy="2159000"/>
          </a:xfrm>
          <a:prstGeom prst="rect">
            <a:avLst/>
          </a:prstGeom>
        </p:spPr>
      </p:pic>
      <p:sp>
        <p:nvSpPr>
          <p:cNvPr id="10" name="Text 6"/>
          <p:cNvSpPr/>
          <p:nvPr/>
        </p:nvSpPr>
        <p:spPr>
          <a:xfrm>
            <a:off x="6172218" y="4038426"/>
            <a:ext cx="2616200" cy="452041"/>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6A7682"/>
                </a:solidFill>
                <a:latin typeface="IBM Plex Sans" pitchFamily="34" charset="0"/>
                <a:ea typeface="IBM Plex Sans" pitchFamily="34" charset="-122"/>
                <a:cs typeface="IBM Plex Sans" pitchFamily="34" charset="-120"/>
              </a:rPr>
              <a:t>Knot values</a:t>
            </a:r>
            <a:r>
              <a:rPr lang="en-US" sz="1200" dirty="0">
                <a:solidFill>
                  <a:srgbClr val="6A7682"/>
                </a:solidFill>
                <a:latin typeface="IBM Plex Sans" pitchFamily="34" charset="0"/>
                <a:ea typeface="IBM Plex Sans" pitchFamily="34" charset="-122"/>
                <a:cs typeface="IBM Plex Sans" pitchFamily="34" charset="-120"/>
              </a:rPr>
              <a:t> v_q, v_q+1: the rule ties neighbours together, a slanted band.</a:t>
            </a:r>
            <a:endParaRPr lang="en-US" sz="1200" dirty="0"/>
          </a:p>
        </p:txBody>
      </p:sp>
      <p:sp>
        <p:nvSpPr>
          <p:cNvPr id="11" name="Text 7"/>
          <p:cNvSpPr/>
          <p:nvPr/>
        </p:nvSpPr>
        <p:spPr>
          <a:xfrm>
            <a:off x="8839218" y="4038426"/>
            <a:ext cx="2616200" cy="452041"/>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6A7682"/>
                </a:solidFill>
                <a:latin typeface="IBM Plex Sans" pitchFamily="34" charset="0"/>
                <a:ea typeface="IBM Plex Sans" pitchFamily="34" charset="-122"/>
                <a:cs typeface="IBM Plex Sans" pitchFamily="34" charset="-120"/>
              </a:rPr>
              <a:t>Increments</a:t>
            </a:r>
            <a:r>
              <a:rPr lang="en-US" sz="1200" dirty="0">
                <a:solidFill>
                  <a:srgbClr val="6A7682"/>
                </a:solidFill>
                <a:latin typeface="IBM Plex Sans" pitchFamily="34" charset="0"/>
                <a:ea typeface="IBM Plex Sans" pitchFamily="34" charset="-122"/>
                <a:cs typeface="IBM Plex Sans" pitchFamily="34" charset="-120"/>
              </a:rPr>
              <a:t> δ_q, δ_q+1: each has its own interval, a box.</a:t>
            </a:r>
            <a:endParaRPr lang="en-US" sz="1200" dirty="0"/>
          </a:p>
        </p:txBody>
      </p:sp>
      <p:sp>
        <p:nvSpPr>
          <p:cNvPr id="12" name="Text 8"/>
          <p:cNvSpPr/>
          <p:nvPr/>
        </p:nvSpPr>
        <p:spPr>
          <a:xfrm>
            <a:off x="812782" y="4693630"/>
            <a:ext cx="10883429" cy="577778"/>
          </a:xfrm>
          <a:prstGeom prst="rect">
            <a:avLst/>
          </a:prstGeom>
          <a:noFill/>
          <a:ln/>
        </p:spPr>
        <p:txBody>
          <a:bodyPr wrap="square" lIns="0" tIns="0" rIns="0" bIns="0" rtlCol="0" anchor="t">
            <a:normAutofit/>
          </a:bodyPr>
          <a:lstStyle/>
          <a:p>
            <a:pPr algn="l" indent="0" marL="0">
              <a:lnSpc>
                <a:spcPts val="2175"/>
              </a:lnSpc>
              <a:buNone/>
            </a:pPr>
            <a:r>
              <a:rPr lang="en-US" sz="1500" dirty="0">
                <a:solidFill>
                  <a:srgbClr val="1B2A3A"/>
                </a:solidFill>
                <a:latin typeface="IBM Plex Sans" pitchFamily="34" charset="0"/>
                <a:ea typeface="IBM Plex Sans" pitchFamily="34" charset="-122"/>
                <a:cs typeface="IBM Plex Sans" pitchFamily="34" charset="-120"/>
              </a:rPr>
              <a:t>A box needs only </a:t>
            </a:r>
            <a:r>
              <a:rPr lang="en-US" sz="1500" b="1" dirty="0">
                <a:solidFill>
                  <a:srgbClr val="1B2A3A"/>
                </a:solidFill>
                <a:latin typeface="IBM Plex Sans" pitchFamily="34" charset="0"/>
                <a:ea typeface="IBM Plex Sans" pitchFamily="34" charset="-122"/>
                <a:cs typeface="IBM Plex Sans" pitchFamily="34" charset="-120"/>
              </a:rPr>
              <a:t>lower and upper bounds per unknown</a:t>
            </a:r>
            <a:r>
              <a:rPr lang="en-US" sz="1500" dirty="0">
                <a:solidFill>
                  <a:srgbClr val="1B2A3A"/>
                </a:solidFill>
                <a:latin typeface="IBM Plex Sans" pitchFamily="34" charset="0"/>
                <a:ea typeface="IBM Plex Sans" pitchFamily="34" charset="-122"/>
                <a:cs typeface="IBM Plex Sans" pitchFamily="34" charset="-120"/>
              </a:rPr>
              <a:t>, which bounded-variable least squares handles directly. A band would need a general constrained solver.</a:t>
            </a:r>
            <a:endParaRPr lang="en-US" sz="1500" dirty="0"/>
          </a:p>
        </p:txBody>
      </p:sp>
      <p:sp>
        <p:nvSpPr>
          <p:cNvPr id="13" name="Text 9"/>
          <p:cNvSpPr/>
          <p:nvPr/>
        </p:nvSpPr>
        <p:spPr>
          <a:xfrm>
            <a:off x="812782" y="6238286"/>
            <a:ext cx="1088338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682"/>
                </a:solidFill>
                <a:latin typeface="IBM Plex Sans" pitchFamily="34" charset="0"/>
                <a:ea typeface="IBM Plex Sans" pitchFamily="34" charset="-122"/>
                <a:cs typeface="IBM Plex Sans" pitchFamily="34" charset="-120"/>
              </a:rPr>
              <a:t>You asked: is L just a convenient way to sum the increments? Yes, and that choice is what makes the bounds simple. Paper Eq. (2); Δu = 199/40 bins.</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ECF0F3"/>
        </a:solidFill>
      </p:bgPr>
    </p:bg>
    <p:spTree>
      <p:nvGrpSpPr>
        <p:cNvPr id="1" name=""/>
        <p:cNvGrpSpPr/>
        <p:nvPr/>
      </p:nvGrpSpPr>
      <p:grpSpPr>
        <a:xfrm>
          <a:off x="0" y="0"/>
          <a:ext cx="0" cy="0"/>
          <a:chOff x="0" y="0"/>
          <a:chExt cx="0" cy="0"/>
        </a:xfrm>
      </p:grpSpPr>
      <p:sp>
        <p:nvSpPr>
          <p:cNvPr id="2" name="Text 0"/>
          <p:cNvSpPr/>
          <p:nvPr/>
        </p:nvSpPr>
        <p:spPr>
          <a:xfrm>
            <a:off x="812782" y="812781"/>
            <a:ext cx="10883429"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2F6FBF"/>
                </a:solidFill>
                <a:latin typeface="IBM Plex Sans" pitchFamily="34" charset="0"/>
                <a:ea typeface="IBM Plex Sans" pitchFamily="34" charset="-122"/>
                <a:cs typeface="IBM Plex Sans" pitchFamily="34" charset="-120"/>
              </a:rPr>
              <a:t>Q6 · MATHS</a:t>
            </a:r>
            <a:endParaRPr lang="en-US" sz="1200" dirty="0"/>
          </a:p>
        </p:txBody>
      </p:sp>
      <p:sp>
        <p:nvSpPr>
          <p:cNvPr id="3" name="Text 1"/>
          <p:cNvSpPr/>
          <p:nvPr>
            <p:ph type="title"/>
          </p:nvPr>
        </p:nvSpPr>
        <p:spPr>
          <a:xfrm>
            <a:off x="812782" y="1127665"/>
            <a:ext cx="10883429" cy="472426"/>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B2A3A"/>
                </a:solidFill>
                <a:latin typeface="Source Serif 4" pitchFamily="18" charset="0"/>
                <a:ea typeface="Source Serif 4" pitchFamily="18" charset="-122"/>
                <a:cs typeface="Source Serif 4" pitchFamily="18" charset="-120"/>
              </a:rPr>
              <a:t>Reading the bounded least-squares problem</a:t>
            </a:r>
            <a:endParaRPr lang="en-US" sz="3200" dirty="0"/>
          </a:p>
        </p:txBody>
      </p:sp>
      <p:sp>
        <p:nvSpPr>
          <p:cNvPr id="4" name="Text 2"/>
          <p:cNvSpPr/>
          <p:nvPr/>
        </p:nvSpPr>
        <p:spPr>
          <a:xfrm>
            <a:off x="654285" y="1803251"/>
            <a:ext cx="10883429" cy="523253"/>
          </a:xfrm>
          <a:prstGeom prst="rect">
            <a:avLst/>
          </a:prstGeom>
          <a:noFill/>
          <a:ln/>
        </p:spPr>
        <p:txBody>
          <a:bodyPr wrap="square" lIns="0" tIns="0" rIns="0" bIns="0" rtlCol="0" anchor="t">
            <a:normAutofit/>
          </a:bodyPr>
          <a:lstStyle/>
          <a:p>
            <a:pPr algn="ctr" indent="0" marL="0">
              <a:lnSpc>
                <a:spcPts val="3920"/>
              </a:lnSpc>
              <a:buNone/>
            </a:pPr>
            <a:r>
              <a:rPr lang="en-US" sz="2800" i="1" dirty="0">
                <a:solidFill>
                  <a:srgbClr val="1B2A3A"/>
                </a:solidFill>
                <a:latin typeface="Source Serif 4" pitchFamily="18" charset="0"/>
                <a:ea typeface="Source Serif 4" pitchFamily="18" charset="-122"/>
                <a:cs typeface="Source Serif 4" pitchFamily="18" charset="-120"/>
              </a:rPr>
              <a:t>min over θ of ‖Aθ − y‖² subject to lb ≤ θ ≤ ub</a:t>
            </a:r>
            <a:endParaRPr lang="en-US" sz="2800" dirty="0"/>
          </a:p>
        </p:txBody>
      </p:sp>
      <p:sp>
        <p:nvSpPr>
          <p:cNvPr id="5" name="Shape 3"/>
          <p:cNvSpPr/>
          <p:nvPr/>
        </p:nvSpPr>
        <p:spPr>
          <a:xfrm>
            <a:off x="815957" y="2532844"/>
            <a:ext cx="5200650" cy="1118881"/>
          </a:xfrm>
          <a:prstGeom prst="roundRect">
            <a:avLst>
              <a:gd name="adj" fmla="val 8797"/>
            </a:avLst>
          </a:prstGeom>
          <a:solidFill>
            <a:srgbClr val="FDFCF9"/>
          </a:solidFill>
          <a:ln w="6350">
            <a:solidFill>
              <a:srgbClr val="D3DAE0"/>
            </a:solidFill>
            <a:prstDash val="solid"/>
          </a:ln>
        </p:spPr>
      </p:sp>
      <p:sp>
        <p:nvSpPr>
          <p:cNvPr id="6" name="Text 4"/>
          <p:cNvSpPr/>
          <p:nvPr/>
        </p:nvSpPr>
        <p:spPr>
          <a:xfrm>
            <a:off x="996337" y="2713224"/>
            <a:ext cx="4985087" cy="253964"/>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B2A3A"/>
                </a:solidFill>
                <a:latin typeface="IBM Plex Sans" pitchFamily="34" charset="0"/>
                <a:ea typeface="IBM Plex Sans" pitchFamily="34" charset="-122"/>
                <a:cs typeface="IBM Plex Sans" pitchFamily="34" charset="-120"/>
              </a:rPr>
              <a:t>θ: every unknown</a:t>
            </a:r>
            <a:endParaRPr lang="en-US" sz="1500" dirty="0"/>
          </a:p>
        </p:txBody>
      </p:sp>
      <p:sp>
        <p:nvSpPr>
          <p:cNvPr id="7" name="Text 5"/>
          <p:cNvSpPr/>
          <p:nvPr/>
        </p:nvSpPr>
        <p:spPr>
          <a:xfrm>
            <a:off x="996337" y="2992568"/>
            <a:ext cx="4985087" cy="264788"/>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3E4A56"/>
                </a:solidFill>
                <a:latin typeface="IBM Plex Sans" pitchFamily="34" charset="0"/>
                <a:ea typeface="IBM Plex Sans" pitchFamily="34" charset="-122"/>
                <a:cs typeface="IBM Plex Sans" pitchFamily="34" charset="-120"/>
              </a:rPr>
              <a:t>All batches’ (c, δ₁, …, δ₄₀) stacked: 5 × 41 = 205 numbers.</a:t>
            </a:r>
            <a:endParaRPr lang="en-US" sz="1300" dirty="0"/>
          </a:p>
        </p:txBody>
      </p:sp>
      <p:sp>
        <p:nvSpPr>
          <p:cNvPr id="8" name="Shape 6"/>
          <p:cNvSpPr/>
          <p:nvPr/>
        </p:nvSpPr>
        <p:spPr>
          <a:xfrm>
            <a:off x="6175348" y="2532844"/>
            <a:ext cx="5200695" cy="1118881"/>
          </a:xfrm>
          <a:prstGeom prst="roundRect">
            <a:avLst>
              <a:gd name="adj" fmla="val 8797"/>
            </a:avLst>
          </a:prstGeom>
          <a:solidFill>
            <a:srgbClr val="FDFCF9"/>
          </a:solidFill>
          <a:ln w="6350">
            <a:solidFill>
              <a:srgbClr val="D3DAE0"/>
            </a:solidFill>
            <a:prstDash val="solid"/>
          </a:ln>
        </p:spPr>
      </p:sp>
      <p:sp>
        <p:nvSpPr>
          <p:cNvPr id="9" name="Text 7"/>
          <p:cNvSpPr/>
          <p:nvPr/>
        </p:nvSpPr>
        <p:spPr>
          <a:xfrm>
            <a:off x="6355728" y="2713224"/>
            <a:ext cx="4985134" cy="253964"/>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B2A3A"/>
                </a:solidFill>
                <a:latin typeface="IBM Plex Sans" pitchFamily="34" charset="0"/>
                <a:ea typeface="IBM Plex Sans" pitchFamily="34" charset="-122"/>
                <a:cs typeface="IBM Plex Sans" pitchFamily="34" charset="-120"/>
              </a:rPr>
              <a:t>A and y: the anchors</a:t>
            </a:r>
            <a:endParaRPr lang="en-US" sz="1500" dirty="0"/>
          </a:p>
        </p:txBody>
      </p:sp>
      <p:sp>
        <p:nvSpPr>
          <p:cNvPr id="10" name="Text 8"/>
          <p:cNvSpPr/>
          <p:nvPr/>
        </p:nvSpPr>
        <p:spPr>
          <a:xfrm>
            <a:off x="6355728" y="2992568"/>
            <a:ext cx="4985134" cy="504176"/>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3E4A56"/>
                </a:solidFill>
                <a:latin typeface="IBM Plex Sans" pitchFamily="34" charset="0"/>
                <a:ea typeface="IBM Plex Sans" pitchFamily="34" charset="-122"/>
                <a:cs typeface="IBM Plex Sans" pitchFamily="34" charset="-120"/>
              </a:rPr>
              <a:t>One row per anchor (previous slide); y holds each anchor’s raw offset b − a.</a:t>
            </a:r>
            <a:endParaRPr lang="en-US" sz="1300" dirty="0"/>
          </a:p>
        </p:txBody>
      </p:sp>
      <p:sp>
        <p:nvSpPr>
          <p:cNvPr id="11" name="Shape 9"/>
          <p:cNvSpPr/>
          <p:nvPr/>
        </p:nvSpPr>
        <p:spPr>
          <a:xfrm>
            <a:off x="815957" y="3810465"/>
            <a:ext cx="5200650" cy="1118881"/>
          </a:xfrm>
          <a:prstGeom prst="roundRect">
            <a:avLst>
              <a:gd name="adj" fmla="val 8797"/>
            </a:avLst>
          </a:prstGeom>
          <a:solidFill>
            <a:srgbClr val="FDFCF9"/>
          </a:solidFill>
          <a:ln w="6350">
            <a:solidFill>
              <a:srgbClr val="D3DAE0"/>
            </a:solidFill>
            <a:prstDash val="solid"/>
          </a:ln>
        </p:spPr>
      </p:sp>
      <p:sp>
        <p:nvSpPr>
          <p:cNvPr id="12" name="Text 10"/>
          <p:cNvSpPr/>
          <p:nvPr/>
        </p:nvSpPr>
        <p:spPr>
          <a:xfrm>
            <a:off x="996337" y="3990845"/>
            <a:ext cx="4985087" cy="253964"/>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B2A3A"/>
                </a:solidFill>
                <a:latin typeface="IBM Plex Sans" pitchFamily="34" charset="0"/>
                <a:ea typeface="IBM Plex Sans" pitchFamily="34" charset="-122"/>
                <a:cs typeface="IBM Plex Sans" pitchFamily="34" charset="-120"/>
              </a:rPr>
              <a:t>‖·‖²: add up squared misses</a:t>
            </a:r>
            <a:endParaRPr lang="en-US" sz="1500" dirty="0"/>
          </a:p>
        </p:txBody>
      </p:sp>
      <p:sp>
        <p:nvSpPr>
          <p:cNvPr id="13" name="Text 11"/>
          <p:cNvSpPr/>
          <p:nvPr/>
        </p:nvSpPr>
        <p:spPr>
          <a:xfrm>
            <a:off x="996337" y="4270195"/>
            <a:ext cx="4985087" cy="504176"/>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3E4A56"/>
                </a:solidFill>
                <a:latin typeface="IBM Plex Sans" pitchFamily="34" charset="0"/>
                <a:ea typeface="IBM Plex Sans" pitchFamily="34" charset="-122"/>
                <a:cs typeface="IBM Plex Sans" pitchFamily="34" charset="-120"/>
              </a:rPr>
              <a:t>Aθ − y is the vector of misses r; squaring and summing scores the whole fit.</a:t>
            </a:r>
            <a:endParaRPr lang="en-US" sz="1300" dirty="0"/>
          </a:p>
        </p:txBody>
      </p:sp>
      <p:sp>
        <p:nvSpPr>
          <p:cNvPr id="14" name="Shape 12"/>
          <p:cNvSpPr/>
          <p:nvPr/>
        </p:nvSpPr>
        <p:spPr>
          <a:xfrm>
            <a:off x="6175348" y="3810465"/>
            <a:ext cx="5200695" cy="1118881"/>
          </a:xfrm>
          <a:prstGeom prst="roundRect">
            <a:avLst>
              <a:gd name="adj" fmla="val 8797"/>
            </a:avLst>
          </a:prstGeom>
          <a:solidFill>
            <a:srgbClr val="FDFCF9"/>
          </a:solidFill>
          <a:ln w="6350">
            <a:solidFill>
              <a:srgbClr val="D3DAE0"/>
            </a:solidFill>
            <a:prstDash val="solid"/>
          </a:ln>
        </p:spPr>
      </p:sp>
      <p:sp>
        <p:nvSpPr>
          <p:cNvPr id="15" name="Text 13"/>
          <p:cNvSpPr/>
          <p:nvPr/>
        </p:nvSpPr>
        <p:spPr>
          <a:xfrm>
            <a:off x="6355728" y="3990845"/>
            <a:ext cx="4985134" cy="253964"/>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B2A3A"/>
                </a:solidFill>
                <a:latin typeface="IBM Plex Sans" pitchFamily="34" charset="0"/>
                <a:ea typeface="IBM Plex Sans" pitchFamily="34" charset="-122"/>
                <a:cs typeface="IBM Plex Sans" pitchFamily="34" charset="-120"/>
              </a:rPr>
              <a:t>lb ≤ θ ≤ ub: the box</a:t>
            </a:r>
            <a:endParaRPr lang="en-US" sz="1500" dirty="0"/>
          </a:p>
        </p:txBody>
      </p:sp>
      <p:sp>
        <p:nvSpPr>
          <p:cNvPr id="16" name="Text 14"/>
          <p:cNvSpPr/>
          <p:nvPr/>
        </p:nvSpPr>
        <p:spPr>
          <a:xfrm>
            <a:off x="6355728" y="4270195"/>
            <a:ext cx="4985134" cy="504176"/>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3E4A56"/>
                </a:solidFill>
                <a:latin typeface="IBM Plex Sans" pitchFamily="34" charset="0"/>
                <a:ea typeface="IBM Plex Sans" pitchFamily="34" charset="-122"/>
                <a:cs typeface="IBM Plex Sans" pitchFamily="34" charset="-120"/>
              </a:rPr>
              <a:t>Each δ in [−0.5Δu, Δu]; each c free (−∞, ∞). One interval per unknown.</a:t>
            </a:r>
            <a:endParaRPr lang="en-US" sz="1300" dirty="0"/>
          </a:p>
        </p:txBody>
      </p:sp>
      <p:sp>
        <p:nvSpPr>
          <p:cNvPr id="17" name="Text 15"/>
          <p:cNvSpPr/>
          <p:nvPr/>
        </p:nvSpPr>
        <p:spPr>
          <a:xfrm>
            <a:off x="812782" y="5161087"/>
            <a:ext cx="10883429" cy="540887"/>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1B2A3A"/>
                </a:solidFill>
                <a:latin typeface="IBM Plex Sans" pitchFamily="34" charset="0"/>
                <a:ea typeface="IBM Plex Sans" pitchFamily="34" charset="-122"/>
                <a:cs typeface="IBM Plex Sans" pitchFamily="34" charset="-120"/>
              </a:rPr>
              <a:t>The full objective also has robust weights, a smoothness term and a gauge term. Each is a sum of squares of linear expressions, so each becomes </a:t>
            </a:r>
            <a:r>
              <a:rPr lang="en-US" sz="1400" b="1" dirty="0">
                <a:solidFill>
                  <a:srgbClr val="1B2A3A"/>
                </a:solidFill>
                <a:latin typeface="IBM Plex Sans" pitchFamily="34" charset="0"/>
                <a:ea typeface="IBM Plex Sans" pitchFamily="34" charset="-122"/>
                <a:cs typeface="IBM Plex Sans" pitchFamily="34" charset="-120"/>
              </a:rPr>
              <a:t>extra rows of A</a:t>
            </a:r>
            <a:r>
              <a:rPr lang="en-US" sz="1400" dirty="0">
                <a:solidFill>
                  <a:srgbClr val="1B2A3A"/>
                </a:solidFill>
                <a:latin typeface="IBM Plex Sans" pitchFamily="34" charset="0"/>
                <a:ea typeface="IBM Plex Sans" pitchFamily="34" charset="-122"/>
                <a:cs typeface="IBM Plex Sans" pitchFamily="34" charset="-120"/>
              </a:rPr>
              <a:t> (a weight w scales its row by √w). The problem keeps this exact shape.</a:t>
            </a:r>
            <a:endParaRPr lang="en-US" sz="1400" dirty="0"/>
          </a:p>
        </p:txBody>
      </p:sp>
      <p:sp>
        <p:nvSpPr>
          <p:cNvPr id="18" name="Text 16"/>
          <p:cNvSpPr/>
          <p:nvPr/>
        </p:nvSpPr>
        <p:spPr>
          <a:xfrm>
            <a:off x="812782" y="6238286"/>
            <a:ext cx="1137921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682"/>
                </a:solidFill>
                <a:latin typeface="IBM Plex Sans" pitchFamily="34" charset="0"/>
                <a:ea typeface="IBM Plex Sans" pitchFamily="34" charset="-122"/>
                <a:cs typeface="IBM Plex Sans" pitchFamily="34" charset="-120"/>
              </a:rPr>
              <a:t>Paper Eq. (4). In code: Cholesky of the normal matrix, then scipy’s lsq_linear(method='bvls'). Stacking rows and the Cholesky route give the same answer.</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5F0"/>
        </a:solidFill>
      </p:bgPr>
    </p:bg>
    <p:spTree>
      <p:nvGrpSpPr>
        <p:cNvPr id="1" name=""/>
        <p:cNvGrpSpPr/>
        <p:nvPr/>
      </p:nvGrpSpPr>
      <p:grpSpPr>
        <a:xfrm>
          <a:off x="0" y="0"/>
          <a:ext cx="0" cy="0"/>
          <a:chOff x="0" y="0"/>
          <a:chExt cx="0" cy="0"/>
        </a:xfrm>
      </p:grpSpPr>
      <p:sp>
        <p:nvSpPr>
          <p:cNvPr id="2" name="Text 0"/>
          <p:cNvSpPr/>
          <p:nvPr/>
        </p:nvSpPr>
        <p:spPr>
          <a:xfrm>
            <a:off x="812782" y="812781"/>
            <a:ext cx="10883429"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2F6FBF"/>
                </a:solidFill>
                <a:latin typeface="IBM Plex Sans" pitchFamily="34" charset="0"/>
                <a:ea typeface="IBM Plex Sans" pitchFamily="34" charset="-122"/>
                <a:cs typeface="IBM Plex Sans" pitchFamily="34" charset="-120"/>
              </a:rPr>
              <a:t>Q7 · INTUITION AND MATHS</a:t>
            </a:r>
            <a:endParaRPr lang="en-US" sz="1200" dirty="0"/>
          </a:p>
        </p:txBody>
      </p:sp>
      <p:sp>
        <p:nvSpPr>
          <p:cNvPr id="3" name="Text 1"/>
          <p:cNvSpPr/>
          <p:nvPr>
            <p:ph type="title"/>
          </p:nvPr>
        </p:nvSpPr>
        <p:spPr>
          <a:xfrm>
            <a:off x="812782" y="1127665"/>
            <a:ext cx="10883429" cy="472426"/>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B2A3A"/>
                </a:solidFill>
                <a:latin typeface="Source Serif 4" pitchFamily="18" charset="0"/>
                <a:ea typeface="Source Serif 4" pitchFamily="18" charset="-122"/>
                <a:cs typeface="Source Serif 4" pitchFamily="18" charset="-120"/>
              </a:rPr>
              <a:t>Convex, but with a flat valley floor</a:t>
            </a:r>
            <a:endParaRPr lang="en-US" sz="3200" dirty="0"/>
          </a:p>
        </p:txBody>
      </p:sp>
      <p:pic>
        <p:nvPicPr>
          <p:cNvPr id="4" name="Image 0" descr="Contour lines of the loss over two drifts are parallel diagonal lines; the darkest line, the valley floor, holds infinitely many equally good points">    </p:cNvPr>
          <p:cNvPicPr>
            <a:picLocks noChangeAspect="1"/>
          </p:cNvPicPr>
          <p:nvPr/>
        </p:nvPicPr>
        <p:blipFill>
          <a:blip r:embed="rId1"/>
          <a:srcRect l="0" r="0" t="0" b="0"/>
          <a:stretch/>
        </p:blipFill>
        <p:spPr>
          <a:xfrm>
            <a:off x="812782" y="1828688"/>
            <a:ext cx="4064000" cy="2794000"/>
          </a:xfrm>
          <a:prstGeom prst="rect">
            <a:avLst/>
          </a:prstGeom>
        </p:spPr>
      </p:pic>
      <p:sp>
        <p:nvSpPr>
          <p:cNvPr id="5" name="Text 2"/>
          <p:cNvSpPr/>
          <p:nvPr/>
        </p:nvSpPr>
        <p:spPr>
          <a:xfrm>
            <a:off x="812782" y="4724251"/>
            <a:ext cx="4185920"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682"/>
                </a:solidFill>
                <a:latin typeface="IBM Plex Sans" pitchFamily="34" charset="0"/>
                <a:ea typeface="IBM Plex Sans" pitchFamily="34" charset="-122"/>
                <a:cs typeface="IBM Plex Sans" pitchFamily="34" charset="-120"/>
              </a:rPr>
              <a:t>Two batches, one drift each (d₁ across, d₂ up). Grey: equal-loss lines. Blue: the valley floor d₂ = d₁ − y. Both orange points have the lowest loss.</a:t>
            </a:r>
            <a:endParaRPr lang="en-US" sz="1200" dirty="0"/>
          </a:p>
        </p:txBody>
      </p:sp>
      <p:sp>
        <p:nvSpPr>
          <p:cNvPr id="6" name="Text 3"/>
          <p:cNvSpPr/>
          <p:nvPr/>
        </p:nvSpPr>
        <p:spPr>
          <a:xfrm>
            <a:off x="5232346" y="2117954"/>
            <a:ext cx="6331278" cy="853967"/>
          </a:xfrm>
          <a:prstGeom prst="rect">
            <a:avLst/>
          </a:prstGeom>
          <a:noFill/>
          <a:ln/>
        </p:spPr>
        <p:txBody>
          <a:bodyPr wrap="square" lIns="0" tIns="0" rIns="0" bIns="0" rtlCol="0" anchor="t">
            <a:normAutofit/>
          </a:bodyPr>
          <a:lstStyle/>
          <a:p>
            <a:pPr algn="l" indent="0" marL="0">
              <a:lnSpc>
                <a:spcPts val="2175"/>
              </a:lnSpc>
              <a:buNone/>
            </a:pPr>
            <a:r>
              <a:rPr lang="en-US" sz="1500" dirty="0">
                <a:solidFill>
                  <a:srgbClr val="3E4A56"/>
                </a:solidFill>
                <a:latin typeface="IBM Plex Sans" pitchFamily="34" charset="0"/>
                <a:ea typeface="IBM Plex Sans" pitchFamily="34" charset="-122"/>
                <a:cs typeface="IBM Plex Sans" pitchFamily="34" charset="-120"/>
              </a:rPr>
              <a:t>Anchors only see the </a:t>
            </a:r>
            <a:r>
              <a:rPr lang="en-US" sz="1500" b="1" dirty="0">
                <a:solidFill>
                  <a:srgbClr val="3E4A56"/>
                </a:solidFill>
                <a:latin typeface="IBM Plex Sans" pitchFamily="34" charset="0"/>
                <a:ea typeface="IBM Plex Sans" pitchFamily="34" charset="-122"/>
                <a:cs typeface="IBM Plex Sans" pitchFamily="34" charset="-120"/>
              </a:rPr>
              <a:t>gap</a:t>
            </a:r>
            <a:r>
              <a:rPr lang="en-US" sz="1500" dirty="0">
                <a:solidFill>
                  <a:srgbClr val="3E4A56"/>
                </a:solidFill>
                <a:latin typeface="IBM Plex Sans" pitchFamily="34" charset="0"/>
                <a:ea typeface="IBM Plex Sans" pitchFamily="34" charset="-122"/>
                <a:cs typeface="IBM Plex Sans" pitchFamily="34" charset="-120"/>
              </a:rPr>
              <a:t> d₁ − d₂, so the loss is (d₁ − d₂ − y)². Slide along the valley, adding the same amount to both drifts, and the loss never changes.</a:t>
            </a:r>
            <a:endParaRPr lang="en-US" sz="1500" dirty="0"/>
          </a:p>
        </p:txBody>
      </p:sp>
      <p:sp>
        <p:nvSpPr>
          <p:cNvPr id="7" name="Text 4"/>
          <p:cNvSpPr/>
          <p:nvPr/>
        </p:nvSpPr>
        <p:spPr>
          <a:xfrm>
            <a:off x="5235521" y="3102087"/>
            <a:ext cx="6140522" cy="1264868"/>
          </a:xfrm>
          <a:prstGeom prst="roundRect">
            <a:avLst>
              <a:gd name="adj" fmla="val 7781"/>
            </a:avLst>
          </a:prstGeom>
          <a:solidFill>
            <a:srgbClr val="FDFCF9"/>
          </a:solidFill>
          <a:ln w="6350">
            <a:solidFill>
              <a:srgbClr val="D3DAE0"/>
            </a:solidFill>
            <a:prstDash val="solid"/>
          </a:ln>
        </p:spPr>
        <p:txBody>
          <a:bodyPr wrap="square" lIns="176943" tIns="176970" rIns="5074" bIns="151516" rtlCol="0" anchor="t">
            <a:normAutofit/>
          </a:bodyPr>
          <a:lstStyle/>
          <a:p>
            <a:pPr algn="l" indent="0" marL="0">
              <a:lnSpc>
                <a:spcPts val="2240"/>
              </a:lnSpc>
              <a:buNone/>
            </a:pPr>
            <a:r>
              <a:rPr lang="en-US" sz="1400" dirty="0">
                <a:solidFill>
                  <a:srgbClr val="1B2A3A"/>
                </a:solidFill>
                <a:latin typeface="JetBrains Mono" pitchFamily="49" charset="0"/>
                <a:ea typeface="JetBrains Mono" pitchFamily="49" charset="-122"/>
                <a:cs typeface="JetBrains Mono" pitchFamily="49" charset="-120"/>
              </a:rPr>
              <a:t>H = 2·[[1, −1], [−1, 1]]</a:t>
            </a:r>
            <a:endParaRPr lang="en-US" sz="1400" dirty="0"/>
          </a:p>
          <a:p>
            <a:pPr algn="l" indent="0" marL="0">
              <a:lnSpc>
                <a:spcPts val="2240"/>
              </a:lnSpc>
              <a:buNone/>
            </a:pPr>
            <a:r>
              <a:rPr lang="en-US" sz="1400" dirty="0">
                <a:solidFill>
                  <a:srgbClr val="1B2A3A"/>
                </a:solidFill>
                <a:latin typeface="JetBrains Mono" pitchFamily="49" charset="0"/>
                <a:ea typeface="JetBrains Mono" pitchFamily="49" charset="-122"/>
                <a:cs typeface="JetBrains Mono" pitchFamily="49" charset="-120"/>
              </a:rPr>
              <a:t>eigenvalues 4 and 0</a:t>
            </a:r>
            <a:endParaRPr lang="en-US" sz="1400" dirty="0"/>
          </a:p>
          <a:p>
            <a:pPr algn="l" indent="0" marL="0">
              <a:lnSpc>
                <a:spcPts val="2240"/>
              </a:lnSpc>
              <a:buNone/>
            </a:pPr>
            <a:r>
              <a:rPr lang="en-US" sz="1400" dirty="0">
                <a:solidFill>
                  <a:srgbClr val="1B2A3A"/>
                </a:solidFill>
                <a:latin typeface="JetBrains Mono" pitchFamily="49" charset="0"/>
                <a:ea typeface="JetBrains Mono" pitchFamily="49" charset="-122"/>
                <a:cs typeface="JetBrains Mono" pitchFamily="49" charset="-120"/>
              </a:rPr>
              <a:t>0 belongs to direction (1, 1)</a:t>
            </a:r>
            <a:endParaRPr lang="en-US" sz="1400" dirty="0"/>
          </a:p>
        </p:txBody>
      </p:sp>
      <p:sp>
        <p:nvSpPr>
          <p:cNvPr id="8" name="Text 5"/>
          <p:cNvSpPr/>
          <p:nvPr/>
        </p:nvSpPr>
        <p:spPr>
          <a:xfrm>
            <a:off x="5232346" y="4522521"/>
            <a:ext cx="6331278" cy="577778"/>
          </a:xfrm>
          <a:prstGeom prst="rect">
            <a:avLst/>
          </a:prstGeom>
          <a:noFill/>
          <a:ln/>
        </p:spPr>
        <p:txBody>
          <a:bodyPr wrap="square" lIns="0" tIns="0" rIns="0" bIns="0" rtlCol="0" anchor="t">
            <a:normAutofit/>
          </a:bodyPr>
          <a:lstStyle/>
          <a:p>
            <a:pPr algn="l" indent="0" marL="0">
              <a:lnSpc>
                <a:spcPts val="2175"/>
              </a:lnSpc>
              <a:buNone/>
            </a:pPr>
            <a:r>
              <a:rPr lang="en-US" sz="1500" b="1" dirty="0">
                <a:solidFill>
                  <a:srgbClr val="3E4A56"/>
                </a:solidFill>
                <a:latin typeface="IBM Plex Sans" pitchFamily="34" charset="0"/>
                <a:ea typeface="IBM Plex Sans" pitchFamily="34" charset="-122"/>
                <a:cs typeface="IBM Plex Sans" pitchFamily="34" charset="-120"/>
              </a:rPr>
              <a:t>Convex</a:t>
            </a:r>
            <a:r>
              <a:rPr lang="en-US" sz="1500" dirty="0">
                <a:solidFill>
                  <a:srgbClr val="3E4A56"/>
                </a:solidFill>
                <a:latin typeface="IBM Plex Sans" pitchFamily="34" charset="0"/>
                <a:ea typeface="IBM Plex Sans" pitchFamily="34" charset="-122"/>
                <a:cs typeface="IBM Plex Sans" pitchFamily="34" charset="-120"/>
              </a:rPr>
              <a:t>: it never curves down, so every minimum is a global one. </a:t>
            </a:r>
            <a:r>
              <a:rPr lang="en-US" sz="1500" b="1" dirty="0">
                <a:solidFill>
                  <a:srgbClr val="3E4A56"/>
                </a:solidFill>
                <a:latin typeface="IBM Plex Sans" pitchFamily="34" charset="0"/>
                <a:ea typeface="IBM Plex Sans" pitchFamily="34" charset="-122"/>
                <a:cs typeface="IBM Plex Sans" pitchFamily="34" charset="-120"/>
              </a:rPr>
              <a:t>Not strictly convex</a:t>
            </a:r>
            <a:r>
              <a:rPr lang="en-US" sz="1500" dirty="0">
                <a:solidFill>
                  <a:srgbClr val="3E4A56"/>
                </a:solidFill>
                <a:latin typeface="IBM Plex Sans" pitchFamily="34" charset="0"/>
                <a:ea typeface="IBM Plex Sans" pitchFamily="34" charset="-122"/>
                <a:cs typeface="IBM Plex Sans" pitchFamily="34" charset="-120"/>
              </a:rPr>
              <a:t>: one direction is flat, so the minimum is not unique.</a:t>
            </a:r>
            <a:endParaRPr lang="en-US" sz="1500" dirty="0"/>
          </a:p>
        </p:txBody>
      </p:sp>
      <p:sp>
        <p:nvSpPr>
          <p:cNvPr id="9" name="Text 6"/>
          <p:cNvSpPr/>
          <p:nvPr/>
        </p:nvSpPr>
        <p:spPr>
          <a:xfrm>
            <a:off x="812782" y="6238286"/>
            <a:ext cx="1137921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682"/>
                </a:solidFill>
                <a:latin typeface="IBM Plex Sans" pitchFamily="34" charset="0"/>
                <a:ea typeface="IBM Plex Sans" pitchFamily="34" charset="-122"/>
                <a:cs typeface="IBM Plex Sans" pitchFamily="34" charset="-120"/>
              </a:rPr>
              <a:t>You caught this: the chat first said “strictly convex”, then corrected itself. In the real model the flat direction is “add one constant to every batch’s drift”.</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ECF0F3"/>
        </a:solidFill>
      </p:bgPr>
    </p:bg>
    <p:spTree>
      <p:nvGrpSpPr>
        <p:cNvPr id="1" name=""/>
        <p:cNvGrpSpPr/>
        <p:nvPr/>
      </p:nvGrpSpPr>
      <p:grpSpPr>
        <a:xfrm>
          <a:off x="0" y="0"/>
          <a:ext cx="0" cy="0"/>
          <a:chOff x="0" y="0"/>
          <a:chExt cx="0" cy="0"/>
        </a:xfrm>
      </p:grpSpPr>
      <p:sp>
        <p:nvSpPr>
          <p:cNvPr id="2" name="Text 0"/>
          <p:cNvSpPr/>
          <p:nvPr/>
        </p:nvSpPr>
        <p:spPr>
          <a:xfrm>
            <a:off x="812782" y="812781"/>
            <a:ext cx="10883429"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2F6FBF"/>
                </a:solidFill>
                <a:latin typeface="IBM Plex Sans" pitchFamily="34" charset="0"/>
                <a:ea typeface="IBM Plex Sans" pitchFamily="34" charset="-122"/>
                <a:cs typeface="IBM Plex Sans" pitchFamily="34" charset="-120"/>
              </a:rPr>
              <a:t>Q8 · REFRESHER</a:t>
            </a:r>
            <a:endParaRPr lang="en-US" sz="1200" dirty="0"/>
          </a:p>
        </p:txBody>
      </p:sp>
      <p:sp>
        <p:nvSpPr>
          <p:cNvPr id="3" name="Text 1"/>
          <p:cNvSpPr/>
          <p:nvPr>
            <p:ph type="title"/>
          </p:nvPr>
        </p:nvSpPr>
        <p:spPr>
          <a:xfrm>
            <a:off x="812782" y="1127665"/>
            <a:ext cx="10883429" cy="472426"/>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B2A3A"/>
                </a:solidFill>
                <a:latin typeface="Source Serif 4" pitchFamily="18" charset="0"/>
                <a:ea typeface="Source Serif 4" pitchFamily="18" charset="-122"/>
                <a:cs typeface="Source Serif 4" pitchFamily="18" charset="-120"/>
              </a:rPr>
              <a:t>Positive definite means a bowl, not a trough</a:t>
            </a:r>
            <a:endParaRPr lang="en-US" sz="3200" dirty="0"/>
          </a:p>
        </p:txBody>
      </p:sp>
      <p:sp>
        <p:nvSpPr>
          <p:cNvPr id="4" name="Shape 2"/>
          <p:cNvSpPr/>
          <p:nvPr/>
        </p:nvSpPr>
        <p:spPr>
          <a:xfrm>
            <a:off x="819132" y="1809601"/>
            <a:ext cx="5149291" cy="1559737"/>
          </a:xfrm>
          <a:prstGeom prst="roundRect">
            <a:avLst>
              <a:gd name="adj" fmla="val 6107"/>
            </a:avLst>
          </a:prstGeom>
          <a:solidFill>
            <a:srgbClr val="FDFCF9"/>
          </a:solidFill>
          <a:ln w="12700">
            <a:solidFill>
              <a:srgbClr val="2F6FBF"/>
            </a:solidFill>
            <a:prstDash val="solid"/>
          </a:ln>
        </p:spPr>
      </p:sp>
      <p:pic>
        <p:nvPicPr>
          <p:cNvPr id="5" name="Image 0" descr="Nested ellipses around a single lowest point">    </p:cNvPr>
          <p:cNvPicPr>
            <a:picLocks noChangeAspect="1"/>
          </p:cNvPicPr>
          <p:nvPr/>
        </p:nvPicPr>
        <p:blipFill>
          <a:blip r:embed="rId1"/>
          <a:srcRect l="0" r="0" t="0" b="0"/>
          <a:stretch/>
        </p:blipFill>
        <p:spPr>
          <a:xfrm>
            <a:off x="1027500" y="2017973"/>
            <a:ext cx="1524000" cy="1143000"/>
          </a:xfrm>
          <a:prstGeom prst="rect">
            <a:avLst/>
          </a:prstGeom>
        </p:spPr>
      </p:pic>
      <p:sp>
        <p:nvSpPr>
          <p:cNvPr id="6" name="Text 3"/>
          <p:cNvSpPr/>
          <p:nvPr/>
        </p:nvSpPr>
        <p:spPr>
          <a:xfrm>
            <a:off x="2729282" y="2202743"/>
            <a:ext cx="3121695" cy="269253"/>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B2A3A"/>
                </a:solidFill>
                <a:latin typeface="IBM Plex Sans" pitchFamily="34" charset="0"/>
                <a:ea typeface="IBM Plex Sans" pitchFamily="34" charset="-122"/>
                <a:cs typeface="IBM Plex Sans" pitchFamily="34" charset="-120"/>
              </a:rPr>
              <a:t>Positive definite: a bowl</a:t>
            </a:r>
            <a:endParaRPr lang="en-US" sz="1600" dirty="0"/>
          </a:p>
        </p:txBody>
      </p:sp>
      <p:sp>
        <p:nvSpPr>
          <p:cNvPr id="7" name="Text 4"/>
          <p:cNvSpPr/>
          <p:nvPr/>
        </p:nvSpPr>
        <p:spPr>
          <a:xfrm>
            <a:off x="2729282" y="2497379"/>
            <a:ext cx="3121695" cy="504176"/>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3E4A56"/>
                </a:solidFill>
                <a:latin typeface="IBM Plex Sans" pitchFamily="34" charset="0"/>
                <a:ea typeface="IBM Plex Sans" pitchFamily="34" charset="-122"/>
                <a:cs typeface="IBM Plex Sans" pitchFamily="34" charset="-120"/>
              </a:rPr>
              <a:t>xᵀHx &gt; 0 for every x ≠ 0. All eigenvalues &gt; 0. One lowest point.</a:t>
            </a:r>
            <a:endParaRPr lang="en-US" sz="1300" dirty="0"/>
          </a:p>
        </p:txBody>
      </p:sp>
      <p:sp>
        <p:nvSpPr>
          <p:cNvPr id="8" name="Shape 5"/>
          <p:cNvSpPr/>
          <p:nvPr/>
        </p:nvSpPr>
        <p:spPr>
          <a:xfrm>
            <a:off x="6231948" y="1806426"/>
            <a:ext cx="5144095" cy="1566087"/>
          </a:xfrm>
          <a:prstGeom prst="roundRect">
            <a:avLst>
              <a:gd name="adj" fmla="val 6285"/>
            </a:avLst>
          </a:prstGeom>
          <a:solidFill>
            <a:srgbClr val="FDFCF9"/>
          </a:solidFill>
          <a:ln w="6350">
            <a:solidFill>
              <a:srgbClr val="D3DAE0"/>
            </a:solidFill>
            <a:prstDash val="solid"/>
          </a:ln>
        </p:spPr>
      </p:sp>
      <p:pic>
        <p:nvPicPr>
          <p:cNvPr id="9" name="Image 1" descr="Parallel lines around a flat valley floor with two equally low points">    </p:cNvPr>
          <p:cNvPicPr>
            <a:picLocks noChangeAspect="1"/>
          </p:cNvPicPr>
          <p:nvPr/>
        </p:nvPicPr>
        <p:blipFill>
          <a:blip r:embed="rId2"/>
          <a:srcRect l="0" r="0" t="0" b="0"/>
          <a:stretch/>
        </p:blipFill>
        <p:spPr>
          <a:xfrm>
            <a:off x="6437718" y="2012200"/>
            <a:ext cx="1524000" cy="1143000"/>
          </a:xfrm>
          <a:prstGeom prst="rect">
            <a:avLst/>
          </a:prstGeom>
        </p:spPr>
      </p:pic>
      <p:sp>
        <p:nvSpPr>
          <p:cNvPr id="10" name="Text 6"/>
          <p:cNvSpPr/>
          <p:nvPr/>
        </p:nvSpPr>
        <p:spPr>
          <a:xfrm>
            <a:off x="8139500" y="2077275"/>
            <a:ext cx="3121695" cy="269253"/>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B2A3A"/>
                </a:solidFill>
                <a:latin typeface="IBM Plex Sans" pitchFamily="34" charset="0"/>
                <a:ea typeface="IBM Plex Sans" pitchFamily="34" charset="-122"/>
                <a:cs typeface="IBM Plex Sans" pitchFamily="34" charset="-120"/>
              </a:rPr>
              <a:t>Semi-definite: a trough</a:t>
            </a:r>
            <a:endParaRPr lang="en-US" sz="1600" dirty="0"/>
          </a:p>
        </p:txBody>
      </p:sp>
      <p:sp>
        <p:nvSpPr>
          <p:cNvPr id="11" name="Text 7"/>
          <p:cNvSpPr/>
          <p:nvPr/>
        </p:nvSpPr>
        <p:spPr>
          <a:xfrm>
            <a:off x="8139500" y="2371911"/>
            <a:ext cx="3121695" cy="743563"/>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3E4A56"/>
                </a:solidFill>
                <a:latin typeface="IBM Plex Sans" pitchFamily="34" charset="0"/>
                <a:ea typeface="IBM Plex Sans" pitchFamily="34" charset="-122"/>
                <a:cs typeface="IBM Plex Sans" pitchFamily="34" charset="-120"/>
              </a:rPr>
              <a:t>xᵀHx ≥ 0, and = 0 along some x. An eigenvalue is 0. A whole line of lowest points.</a:t>
            </a:r>
            <a:endParaRPr lang="en-US" sz="1300" dirty="0"/>
          </a:p>
        </p:txBody>
      </p:sp>
      <p:sp>
        <p:nvSpPr>
          <p:cNvPr id="12" name="Text 8"/>
          <p:cNvSpPr/>
          <p:nvPr/>
        </p:nvSpPr>
        <p:spPr>
          <a:xfrm>
            <a:off x="812782" y="3604251"/>
            <a:ext cx="10883429" cy="301589"/>
          </a:xfrm>
          <a:prstGeom prst="rect">
            <a:avLst/>
          </a:prstGeom>
          <a:noFill/>
          <a:ln/>
        </p:spPr>
        <p:txBody>
          <a:bodyPr wrap="square" lIns="0" tIns="0" rIns="0" bIns="0" rtlCol="0" anchor="t">
            <a:normAutofit/>
          </a:bodyPr>
          <a:lstStyle/>
          <a:p>
            <a:pPr algn="l" indent="0" marL="0">
              <a:lnSpc>
                <a:spcPts val="2175"/>
              </a:lnSpc>
              <a:buNone/>
            </a:pPr>
            <a:r>
              <a:rPr lang="en-US" sz="1500" dirty="0">
                <a:solidFill>
                  <a:srgbClr val="3E4A56"/>
                </a:solidFill>
                <a:latin typeface="IBM Plex Sans" pitchFamily="34" charset="0"/>
                <a:ea typeface="IBM Plex Sans" pitchFamily="34" charset="-122"/>
                <a:cs typeface="IBM Plex Sans" pitchFamily="34" charset="-120"/>
              </a:rPr>
              <a:t>Back to the toy. Add a gauge term γ·d₁² (“pin batch 1’s drift near 0”):</a:t>
            </a:r>
            <a:endParaRPr lang="en-US" sz="1500" dirty="0"/>
          </a:p>
        </p:txBody>
      </p:sp>
      <p:sp>
        <p:nvSpPr>
          <p:cNvPr id="13" name="Text 9"/>
          <p:cNvSpPr/>
          <p:nvPr/>
        </p:nvSpPr>
        <p:spPr>
          <a:xfrm>
            <a:off x="815957" y="4112183"/>
            <a:ext cx="10560086" cy="1021105"/>
          </a:xfrm>
          <a:prstGeom prst="roundRect">
            <a:avLst>
              <a:gd name="adj" fmla="val 9639"/>
            </a:avLst>
          </a:prstGeom>
          <a:solidFill>
            <a:srgbClr val="FDFCF9"/>
          </a:solidFill>
          <a:ln w="6350">
            <a:solidFill>
              <a:srgbClr val="D3DAE0"/>
            </a:solidFill>
            <a:prstDash val="solid"/>
          </a:ln>
        </p:spPr>
        <p:txBody>
          <a:bodyPr wrap="square" lIns="176943" tIns="176970" rIns="0" bIns="151516" rtlCol="0" anchor="t">
            <a:normAutofit/>
          </a:bodyPr>
          <a:lstStyle/>
          <a:p>
            <a:pPr algn="l" indent="0" marL="0">
              <a:lnSpc>
                <a:spcPts val="2400"/>
              </a:lnSpc>
              <a:buNone/>
            </a:pPr>
            <a:r>
              <a:rPr lang="en-US" sz="1500" dirty="0">
                <a:solidFill>
                  <a:srgbClr val="1B2A3A"/>
                </a:solidFill>
                <a:latin typeface="JetBrains Mono" pitchFamily="49" charset="0"/>
                <a:ea typeface="JetBrains Mono" pitchFamily="49" charset="-122"/>
                <a:cs typeface="JetBrains Mono" pitchFamily="49" charset="-120"/>
              </a:rPr>
              <a:t>½ xᵀHx = (x₁ − x₂)² + γ·x₁²</a:t>
            </a:r>
            <a:endParaRPr lang="en-US" sz="1500" dirty="0"/>
          </a:p>
          <a:p>
            <a:pPr algn="l" indent="0" marL="0">
              <a:lnSpc>
                <a:spcPts val="2400"/>
              </a:lnSpc>
              <a:buNone/>
            </a:pPr>
            <a:r>
              <a:rPr lang="en-US" sz="1500" dirty="0">
                <a:solidFill>
                  <a:srgbClr val="1B2A3A"/>
                </a:solidFill>
                <a:latin typeface="JetBrains Mono" pitchFamily="49" charset="0"/>
                <a:ea typeface="JetBrains Mono" pitchFamily="49" charset="-122"/>
                <a:cs typeface="JetBrains Mono" pitchFamily="49" charset="-120"/>
              </a:rPr>
              <a:t>= 0 only if x₁ = x₂ and x₁ = 0, so only at x = 0 → a bowl</a:t>
            </a:r>
            <a:endParaRPr lang="en-US" sz="1500" dirty="0"/>
          </a:p>
        </p:txBody>
      </p:sp>
      <p:sp>
        <p:nvSpPr>
          <p:cNvPr id="14" name="Text 10"/>
          <p:cNvSpPr/>
          <p:nvPr/>
        </p:nvSpPr>
        <p:spPr>
          <a:xfrm>
            <a:off x="812782" y="6238286"/>
            <a:ext cx="1088338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682"/>
                </a:solidFill>
                <a:latin typeface="IBM Plex Sans" pitchFamily="34" charset="0"/>
                <a:ea typeface="IBM Plex Sans" pitchFamily="34" charset="-122"/>
                <a:cs typeface="IBM Plex Sans" pitchFamily="34" charset="-120"/>
              </a:rPr>
              <a:t>x is any direction you could step in; xᵀHx is how sharply the loss curves that way. The code also adds a tiny 10⁻⁸·N_eff to every diagonal entry.</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5F0"/>
        </a:solidFill>
      </p:bgPr>
    </p:bg>
    <p:spTree>
      <p:nvGrpSpPr>
        <p:cNvPr id="1" name=""/>
        <p:cNvGrpSpPr/>
        <p:nvPr/>
      </p:nvGrpSpPr>
      <p:grpSpPr>
        <a:xfrm>
          <a:off x="0" y="0"/>
          <a:ext cx="0" cy="0"/>
          <a:chOff x="0" y="0"/>
          <a:chExt cx="0" cy="0"/>
        </a:xfrm>
      </p:grpSpPr>
      <p:sp>
        <p:nvSpPr>
          <p:cNvPr id="2" name="Text 0"/>
          <p:cNvSpPr/>
          <p:nvPr/>
        </p:nvSpPr>
        <p:spPr>
          <a:xfrm>
            <a:off x="812782" y="812781"/>
            <a:ext cx="10883429"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2F6FBF"/>
                </a:solidFill>
                <a:latin typeface="IBM Plex Sans" pitchFamily="34" charset="0"/>
                <a:ea typeface="IBM Plex Sans" pitchFamily="34" charset="-122"/>
                <a:cs typeface="IBM Plex Sans" pitchFamily="34" charset="-120"/>
              </a:rPr>
              <a:t>Q9 · INTUITION</a:t>
            </a:r>
            <a:endParaRPr lang="en-US" sz="1200" dirty="0"/>
          </a:p>
        </p:txBody>
      </p:sp>
      <p:sp>
        <p:nvSpPr>
          <p:cNvPr id="3" name="Text 1"/>
          <p:cNvSpPr/>
          <p:nvPr>
            <p:ph type="title"/>
          </p:nvPr>
        </p:nvSpPr>
        <p:spPr>
          <a:xfrm>
            <a:off x="812782" y="1127665"/>
            <a:ext cx="10883429" cy="472426"/>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B2A3A"/>
                </a:solidFill>
                <a:latin typeface="Source Serif 4" pitchFamily="18" charset="0"/>
                <a:ea typeface="Source Serif 4" pitchFamily="18" charset="-122"/>
                <a:cs typeface="Source Serif 4" pitchFamily="18" charset="-120"/>
              </a:rPr>
              <a:t>The gauge nails the clock to the ground</a:t>
            </a:r>
            <a:endParaRPr lang="en-US" sz="3200" dirty="0"/>
          </a:p>
        </p:txBody>
      </p:sp>
      <p:sp>
        <p:nvSpPr>
          <p:cNvPr id="4" name="Text 2"/>
          <p:cNvSpPr/>
          <p:nvPr/>
        </p:nvSpPr>
        <p:spPr>
          <a:xfrm>
            <a:off x="812782" y="1942926"/>
            <a:ext cx="1701800" cy="274259"/>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B2A3A"/>
                </a:solidFill>
                <a:latin typeface="IBM Plex Sans" pitchFamily="34" charset="0"/>
                <a:ea typeface="IBM Plex Sans" pitchFamily="34" charset="-122"/>
                <a:cs typeface="IBM Plex Sans" pitchFamily="34" charset="-120"/>
              </a:rPr>
              <a:t>Measured</a:t>
            </a:r>
            <a:endParaRPr lang="en-US" sz="1400" dirty="0"/>
          </a:p>
        </p:txBody>
      </p:sp>
      <p:sp>
        <p:nvSpPr>
          <p:cNvPr id="5" name="Text 3"/>
          <p:cNvSpPr/>
          <p:nvPr/>
        </p:nvSpPr>
        <p:spPr>
          <a:xfrm>
            <a:off x="812782" y="2831926"/>
            <a:ext cx="1701800" cy="274259"/>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B2A3A"/>
                </a:solidFill>
                <a:latin typeface="IBM Plex Sans" pitchFamily="34" charset="0"/>
                <a:ea typeface="IBM Plex Sans" pitchFamily="34" charset="-122"/>
                <a:cs typeface="IBM Plex Sans" pitchFamily="34" charset="-120"/>
              </a:rPr>
              <a:t>All slide +2</a:t>
            </a:r>
            <a:endParaRPr lang="en-US" sz="1400" dirty="0"/>
          </a:p>
        </p:txBody>
      </p:sp>
      <p:sp>
        <p:nvSpPr>
          <p:cNvPr id="6" name="Shape 4"/>
          <p:cNvSpPr/>
          <p:nvPr/>
        </p:nvSpPr>
        <p:spPr>
          <a:xfrm>
            <a:off x="2590782" y="1993751"/>
            <a:ext cx="8788391" cy="50782"/>
          </a:xfrm>
          <a:prstGeom prst="roundRect">
            <a:avLst>
              <a:gd name="adj" fmla="val 50000"/>
            </a:avLst>
          </a:prstGeom>
          <a:solidFill>
            <a:srgbClr val="C9D3DC"/>
          </a:solidFill>
          <a:ln/>
        </p:spPr>
      </p:sp>
      <p:sp>
        <p:nvSpPr>
          <p:cNvPr id="7" name="Shape 5"/>
          <p:cNvSpPr/>
          <p:nvPr/>
        </p:nvSpPr>
        <p:spPr>
          <a:xfrm>
            <a:off x="2590782" y="2882751"/>
            <a:ext cx="8788391" cy="50782"/>
          </a:xfrm>
          <a:prstGeom prst="roundRect">
            <a:avLst>
              <a:gd name="adj" fmla="val 50000"/>
            </a:avLst>
          </a:prstGeom>
          <a:solidFill>
            <a:srgbClr val="C9D3DC"/>
          </a:solidFill>
          <a:ln/>
        </p:spPr>
      </p:sp>
      <p:sp>
        <p:nvSpPr>
          <p:cNvPr id="8" name="Shape 6"/>
          <p:cNvSpPr/>
          <p:nvPr/>
        </p:nvSpPr>
        <p:spPr>
          <a:xfrm>
            <a:off x="3352782" y="1892145"/>
            <a:ext cx="254000" cy="254000"/>
          </a:xfrm>
          <a:prstGeom prst="roundRect">
            <a:avLst>
              <a:gd name="adj" fmla="val 50000"/>
            </a:avLst>
          </a:prstGeom>
          <a:solidFill>
            <a:srgbClr val="2F6FBF"/>
          </a:solidFill>
          <a:ln/>
        </p:spPr>
      </p:sp>
      <p:sp>
        <p:nvSpPr>
          <p:cNvPr id="9" name="Shape 7"/>
          <p:cNvSpPr/>
          <p:nvPr/>
        </p:nvSpPr>
        <p:spPr>
          <a:xfrm>
            <a:off x="4876782" y="1892145"/>
            <a:ext cx="254000" cy="254000"/>
          </a:xfrm>
          <a:prstGeom prst="roundRect">
            <a:avLst>
              <a:gd name="adj" fmla="val 50000"/>
            </a:avLst>
          </a:prstGeom>
          <a:solidFill>
            <a:srgbClr val="2F6FBF"/>
          </a:solidFill>
          <a:ln/>
        </p:spPr>
      </p:sp>
      <p:sp>
        <p:nvSpPr>
          <p:cNvPr id="10" name="Shape 8"/>
          <p:cNvSpPr/>
          <p:nvPr/>
        </p:nvSpPr>
        <p:spPr>
          <a:xfrm>
            <a:off x="7162781" y="1892145"/>
            <a:ext cx="254000" cy="254000"/>
          </a:xfrm>
          <a:prstGeom prst="roundRect">
            <a:avLst>
              <a:gd name="adj" fmla="val 50000"/>
            </a:avLst>
          </a:prstGeom>
          <a:solidFill>
            <a:srgbClr val="2F6FBF"/>
          </a:solidFill>
          <a:ln/>
        </p:spPr>
      </p:sp>
      <p:sp>
        <p:nvSpPr>
          <p:cNvPr id="11" name="Shape 9"/>
          <p:cNvSpPr/>
          <p:nvPr/>
        </p:nvSpPr>
        <p:spPr>
          <a:xfrm>
            <a:off x="4876782" y="2781145"/>
            <a:ext cx="254000" cy="254000"/>
          </a:xfrm>
          <a:prstGeom prst="roundRect">
            <a:avLst>
              <a:gd name="adj" fmla="val 50000"/>
            </a:avLst>
          </a:prstGeom>
          <a:solidFill>
            <a:srgbClr val="C8641E"/>
          </a:solidFill>
          <a:ln/>
        </p:spPr>
      </p:sp>
      <p:sp>
        <p:nvSpPr>
          <p:cNvPr id="12" name="Shape 10"/>
          <p:cNvSpPr/>
          <p:nvPr/>
        </p:nvSpPr>
        <p:spPr>
          <a:xfrm>
            <a:off x="6400782" y="2781145"/>
            <a:ext cx="254000" cy="254000"/>
          </a:xfrm>
          <a:prstGeom prst="roundRect">
            <a:avLst>
              <a:gd name="adj" fmla="val 50000"/>
            </a:avLst>
          </a:prstGeom>
          <a:solidFill>
            <a:srgbClr val="C8641E"/>
          </a:solidFill>
          <a:ln/>
        </p:spPr>
      </p:sp>
      <p:sp>
        <p:nvSpPr>
          <p:cNvPr id="13" name="Shape 11"/>
          <p:cNvSpPr/>
          <p:nvPr/>
        </p:nvSpPr>
        <p:spPr>
          <a:xfrm>
            <a:off x="8686781" y="2781145"/>
            <a:ext cx="254000" cy="254000"/>
          </a:xfrm>
          <a:prstGeom prst="roundRect">
            <a:avLst>
              <a:gd name="adj" fmla="val 50000"/>
            </a:avLst>
          </a:prstGeom>
          <a:solidFill>
            <a:srgbClr val="C8641E"/>
          </a:solidFill>
          <a:ln/>
        </p:spPr>
      </p:sp>
      <p:sp>
        <p:nvSpPr>
          <p:cNvPr id="14" name="Text 12"/>
          <p:cNvSpPr/>
          <p:nvPr/>
        </p:nvSpPr>
        <p:spPr>
          <a:xfrm>
            <a:off x="3708382" y="2209645"/>
            <a:ext cx="1066800" cy="256535"/>
          </a:xfrm>
          <a:prstGeom prst="rect">
            <a:avLst/>
          </a:prstGeom>
          <a:noFill/>
          <a:ln/>
        </p:spPr>
        <p:txBody>
          <a:bodyPr wrap="square" lIns="0" tIns="0" rIns="0" bIns="0" rtlCol="0" anchor="t">
            <a:normAutofit/>
          </a:bodyPr>
          <a:lstStyle/>
          <a:p>
            <a:pPr algn="ctr" indent="0" marL="0">
              <a:lnSpc>
                <a:spcPts val="1820"/>
              </a:lnSpc>
              <a:buNone/>
            </a:pPr>
            <a:r>
              <a:rPr lang="en-US" sz="1300" dirty="0">
                <a:solidFill>
                  <a:srgbClr val="1B2A3A"/>
                </a:solidFill>
                <a:latin typeface="IBM Plex Sans" pitchFamily="34" charset="0"/>
                <a:ea typeface="IBM Plex Sans" pitchFamily="34" charset="-122"/>
                <a:cs typeface="IBM Plex Sans" pitchFamily="34" charset="-120"/>
              </a:rPr>
              <a:t>gap 2</a:t>
            </a:r>
            <a:endParaRPr lang="en-US" sz="1300" dirty="0"/>
          </a:p>
        </p:txBody>
      </p:sp>
      <p:sp>
        <p:nvSpPr>
          <p:cNvPr id="15" name="Text 13"/>
          <p:cNvSpPr/>
          <p:nvPr/>
        </p:nvSpPr>
        <p:spPr>
          <a:xfrm>
            <a:off x="5613382" y="2209645"/>
            <a:ext cx="1066800" cy="256535"/>
          </a:xfrm>
          <a:prstGeom prst="rect">
            <a:avLst/>
          </a:prstGeom>
          <a:noFill/>
          <a:ln/>
        </p:spPr>
        <p:txBody>
          <a:bodyPr wrap="square" lIns="0" tIns="0" rIns="0" bIns="0" rtlCol="0" anchor="t">
            <a:normAutofit/>
          </a:bodyPr>
          <a:lstStyle/>
          <a:p>
            <a:pPr algn="ctr" indent="0" marL="0">
              <a:lnSpc>
                <a:spcPts val="1820"/>
              </a:lnSpc>
              <a:buNone/>
            </a:pPr>
            <a:r>
              <a:rPr lang="en-US" sz="1300" dirty="0">
                <a:solidFill>
                  <a:srgbClr val="1B2A3A"/>
                </a:solidFill>
                <a:latin typeface="IBM Plex Sans" pitchFamily="34" charset="0"/>
                <a:ea typeface="IBM Plex Sans" pitchFamily="34" charset="-122"/>
                <a:cs typeface="IBM Plex Sans" pitchFamily="34" charset="-120"/>
              </a:rPr>
              <a:t>gap 3</a:t>
            </a:r>
            <a:endParaRPr lang="en-US" sz="1300" dirty="0"/>
          </a:p>
        </p:txBody>
      </p:sp>
      <p:sp>
        <p:nvSpPr>
          <p:cNvPr id="16" name="Text 14"/>
          <p:cNvSpPr/>
          <p:nvPr/>
        </p:nvSpPr>
        <p:spPr>
          <a:xfrm>
            <a:off x="5232382" y="3098645"/>
            <a:ext cx="1066800" cy="256535"/>
          </a:xfrm>
          <a:prstGeom prst="rect">
            <a:avLst/>
          </a:prstGeom>
          <a:noFill/>
          <a:ln/>
        </p:spPr>
        <p:txBody>
          <a:bodyPr wrap="square" lIns="0" tIns="0" rIns="0" bIns="0" rtlCol="0" anchor="t">
            <a:normAutofit/>
          </a:bodyPr>
          <a:lstStyle/>
          <a:p>
            <a:pPr algn="ctr" indent="0" marL="0">
              <a:lnSpc>
                <a:spcPts val="1820"/>
              </a:lnSpc>
              <a:buNone/>
            </a:pPr>
            <a:r>
              <a:rPr lang="en-US" sz="1300" dirty="0">
                <a:solidFill>
                  <a:srgbClr val="1B2A3A"/>
                </a:solidFill>
                <a:latin typeface="IBM Plex Sans" pitchFamily="34" charset="0"/>
                <a:ea typeface="IBM Plex Sans" pitchFamily="34" charset="-122"/>
                <a:cs typeface="IBM Plex Sans" pitchFamily="34" charset="-120"/>
              </a:rPr>
              <a:t>gap 2</a:t>
            </a:r>
            <a:endParaRPr lang="en-US" sz="1300" dirty="0"/>
          </a:p>
        </p:txBody>
      </p:sp>
      <p:sp>
        <p:nvSpPr>
          <p:cNvPr id="17" name="Text 15"/>
          <p:cNvSpPr/>
          <p:nvPr/>
        </p:nvSpPr>
        <p:spPr>
          <a:xfrm>
            <a:off x="7137381" y="3098645"/>
            <a:ext cx="1066800" cy="256535"/>
          </a:xfrm>
          <a:prstGeom prst="rect">
            <a:avLst/>
          </a:prstGeom>
          <a:noFill/>
          <a:ln/>
        </p:spPr>
        <p:txBody>
          <a:bodyPr wrap="square" lIns="0" tIns="0" rIns="0" bIns="0" rtlCol="0" anchor="t">
            <a:normAutofit/>
          </a:bodyPr>
          <a:lstStyle/>
          <a:p>
            <a:pPr algn="ctr" indent="0" marL="0">
              <a:lnSpc>
                <a:spcPts val="1820"/>
              </a:lnSpc>
              <a:buNone/>
            </a:pPr>
            <a:r>
              <a:rPr lang="en-US" sz="1300" dirty="0">
                <a:solidFill>
                  <a:srgbClr val="1B2A3A"/>
                </a:solidFill>
                <a:latin typeface="IBM Plex Sans" pitchFamily="34" charset="0"/>
                <a:ea typeface="IBM Plex Sans" pitchFamily="34" charset="-122"/>
                <a:cs typeface="IBM Plex Sans" pitchFamily="34" charset="-120"/>
              </a:rPr>
              <a:t>gap 3</a:t>
            </a:r>
            <a:endParaRPr lang="en-US" sz="1300" dirty="0"/>
          </a:p>
        </p:txBody>
      </p:sp>
      <p:sp>
        <p:nvSpPr>
          <p:cNvPr id="18" name="Text 16"/>
          <p:cNvSpPr/>
          <p:nvPr/>
        </p:nvSpPr>
        <p:spPr>
          <a:xfrm>
            <a:off x="812782" y="3619314"/>
            <a:ext cx="10883429" cy="577778"/>
          </a:xfrm>
          <a:prstGeom prst="rect">
            <a:avLst/>
          </a:prstGeom>
          <a:noFill/>
          <a:ln/>
        </p:spPr>
        <p:txBody>
          <a:bodyPr wrap="square" lIns="0" tIns="0" rIns="0" bIns="0" rtlCol="0" anchor="t">
            <a:normAutofit/>
          </a:bodyPr>
          <a:lstStyle/>
          <a:p>
            <a:pPr algn="l" indent="0" marL="0">
              <a:lnSpc>
                <a:spcPts val="2175"/>
              </a:lnSpc>
              <a:buNone/>
            </a:pPr>
            <a:r>
              <a:rPr lang="en-US" sz="1500" dirty="0">
                <a:solidFill>
                  <a:srgbClr val="3E4A56"/>
                </a:solidFill>
                <a:latin typeface="IBM Plex Sans" pitchFamily="34" charset="0"/>
                <a:ea typeface="IBM Plex Sans" pitchFamily="34" charset="-122"/>
                <a:cs typeface="IBM Plex Sans" pitchFamily="34" charset="-120"/>
              </a:rPr>
              <a:t>Anchors measure only the </a:t>
            </a:r>
            <a:r>
              <a:rPr lang="en-US" sz="1500" b="1" dirty="0">
                <a:solidFill>
                  <a:srgbClr val="3E4A56"/>
                </a:solidFill>
                <a:latin typeface="IBM Plex Sans" pitchFamily="34" charset="0"/>
                <a:ea typeface="IBM Plex Sans" pitchFamily="34" charset="-122"/>
                <a:cs typeface="IBM Plex Sans" pitchFamily="34" charset="-120"/>
              </a:rPr>
              <a:t>gaps</a:t>
            </a:r>
            <a:r>
              <a:rPr lang="en-US" sz="1500" dirty="0">
                <a:solidFill>
                  <a:srgbClr val="3E4A56"/>
                </a:solidFill>
                <a:latin typeface="IBM Plex Sans" pitchFamily="34" charset="0"/>
                <a:ea typeface="IBM Plex Sans" pitchFamily="34" charset="-122"/>
                <a:cs typeface="IBM Plex Sans" pitchFamily="34" charset="-120"/>
              </a:rPr>
              <a:t> between batches, like timing runners only against each other. Move everyone 2 forward and every gap is the same, so the data cannot say where zero is. The gauge adds that one missing rule.</a:t>
            </a:r>
            <a:endParaRPr lang="en-US" sz="1500" dirty="0"/>
          </a:p>
        </p:txBody>
      </p:sp>
      <p:sp>
        <p:nvSpPr>
          <p:cNvPr id="19" name="Shape 17"/>
          <p:cNvSpPr/>
          <p:nvPr/>
        </p:nvSpPr>
        <p:spPr>
          <a:xfrm>
            <a:off x="819132" y="4406609"/>
            <a:ext cx="5174681" cy="1252249"/>
          </a:xfrm>
          <a:prstGeom prst="roundRect">
            <a:avLst>
              <a:gd name="adj" fmla="val 7606"/>
            </a:avLst>
          </a:prstGeom>
          <a:solidFill>
            <a:srgbClr val="FDFCF9"/>
          </a:solidFill>
          <a:ln w="12700">
            <a:solidFill>
              <a:srgbClr val="2F6FBF"/>
            </a:solidFill>
            <a:prstDash val="solid"/>
          </a:ln>
        </p:spPr>
      </p:sp>
      <p:sp>
        <p:nvSpPr>
          <p:cNvPr id="20" name="Text 18"/>
          <p:cNvSpPr/>
          <p:nvPr/>
        </p:nvSpPr>
        <p:spPr>
          <a:xfrm>
            <a:off x="1027500" y="4614974"/>
            <a:ext cx="4900683" cy="269253"/>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B2A3A"/>
                </a:solidFill>
                <a:latin typeface="IBM Plex Sans" pitchFamily="34" charset="0"/>
                <a:ea typeface="IBM Plex Sans" pitchFamily="34" charset="-122"/>
                <a:cs typeface="IBM Plex Sans" pitchFamily="34" charset="-120"/>
              </a:rPr>
              <a:t>Reference gauge (the paper’s default)</a:t>
            </a:r>
            <a:endParaRPr lang="en-US" sz="1600" dirty="0"/>
          </a:p>
        </p:txBody>
      </p:sp>
      <p:sp>
        <p:nvSpPr>
          <p:cNvPr id="21" name="Text 19"/>
          <p:cNvSpPr/>
          <p:nvPr/>
        </p:nvSpPr>
        <p:spPr>
          <a:xfrm>
            <a:off x="1027500" y="4935004"/>
            <a:ext cx="4900683" cy="540887"/>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3E4A56"/>
                </a:solidFill>
                <a:latin typeface="IBM Plex Sans" pitchFamily="34" charset="0"/>
                <a:ea typeface="IBM Plex Sans" pitchFamily="34" charset="-122"/>
                <a:cs typeface="IBM Plex Sans" pitchFamily="34" charset="-120"/>
              </a:rPr>
              <a:t>One batch is zero: L θ_r = 0. Its clock is the shared clock. Here r = sep2015, the batch with the most anchors.</a:t>
            </a:r>
            <a:endParaRPr lang="en-US" sz="1400" dirty="0"/>
          </a:p>
        </p:txBody>
      </p:sp>
      <p:sp>
        <p:nvSpPr>
          <p:cNvPr id="22" name="Shape 20"/>
          <p:cNvSpPr/>
          <p:nvPr/>
        </p:nvSpPr>
        <p:spPr>
          <a:xfrm>
            <a:off x="6206511" y="4403434"/>
            <a:ext cx="5169531" cy="1258599"/>
          </a:xfrm>
          <a:prstGeom prst="roundRect">
            <a:avLst>
              <a:gd name="adj" fmla="val 7820"/>
            </a:avLst>
          </a:prstGeom>
          <a:solidFill>
            <a:srgbClr val="FDFCF9"/>
          </a:solidFill>
          <a:ln w="6350">
            <a:solidFill>
              <a:srgbClr val="D3DAE0"/>
            </a:solidFill>
            <a:prstDash val="solid"/>
          </a:ln>
        </p:spPr>
      </p:sp>
      <p:sp>
        <p:nvSpPr>
          <p:cNvPr id="23" name="Text 21"/>
          <p:cNvSpPr/>
          <p:nvPr/>
        </p:nvSpPr>
        <p:spPr>
          <a:xfrm>
            <a:off x="6412282" y="4609201"/>
            <a:ext cx="4900730" cy="269253"/>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B2A3A"/>
                </a:solidFill>
                <a:latin typeface="IBM Plex Sans" pitchFamily="34" charset="0"/>
                <a:ea typeface="IBM Plex Sans" pitchFamily="34" charset="-122"/>
                <a:cs typeface="IBM Plex Sans" pitchFamily="34" charset="-120"/>
              </a:rPr>
              <a:t>Mean gauge</a:t>
            </a:r>
            <a:endParaRPr lang="en-US" sz="1600" dirty="0"/>
          </a:p>
        </p:txBody>
      </p:sp>
      <p:sp>
        <p:nvSpPr>
          <p:cNvPr id="24" name="Text 22"/>
          <p:cNvSpPr/>
          <p:nvPr/>
        </p:nvSpPr>
        <p:spPr>
          <a:xfrm>
            <a:off x="6412282" y="4929231"/>
            <a:ext cx="4900730" cy="540887"/>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3E4A56"/>
                </a:solidFill>
                <a:latin typeface="IBM Plex Sans" pitchFamily="34" charset="0"/>
                <a:ea typeface="IBM Plex Sans" pitchFamily="34" charset="-122"/>
                <a:cs typeface="IBM Plex Sans" pitchFamily="34" charset="-120"/>
              </a:rPr>
              <a:t>The drifts add to zero at every knot: Σₖ L θₖ = 0. The shared clock is the batches’ average.</a:t>
            </a:r>
            <a:endParaRPr lang="en-US" sz="1400" dirty="0"/>
          </a:p>
        </p:txBody>
      </p:sp>
      <p:sp>
        <p:nvSpPr>
          <p:cNvPr id="25" name="Text 23"/>
          <p:cNvSpPr/>
          <p:nvPr/>
        </p:nvSpPr>
        <p:spPr>
          <a:xfrm>
            <a:off x="812782" y="6238286"/>
            <a:ext cx="1088338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682"/>
                </a:solidFill>
                <a:latin typeface="IBM Plex Sans" pitchFamily="34" charset="0"/>
                <a:ea typeface="IBM Plex Sans" pitchFamily="34" charset="-122"/>
                <a:cs typeface="IBM Plex Sans" pitchFamily="34" charset="-120"/>
              </a:rPr>
              <a:t>Added as a strong penalty γ‖Gθ‖² with γ = 10³·N_eff/Q, so the rule holds almost exactly. Paper Eq. (4).</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ECF0F3"/>
        </a:solidFill>
      </p:bgPr>
    </p:bg>
    <p:spTree>
      <p:nvGrpSpPr>
        <p:cNvPr id="1" name=""/>
        <p:cNvGrpSpPr/>
        <p:nvPr/>
      </p:nvGrpSpPr>
      <p:grpSpPr>
        <a:xfrm>
          <a:off x="0" y="0"/>
          <a:ext cx="0" cy="0"/>
          <a:chOff x="0" y="0"/>
          <a:chExt cx="0" cy="0"/>
        </a:xfrm>
      </p:grpSpPr>
      <p:sp>
        <p:nvSpPr>
          <p:cNvPr id="2" name="Text 0"/>
          <p:cNvSpPr/>
          <p:nvPr/>
        </p:nvSpPr>
        <p:spPr>
          <a:xfrm>
            <a:off x="812782" y="812788"/>
            <a:ext cx="10883429"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2F6FBF"/>
                </a:solidFill>
                <a:latin typeface="IBM Plex Sans" pitchFamily="34" charset="0"/>
                <a:ea typeface="IBM Plex Sans" pitchFamily="34" charset="-122"/>
                <a:cs typeface="IBM Plex Sans" pitchFamily="34" charset="-120"/>
              </a:rPr>
              <a:t>Q9 · MATHS · A CORRECTION</a:t>
            </a:r>
            <a:endParaRPr lang="en-US" sz="1200" dirty="0"/>
          </a:p>
        </p:txBody>
      </p:sp>
      <p:sp>
        <p:nvSpPr>
          <p:cNvPr id="3" name="Text 1"/>
          <p:cNvSpPr/>
          <p:nvPr>
            <p:ph type="title"/>
          </p:nvPr>
        </p:nvSpPr>
        <p:spPr>
          <a:xfrm>
            <a:off x="812782" y="1127671"/>
            <a:ext cx="10883429" cy="472426"/>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B2A3A"/>
                </a:solidFill>
                <a:latin typeface="Source Serif 4" pitchFamily="18" charset="0"/>
                <a:ea typeface="Source Serif 4" pitchFamily="18" charset="-122"/>
                <a:cs typeface="Source Serif 4" pitchFamily="18" charset="-120"/>
              </a:rPr>
              <a:t>Gauges differ in the clock’s shape, not its shift</a:t>
            </a:r>
            <a:endParaRPr lang="en-US" sz="3200" dirty="0"/>
          </a:p>
        </p:txBody>
      </p:sp>
      <p:sp>
        <p:nvSpPr>
          <p:cNvPr id="4" name="Shape 2"/>
          <p:cNvSpPr/>
          <p:nvPr/>
        </p:nvSpPr>
        <p:spPr>
          <a:xfrm>
            <a:off x="815957" y="1781045"/>
            <a:ext cx="5169486" cy="1369814"/>
          </a:xfrm>
          <a:prstGeom prst="roundRect">
            <a:avLst>
              <a:gd name="adj" fmla="val 7185"/>
            </a:avLst>
          </a:prstGeom>
          <a:solidFill>
            <a:srgbClr val="FDFCF9"/>
          </a:solidFill>
          <a:ln w="6350">
            <a:solidFill>
              <a:srgbClr val="D3DAE0"/>
            </a:solidFill>
            <a:prstDash val="solid"/>
          </a:ln>
        </p:spPr>
      </p:sp>
      <p:sp>
        <p:nvSpPr>
          <p:cNvPr id="5" name="Text 3"/>
          <p:cNvSpPr/>
          <p:nvPr/>
        </p:nvSpPr>
        <p:spPr>
          <a:xfrm>
            <a:off x="996337" y="1961424"/>
            <a:ext cx="4952988" cy="253964"/>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B2A3A"/>
                </a:solidFill>
                <a:latin typeface="IBM Plex Sans" pitchFamily="34" charset="0"/>
                <a:ea typeface="IBM Plex Sans" pitchFamily="34" charset="-122"/>
                <a:cs typeface="IBM Plex Sans" pitchFamily="34" charset="-120"/>
              </a:rPr>
              <a:t>A constant shift changes nothing</a:t>
            </a:r>
            <a:endParaRPr lang="en-US" sz="1500" dirty="0"/>
          </a:p>
        </p:txBody>
      </p:sp>
      <p:sp>
        <p:nvSpPr>
          <p:cNvPr id="6" name="Text 4"/>
          <p:cNvSpPr/>
          <p:nvPr/>
        </p:nvSpPr>
        <p:spPr>
          <a:xfrm>
            <a:off x="996337" y="2240769"/>
            <a:ext cx="4952988" cy="743563"/>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3E4A56"/>
                </a:solidFill>
                <a:latin typeface="IBM Plex Sans" pitchFamily="34" charset="0"/>
                <a:ea typeface="IBM Plex Sans" pitchFamily="34" charset="-122"/>
                <a:cs typeface="IBM Plex Sans" pitchFamily="34" charset="-120"/>
              </a:rPr>
              <a:t>Add s to every drift: misses unchanged, second differences of a constant are 0, and c has no bound. Penalty and bounds are untouched too.</a:t>
            </a:r>
            <a:endParaRPr lang="en-US" sz="1300" dirty="0"/>
          </a:p>
        </p:txBody>
      </p:sp>
      <p:sp>
        <p:nvSpPr>
          <p:cNvPr id="7" name="Shape 5"/>
          <p:cNvSpPr/>
          <p:nvPr/>
        </p:nvSpPr>
        <p:spPr>
          <a:xfrm>
            <a:off x="6198141" y="1784220"/>
            <a:ext cx="5174727" cy="1363464"/>
          </a:xfrm>
          <a:prstGeom prst="roundRect">
            <a:avLst>
              <a:gd name="adj" fmla="val 6986"/>
            </a:avLst>
          </a:prstGeom>
          <a:solidFill>
            <a:srgbClr val="FDFCF9"/>
          </a:solidFill>
          <a:ln w="12700">
            <a:solidFill>
              <a:srgbClr val="C8641E"/>
            </a:solidFill>
            <a:prstDash val="solid"/>
          </a:ln>
        </p:spPr>
      </p:sp>
      <p:sp>
        <p:nvSpPr>
          <p:cNvPr id="8" name="Text 6"/>
          <p:cNvSpPr/>
          <p:nvPr/>
        </p:nvSpPr>
        <p:spPr>
          <a:xfrm>
            <a:off x="6381118" y="1967198"/>
            <a:ext cx="4953035" cy="253964"/>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B2A3A"/>
                </a:solidFill>
                <a:latin typeface="IBM Plex Sans" pitchFamily="34" charset="0"/>
                <a:ea typeface="IBM Plex Sans" pitchFamily="34" charset="-122"/>
                <a:cs typeface="IBM Plex Sans" pitchFamily="34" charset="-120"/>
              </a:rPr>
              <a:t>A common bend does matter</a:t>
            </a:r>
            <a:endParaRPr lang="en-US" sz="1500" dirty="0"/>
          </a:p>
        </p:txBody>
      </p:sp>
      <p:sp>
        <p:nvSpPr>
          <p:cNvPr id="9" name="Text 7"/>
          <p:cNvSpPr/>
          <p:nvPr/>
        </p:nvSpPr>
        <p:spPr>
          <a:xfrm>
            <a:off x="6381118" y="2246542"/>
            <a:ext cx="4953035" cy="743563"/>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3E4A56"/>
                </a:solidFill>
                <a:latin typeface="IBM Plex Sans" pitchFamily="34" charset="0"/>
                <a:ea typeface="IBM Plex Sans" pitchFamily="34" charset="-122"/>
                <a:cs typeface="IBM Plex Sans" pitchFamily="34" charset="-120"/>
              </a:rPr>
              <a:t>Each gauge pins a whole curve (41 knot values). Bending the clock, fₖ → h ∘ fₖ for every k, leaves every map the same but changes each warp’s wiggle.</a:t>
            </a:r>
            <a:endParaRPr lang="en-US" sz="1300" dirty="0"/>
          </a:p>
        </p:txBody>
      </p:sp>
      <p:pic>
        <p:nvPicPr>
          <p:cNvPr id="10" name="Image 0" descr="Reference gauge: batch 1 is flat and batch 2 carries the whole bump">    </p:cNvPr>
          <p:cNvPicPr>
            <a:picLocks noChangeAspect="1"/>
          </p:cNvPicPr>
          <p:nvPr/>
        </p:nvPicPr>
        <p:blipFill>
          <a:blip r:embed="rId1"/>
          <a:srcRect l="0" r="0" t="0" b="0"/>
          <a:stretch/>
        </p:blipFill>
        <p:spPr>
          <a:xfrm>
            <a:off x="812782" y="3357203"/>
            <a:ext cx="3175000" cy="1397000"/>
          </a:xfrm>
          <a:prstGeom prst="rect">
            <a:avLst/>
          </a:prstGeom>
        </p:spPr>
      </p:pic>
      <p:sp>
        <p:nvSpPr>
          <p:cNvPr id="11" name="Text 8"/>
          <p:cNvSpPr/>
          <p:nvPr/>
        </p:nvSpPr>
        <p:spPr>
          <a:xfrm>
            <a:off x="812782" y="4804984"/>
            <a:ext cx="32702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682"/>
                </a:solidFill>
                <a:latin typeface="IBM Plex Sans" pitchFamily="34" charset="0"/>
                <a:ea typeface="IBM Plex Sans" pitchFamily="34" charset="-122"/>
                <a:cs typeface="IBM Plex Sans" pitchFamily="34" charset="-120"/>
              </a:rPr>
              <a:t>Reference: d₁ = 0 (blue), d₂ = e (orange)</a:t>
            </a:r>
            <a:endParaRPr lang="en-US" sz="1200" dirty="0"/>
          </a:p>
        </p:txBody>
      </p:sp>
      <p:pic>
        <p:nvPicPr>
          <p:cNvPr id="12" name="Image 1" descr="Mean gauge: each batch carries half the bump, in opposite directions">    </p:cNvPr>
          <p:cNvPicPr>
            <a:picLocks noChangeAspect="1"/>
          </p:cNvPicPr>
          <p:nvPr/>
        </p:nvPicPr>
        <p:blipFill>
          <a:blip r:embed="rId2"/>
          <a:srcRect l="0" r="0" t="0" b="0"/>
          <a:stretch/>
        </p:blipFill>
        <p:spPr>
          <a:xfrm>
            <a:off x="4190955" y="3357203"/>
            <a:ext cx="3175000" cy="1397000"/>
          </a:xfrm>
          <a:prstGeom prst="rect">
            <a:avLst/>
          </a:prstGeom>
        </p:spPr>
      </p:pic>
      <p:sp>
        <p:nvSpPr>
          <p:cNvPr id="13" name="Text 9"/>
          <p:cNvSpPr/>
          <p:nvPr/>
        </p:nvSpPr>
        <p:spPr>
          <a:xfrm>
            <a:off x="4190955" y="4804984"/>
            <a:ext cx="32702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682"/>
                </a:solidFill>
                <a:latin typeface="IBM Plex Sans" pitchFamily="34" charset="0"/>
                <a:ea typeface="IBM Plex Sans" pitchFamily="34" charset="-122"/>
                <a:cs typeface="IBM Plex Sans" pitchFamily="34" charset="-120"/>
              </a:rPr>
              <a:t>Mean: d₁ = −e/2, d₂ = +e/2</a:t>
            </a:r>
            <a:endParaRPr lang="en-US" sz="1200" dirty="0"/>
          </a:p>
        </p:txBody>
      </p:sp>
      <p:sp>
        <p:nvSpPr>
          <p:cNvPr id="14" name="Text 10"/>
          <p:cNvSpPr/>
          <p:nvPr/>
        </p:nvSpPr>
        <p:spPr>
          <a:xfrm>
            <a:off x="7569128" y="3646109"/>
            <a:ext cx="3924393" cy="504176"/>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3E4A56"/>
                </a:solidFill>
                <a:latin typeface="IBM Plex Sans" pitchFamily="34" charset="0"/>
                <a:ea typeface="IBM Plex Sans" pitchFamily="34" charset="-122"/>
                <a:cs typeface="IBM Plex Sans" pitchFamily="34" charset="-120"/>
              </a:rPr>
              <a:t>Same gap e between the batches, so nearly the same map. Smoothness penalty:</a:t>
            </a:r>
            <a:endParaRPr lang="en-US" sz="1300" dirty="0"/>
          </a:p>
        </p:txBody>
      </p:sp>
      <p:sp>
        <p:nvSpPr>
          <p:cNvPr id="15" name="Text 11"/>
          <p:cNvSpPr/>
          <p:nvPr/>
        </p:nvSpPr>
        <p:spPr>
          <a:xfrm>
            <a:off x="7569128" y="4201058"/>
            <a:ext cx="3924393" cy="553695"/>
          </a:xfrm>
          <a:prstGeom prst="rect">
            <a:avLst/>
          </a:prstGeom>
          <a:noFill/>
          <a:ln/>
        </p:spPr>
        <p:txBody>
          <a:bodyPr wrap="square" lIns="0" tIns="0" rIns="0" bIns="0" rtlCol="0" anchor="t">
            <a:normAutofit/>
          </a:bodyPr>
          <a:lstStyle/>
          <a:p>
            <a:pPr algn="l" indent="0" marL="0">
              <a:lnSpc>
                <a:spcPts val="2080"/>
              </a:lnSpc>
              <a:buNone/>
            </a:pPr>
            <a:r>
              <a:rPr lang="en-US" sz="1300" dirty="0">
                <a:solidFill>
                  <a:srgbClr val="1B2A3A"/>
                </a:solidFill>
                <a:latin typeface="JetBrains Mono" pitchFamily="49" charset="0"/>
                <a:ea typeface="JetBrains Mono" pitchFamily="49" charset="-122"/>
                <a:cs typeface="JetBrains Mono" pitchFamily="49" charset="-120"/>
              </a:rPr>
              <a:t>ref: ‖D₂e‖²</a:t>
            </a:r>
            <a:endParaRPr lang="en-US" sz="1300" dirty="0"/>
          </a:p>
          <a:p>
            <a:pPr algn="l" indent="0" marL="0">
              <a:lnSpc>
                <a:spcPts val="2080"/>
              </a:lnSpc>
              <a:buNone/>
            </a:pPr>
            <a:r>
              <a:rPr lang="en-US" sz="1300" dirty="0">
                <a:solidFill>
                  <a:srgbClr val="1B2A3A"/>
                </a:solidFill>
                <a:latin typeface="JetBrains Mono" pitchFamily="49" charset="0"/>
                <a:ea typeface="JetBrains Mono" pitchFamily="49" charset="-122"/>
                <a:cs typeface="JetBrains Mono" pitchFamily="49" charset="-120"/>
              </a:rPr>
              <a:t>mean: 2·‖D₂e/2‖² = ½‖D₂e‖²</a:t>
            </a:r>
            <a:endParaRPr lang="en-US" sz="1300" dirty="0"/>
          </a:p>
        </p:txBody>
      </p:sp>
      <p:sp>
        <p:nvSpPr>
          <p:cNvPr id="16" name="Text 12"/>
          <p:cNvSpPr/>
          <p:nvPr/>
        </p:nvSpPr>
        <p:spPr>
          <a:xfrm>
            <a:off x="812782" y="5221480"/>
            <a:ext cx="10883429" cy="540887"/>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1B2A3A"/>
                </a:solidFill>
                <a:latin typeface="IBM Plex Sans" pitchFamily="34" charset="0"/>
                <a:ea typeface="IBM Plex Sans" pitchFamily="34" charset="-122"/>
                <a:cs typeface="IBM Plex Sans" pitchFamily="34" charset="-120"/>
              </a:rPr>
              <a:t>So one λ smooths the same relative drift </a:t>
            </a:r>
            <a:r>
              <a:rPr lang="en-US" sz="1400" b="1" dirty="0">
                <a:solidFill>
                  <a:srgbClr val="1B2A3A"/>
                </a:solidFill>
                <a:latin typeface="IBM Plex Sans" pitchFamily="34" charset="0"/>
                <a:ea typeface="IBM Plex Sans" pitchFamily="34" charset="-122"/>
                <a:cs typeface="IBM Plex Sans" pitchFamily="34" charset="-120"/>
              </a:rPr>
              <a:t>half as hard</a:t>
            </a:r>
            <a:r>
              <a:rPr lang="en-US" sz="1400" dirty="0">
                <a:solidFill>
                  <a:srgbClr val="1B2A3A"/>
                </a:solidFill>
                <a:latin typeface="IBM Plex Sans" pitchFamily="34" charset="0"/>
                <a:ea typeface="IBM Plex Sans" pitchFamily="34" charset="-122"/>
                <a:cs typeface="IBM Plex Sans" pitchFamily="34" charset="-120"/>
              </a:rPr>
              <a:t> under the mean gauge in this two-batch toy. That is how the gauge interacts with the smoothness penalty.</a:t>
            </a:r>
            <a:endParaRPr lang="en-US" sz="1400" dirty="0"/>
          </a:p>
        </p:txBody>
      </p:sp>
      <p:sp>
        <p:nvSpPr>
          <p:cNvPr id="17" name="Text 13"/>
          <p:cNvSpPr/>
          <p:nvPr/>
        </p:nvSpPr>
        <p:spPr>
          <a:xfrm>
            <a:off x="812782" y="6024972"/>
            <a:ext cx="10883382"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682"/>
                </a:solidFill>
                <a:latin typeface="IBM Plex Sans" pitchFamily="34" charset="0"/>
                <a:ea typeface="IBM Plex Sans" pitchFamily="34" charset="-122"/>
                <a:cs typeface="IBM Plex Sans" pitchFamily="34" charset="-120"/>
              </a:rPr>
              <a:t>The chat said changing the gauge “shifts” the clock and so changes the penalty. A shift cannot; a bend can. The toy is a first-order sketch, not a result from the paper.</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5F0"/>
        </a:solidFill>
      </p:bgPr>
    </p:bg>
    <p:spTree>
      <p:nvGrpSpPr>
        <p:cNvPr id="1" name=""/>
        <p:cNvGrpSpPr/>
        <p:nvPr/>
      </p:nvGrpSpPr>
      <p:grpSpPr>
        <a:xfrm>
          <a:off x="0" y="0"/>
          <a:ext cx="0" cy="0"/>
          <a:chOff x="0" y="0"/>
          <a:chExt cx="0" cy="0"/>
        </a:xfrm>
      </p:grpSpPr>
      <p:sp>
        <p:nvSpPr>
          <p:cNvPr id="2" name="Text 0"/>
          <p:cNvSpPr/>
          <p:nvPr/>
        </p:nvSpPr>
        <p:spPr>
          <a:xfrm>
            <a:off x="812782" y="812788"/>
            <a:ext cx="10883429" cy="216125"/>
          </a:xfrm>
          <a:prstGeom prst="rect">
            <a:avLst/>
          </a:prstGeom>
          <a:noFill/>
          <a:ln/>
        </p:spPr>
        <p:txBody>
          <a:bodyPr wrap="square" lIns="0" tIns="0" rIns="0" bIns="0" rtlCol="0" anchor="t">
            <a:normAutofit/>
          </a:bodyPr>
          <a:lstStyle/>
          <a:p>
            <a:pPr algn="l" indent="0" marL="0">
              <a:lnSpc>
                <a:spcPts val="1523"/>
              </a:lnSpc>
              <a:buNone/>
            </a:pPr>
            <a:r>
              <a:rPr lang="en-US" sz="1088" b="1" spc="100" kern="0" dirty="0">
                <a:solidFill>
                  <a:srgbClr val="2F6FBF"/>
                </a:solidFill>
                <a:latin typeface="IBM Plex Sans" pitchFamily="34" charset="0"/>
                <a:ea typeface="IBM Plex Sans" pitchFamily="34" charset="-122"/>
                <a:cs typeface="IBM Plex Sans" pitchFamily="34" charset="-120"/>
              </a:rPr>
              <a:t>Q9 · WORKED EXAMPLE: SHIFT VS SHAPE</a:t>
            </a:r>
            <a:endParaRPr lang="en-US" sz="1088" dirty="0"/>
          </a:p>
        </p:txBody>
      </p:sp>
      <p:sp>
        <p:nvSpPr>
          <p:cNvPr id="3" name="Text 1"/>
          <p:cNvSpPr/>
          <p:nvPr>
            <p:ph type="title"/>
          </p:nvPr>
        </p:nvSpPr>
        <p:spPr>
          <a:xfrm>
            <a:off x="812782" y="1105074"/>
            <a:ext cx="11379218" cy="824652"/>
          </a:xfrm>
          <a:prstGeom prst="rect">
            <a:avLst/>
          </a:prstGeom>
          <a:noFill/>
          <a:ln/>
        </p:spPr>
        <p:txBody>
          <a:bodyPr wrap="square" lIns="0" tIns="0" rIns="0" bIns="0" rtlCol="0" anchor="t">
            <a:normAutofit/>
          </a:bodyPr>
          <a:lstStyle/>
          <a:p>
            <a:pPr algn="l" indent="0" marL="0">
              <a:lnSpc>
                <a:spcPts val="3454"/>
              </a:lnSpc>
              <a:buNone/>
            </a:pPr>
            <a:r>
              <a:rPr lang="en-US" sz="3140" b="1" i="0" dirty="0">
                <a:solidFill>
                  <a:srgbClr val="1B2A3A"/>
                </a:solidFill>
                <a:latin typeface="Source Serif 4" pitchFamily="18" charset="0"/>
                <a:ea typeface="Source Serif 4" pitchFamily="18" charset="-122"/>
                <a:cs typeface="Source Serif 4" pitchFamily="18" charset="-120"/>
              </a:rPr>
              <a:t>Slide the ruler or stretch it: same maps, different bends</a:t>
            </a:r>
            <a:endParaRPr lang="en-US" sz="3140" dirty="0"/>
          </a:p>
        </p:txBody>
      </p:sp>
      <p:sp>
        <p:nvSpPr>
          <p:cNvPr id="4" name="Text 2"/>
          <p:cNvSpPr/>
          <p:nvPr/>
        </p:nvSpPr>
        <p:spPr>
          <a:xfrm>
            <a:off x="812782" y="2132893"/>
            <a:ext cx="10883429" cy="490871"/>
          </a:xfrm>
          <a:prstGeom prst="rect">
            <a:avLst/>
          </a:prstGeom>
          <a:noFill/>
          <a:ln/>
        </p:spPr>
        <p:txBody>
          <a:bodyPr wrap="square" lIns="0" tIns="0" rIns="0" bIns="0" rtlCol="0" anchor="t">
            <a:normAutofit/>
          </a:bodyPr>
          <a:lstStyle/>
          <a:p>
            <a:pPr algn="l" indent="0" marL="0">
              <a:lnSpc>
                <a:spcPts val="1833"/>
              </a:lnSpc>
              <a:buNone/>
            </a:pPr>
            <a:r>
              <a:rPr lang="en-US" sz="1264" dirty="0">
                <a:solidFill>
                  <a:srgbClr val="3E4A56"/>
                </a:solidFill>
                <a:latin typeface="IBM Plex Sans" pitchFamily="34" charset="0"/>
                <a:ea typeface="IBM Plex Sans" pitchFamily="34" charset="-122"/>
                <a:cs typeface="IBM Plex Sans" pitchFamily="34" charset="-120"/>
              </a:rPr>
              <a:t>Two batches. Compounds at 10, 20, 30 in A sit at 10, </a:t>
            </a:r>
            <a:r>
              <a:rPr lang="en-US" sz="1264" b="1" dirty="0">
                <a:solidFill>
                  <a:srgbClr val="3E4A56"/>
                </a:solidFill>
                <a:latin typeface="IBM Plex Sans" pitchFamily="34" charset="0"/>
                <a:ea typeface="IBM Plex Sans" pitchFamily="34" charset="-122"/>
                <a:cs typeface="IBM Plex Sans" pitchFamily="34" charset="-120"/>
              </a:rPr>
              <a:t>23</a:t>
            </a:r>
            <a:r>
              <a:rPr lang="en-US" sz="1264" dirty="0">
                <a:solidFill>
                  <a:srgbClr val="3E4A56"/>
                </a:solidFill>
                <a:latin typeface="IBM Plex Sans" pitchFamily="34" charset="0"/>
                <a:ea typeface="IBM Plex Sans" pitchFamily="34" charset="-122"/>
                <a:cs typeface="IBM Plex Sans" pitchFamily="34" charset="-120"/>
              </a:rPr>
              <a:t>, 30 in B: a bump of 3 in the middle. Plot each batch’s drift at those three compounds (clock time minus its own time) under three choices of clock.</a:t>
            </a:r>
            <a:endParaRPr lang="en-US" sz="1264" dirty="0"/>
          </a:p>
        </p:txBody>
      </p:sp>
      <p:sp>
        <p:nvSpPr>
          <p:cNvPr id="5" name="Shape 3"/>
          <p:cNvSpPr/>
          <p:nvPr/>
        </p:nvSpPr>
        <p:spPr>
          <a:xfrm>
            <a:off x="815957" y="2830103"/>
            <a:ext cx="3393425" cy="2314692"/>
          </a:xfrm>
          <a:prstGeom prst="roundRect">
            <a:avLst>
              <a:gd name="adj" fmla="val 4252"/>
            </a:avLst>
          </a:prstGeom>
          <a:solidFill>
            <a:srgbClr val="FDFCF9"/>
          </a:solidFill>
          <a:ln w="6350">
            <a:solidFill>
              <a:srgbClr val="D3DAE0"/>
            </a:solidFill>
            <a:prstDash val="solid"/>
          </a:ln>
        </p:spPr>
      </p:sp>
      <p:sp>
        <p:nvSpPr>
          <p:cNvPr id="6" name="Text 4"/>
          <p:cNvSpPr/>
          <p:nvPr/>
        </p:nvSpPr>
        <p:spPr>
          <a:xfrm>
            <a:off x="970946" y="2985089"/>
            <a:ext cx="3175951" cy="228212"/>
          </a:xfrm>
          <a:prstGeom prst="rect">
            <a:avLst/>
          </a:prstGeom>
          <a:noFill/>
          <a:ln/>
        </p:spPr>
        <p:txBody>
          <a:bodyPr wrap="square" lIns="0" tIns="0" rIns="0" bIns="0" rtlCol="0" anchor="t">
            <a:normAutofit/>
          </a:bodyPr>
          <a:lstStyle/>
          <a:p>
            <a:pPr algn="l" indent="0" marL="0">
              <a:lnSpc>
                <a:spcPts val="1620"/>
              </a:lnSpc>
              <a:buNone/>
            </a:pPr>
            <a:r>
              <a:rPr lang="en-US" sz="1350" b="1" dirty="0">
                <a:solidFill>
                  <a:srgbClr val="1B2A3A"/>
                </a:solidFill>
                <a:latin typeface="IBM Plex Sans" pitchFamily="34" charset="0"/>
                <a:ea typeface="IBM Plex Sans" pitchFamily="34" charset="-122"/>
                <a:cs typeface="IBM Plex Sans" pitchFamily="34" charset="-120"/>
              </a:rPr>
              <a:t>Reference: clock = A</a:t>
            </a:r>
            <a:endParaRPr lang="en-US" sz="1350" dirty="0"/>
          </a:p>
        </p:txBody>
      </p:sp>
      <p:pic>
        <p:nvPicPr>
          <p:cNvPr id="7" name="Image 0" descr="A's drift is flat at zero; B's drift dips by 3 in the middle">    </p:cNvPr>
          <p:cNvPicPr>
            <a:picLocks noChangeAspect="1"/>
          </p:cNvPicPr>
          <p:nvPr/>
        </p:nvPicPr>
        <p:blipFill>
          <a:blip r:embed="rId1"/>
          <a:srcRect l="-6336" r="-6336" t="0" b="0"/>
          <a:stretch/>
        </p:blipFill>
        <p:spPr>
          <a:xfrm>
            <a:off x="970946" y="3251398"/>
            <a:ext cx="2921000" cy="1296248"/>
          </a:xfrm>
          <a:prstGeom prst="rect">
            <a:avLst/>
          </a:prstGeom>
        </p:spPr>
      </p:pic>
      <p:sp>
        <p:nvSpPr>
          <p:cNvPr id="8" name="Text 5"/>
          <p:cNvSpPr/>
          <p:nvPr/>
        </p:nvSpPr>
        <p:spPr>
          <a:xfrm>
            <a:off x="970946" y="4611148"/>
            <a:ext cx="3175951" cy="404055"/>
          </a:xfrm>
          <a:prstGeom prst="rect">
            <a:avLst/>
          </a:prstGeom>
          <a:noFill/>
          <a:ln/>
        </p:spPr>
        <p:txBody>
          <a:bodyPr wrap="square" lIns="0" tIns="0" rIns="0" bIns="0" rtlCol="0" anchor="t">
            <a:normAutofit/>
          </a:bodyPr>
          <a:lstStyle/>
          <a:p>
            <a:pPr algn="l" indent="0" marL="0">
              <a:lnSpc>
                <a:spcPts val="1512"/>
              </a:lnSpc>
              <a:buNone/>
            </a:pPr>
            <a:r>
              <a:rPr lang="en-US" sz="1080" dirty="0">
                <a:solidFill>
                  <a:srgbClr val="3E4A56"/>
                </a:solidFill>
                <a:latin typeface="IBM Plex Sans" pitchFamily="34" charset="0"/>
                <a:ea typeface="IBM Plex Sans" pitchFamily="34" charset="-122"/>
                <a:cs typeface="IBM Plex Sans" pitchFamily="34" charset="-120"/>
              </a:rPr>
              <a:t>A: 0, 0, 0 · B: 0, −3, 0</a:t>
            </a:r>
            <a:endParaRPr lang="en-US" sz="1080" dirty="0"/>
          </a:p>
          <a:p>
            <a:pPr algn="l" indent="0" marL="0">
              <a:lnSpc>
                <a:spcPts val="1512"/>
              </a:lnSpc>
              <a:buNone/>
            </a:pPr>
            <a:r>
              <a:rPr lang="en-US" sz="1080" dirty="0">
                <a:solidFill>
                  <a:srgbClr val="3E4A56"/>
                </a:solidFill>
                <a:latin typeface="IBM Plex Sans" pitchFamily="34" charset="0"/>
                <a:ea typeface="IBM Plex Sans" pitchFamily="34" charset="-122"/>
                <a:cs typeface="IBM Plex Sans" pitchFamily="34" charset="-120"/>
              </a:rPr>
              <a:t>Bends: 0 and 3 · </a:t>
            </a:r>
            <a:r>
              <a:rPr lang="en-US" sz="1080" b="1" dirty="0">
                <a:solidFill>
                  <a:srgbClr val="3E4A56"/>
                </a:solidFill>
                <a:latin typeface="IBM Plex Sans" pitchFamily="34" charset="0"/>
                <a:ea typeface="IBM Plex Sans" pitchFamily="34" charset="-122"/>
                <a:cs typeface="IBM Plex Sans" pitchFamily="34" charset="-120"/>
              </a:rPr>
              <a:t>penalty 0² + 3² = 9</a:t>
            </a:r>
            <a:endParaRPr lang="en-US" sz="1080" dirty="0"/>
          </a:p>
        </p:txBody>
      </p:sp>
      <p:sp>
        <p:nvSpPr>
          <p:cNvPr id="9" name="Shape 6"/>
          <p:cNvSpPr/>
          <p:nvPr/>
        </p:nvSpPr>
        <p:spPr>
          <a:xfrm>
            <a:off x="4393514" y="2830103"/>
            <a:ext cx="3393425" cy="2314692"/>
          </a:xfrm>
          <a:prstGeom prst="roundRect">
            <a:avLst>
              <a:gd name="adj" fmla="val 4252"/>
            </a:avLst>
          </a:prstGeom>
          <a:solidFill>
            <a:srgbClr val="FDFCF9"/>
          </a:solidFill>
          <a:ln w="6350">
            <a:solidFill>
              <a:srgbClr val="D3DAE0"/>
            </a:solidFill>
            <a:prstDash val="solid"/>
          </a:ln>
        </p:spPr>
      </p:sp>
      <p:sp>
        <p:nvSpPr>
          <p:cNvPr id="10" name="Text 7"/>
          <p:cNvSpPr/>
          <p:nvPr/>
        </p:nvSpPr>
        <p:spPr>
          <a:xfrm>
            <a:off x="4548503" y="2985089"/>
            <a:ext cx="3175951" cy="228212"/>
          </a:xfrm>
          <a:prstGeom prst="rect">
            <a:avLst/>
          </a:prstGeom>
          <a:noFill/>
          <a:ln/>
        </p:spPr>
        <p:txBody>
          <a:bodyPr wrap="square" lIns="0" tIns="0" rIns="0" bIns="0" rtlCol="0" anchor="t">
            <a:normAutofit/>
          </a:bodyPr>
          <a:lstStyle/>
          <a:p>
            <a:pPr algn="l" indent="0" marL="0">
              <a:lnSpc>
                <a:spcPts val="1620"/>
              </a:lnSpc>
              <a:buNone/>
            </a:pPr>
            <a:r>
              <a:rPr lang="en-US" sz="1350" b="1" dirty="0">
                <a:solidFill>
                  <a:srgbClr val="1B2A3A"/>
                </a:solidFill>
                <a:latin typeface="IBM Plex Sans" pitchFamily="34" charset="0"/>
                <a:ea typeface="IBM Plex Sans" pitchFamily="34" charset="-122"/>
                <a:cs typeface="IBM Plex Sans" pitchFamily="34" charset="-120"/>
              </a:rPr>
              <a:t>Shift: clock = A + 5</a:t>
            </a:r>
            <a:endParaRPr lang="en-US" sz="1350" dirty="0"/>
          </a:p>
        </p:txBody>
      </p:sp>
      <p:pic>
        <p:nvPicPr>
          <p:cNvPr id="11" name="Image 1" descr="Both drifts move up by 5; B still dips by 3 in the middle">    </p:cNvPr>
          <p:cNvPicPr>
            <a:picLocks noChangeAspect="1"/>
          </p:cNvPicPr>
          <p:nvPr/>
        </p:nvPicPr>
        <p:blipFill>
          <a:blip r:embed="rId2"/>
          <a:srcRect l="-6336" r="-6336" t="0" b="0"/>
          <a:stretch/>
        </p:blipFill>
        <p:spPr>
          <a:xfrm>
            <a:off x="4548503" y="3251398"/>
            <a:ext cx="2921000" cy="1296248"/>
          </a:xfrm>
          <a:prstGeom prst="rect">
            <a:avLst/>
          </a:prstGeom>
        </p:spPr>
      </p:pic>
      <p:sp>
        <p:nvSpPr>
          <p:cNvPr id="12" name="Text 8"/>
          <p:cNvSpPr/>
          <p:nvPr/>
        </p:nvSpPr>
        <p:spPr>
          <a:xfrm>
            <a:off x="4548503" y="4611148"/>
            <a:ext cx="3175951" cy="404055"/>
          </a:xfrm>
          <a:prstGeom prst="rect">
            <a:avLst/>
          </a:prstGeom>
          <a:noFill/>
          <a:ln/>
        </p:spPr>
        <p:txBody>
          <a:bodyPr wrap="square" lIns="0" tIns="0" rIns="0" bIns="0" rtlCol="0" anchor="t">
            <a:normAutofit/>
          </a:bodyPr>
          <a:lstStyle/>
          <a:p>
            <a:pPr algn="l" indent="0" marL="0">
              <a:lnSpc>
                <a:spcPts val="1512"/>
              </a:lnSpc>
              <a:buNone/>
            </a:pPr>
            <a:r>
              <a:rPr lang="en-US" sz="1080" dirty="0">
                <a:solidFill>
                  <a:srgbClr val="3E4A56"/>
                </a:solidFill>
                <a:latin typeface="IBM Plex Sans" pitchFamily="34" charset="0"/>
                <a:ea typeface="IBM Plex Sans" pitchFamily="34" charset="-122"/>
                <a:cs typeface="IBM Plex Sans" pitchFamily="34" charset="-120"/>
              </a:rPr>
              <a:t>A: 5, 5, 5 · B: 5, 2, 5</a:t>
            </a:r>
            <a:endParaRPr lang="en-US" sz="1080" dirty="0"/>
          </a:p>
          <a:p>
            <a:pPr algn="l" indent="0" marL="0">
              <a:lnSpc>
                <a:spcPts val="1512"/>
              </a:lnSpc>
              <a:buNone/>
            </a:pPr>
            <a:r>
              <a:rPr lang="en-US" sz="1080" dirty="0">
                <a:solidFill>
                  <a:srgbClr val="3E4A56"/>
                </a:solidFill>
                <a:latin typeface="IBM Plex Sans" pitchFamily="34" charset="0"/>
                <a:ea typeface="IBM Plex Sans" pitchFamily="34" charset="-122"/>
                <a:cs typeface="IBM Plex Sans" pitchFamily="34" charset="-120"/>
              </a:rPr>
              <a:t>Bends: 0 and 3 · </a:t>
            </a:r>
            <a:r>
              <a:rPr lang="en-US" sz="1080" b="1" dirty="0">
                <a:solidFill>
                  <a:srgbClr val="3E4A56"/>
                </a:solidFill>
                <a:latin typeface="IBM Plex Sans" pitchFamily="34" charset="0"/>
                <a:ea typeface="IBM Plex Sans" pitchFamily="34" charset="-122"/>
                <a:cs typeface="IBM Plex Sans" pitchFamily="34" charset="-120"/>
              </a:rPr>
              <a:t>penalty 9</a:t>
            </a:r>
            <a:r>
              <a:rPr lang="en-US" sz="1080" dirty="0">
                <a:solidFill>
                  <a:srgbClr val="3E4A56"/>
                </a:solidFill>
                <a:latin typeface="IBM Plex Sans" pitchFamily="34" charset="0"/>
                <a:ea typeface="IBM Plex Sans" pitchFamily="34" charset="-122"/>
                <a:cs typeface="IBM Plex Sans" pitchFamily="34" charset="-120"/>
              </a:rPr>
              <a:t> (unchanged)</a:t>
            </a:r>
            <a:endParaRPr lang="en-US" sz="1080" dirty="0"/>
          </a:p>
        </p:txBody>
      </p:sp>
      <p:sp>
        <p:nvSpPr>
          <p:cNvPr id="13" name="Shape 9"/>
          <p:cNvSpPr/>
          <p:nvPr/>
        </p:nvSpPr>
        <p:spPr>
          <a:xfrm>
            <a:off x="7974247" y="2833278"/>
            <a:ext cx="3398621" cy="2308342"/>
          </a:xfrm>
          <a:prstGeom prst="roundRect">
            <a:avLst>
              <a:gd name="adj" fmla="val 4126"/>
            </a:avLst>
          </a:prstGeom>
          <a:solidFill>
            <a:srgbClr val="FDFCF9"/>
          </a:solidFill>
          <a:ln w="12700">
            <a:solidFill>
              <a:srgbClr val="C8641E"/>
            </a:solidFill>
            <a:prstDash val="solid"/>
          </a:ln>
        </p:spPr>
      </p:sp>
      <p:sp>
        <p:nvSpPr>
          <p:cNvPr id="14" name="Text 10"/>
          <p:cNvSpPr/>
          <p:nvPr/>
        </p:nvSpPr>
        <p:spPr>
          <a:xfrm>
            <a:off x="8131833" y="2990862"/>
            <a:ext cx="3175951" cy="226994"/>
          </a:xfrm>
          <a:prstGeom prst="rect">
            <a:avLst/>
          </a:prstGeom>
          <a:noFill/>
          <a:ln/>
        </p:spPr>
        <p:txBody>
          <a:bodyPr wrap="square" lIns="0" tIns="0" rIns="0" bIns="0" rtlCol="0" anchor="t">
            <a:normAutofit/>
          </a:bodyPr>
          <a:lstStyle/>
          <a:p>
            <a:pPr algn="l" indent="0" marL="0">
              <a:lnSpc>
                <a:spcPts val="1620"/>
              </a:lnSpc>
              <a:buNone/>
            </a:pPr>
            <a:r>
              <a:rPr lang="en-US" sz="1350" b="1" dirty="0">
                <a:solidFill>
                  <a:srgbClr val="1B2A3A"/>
                </a:solidFill>
                <a:latin typeface="IBM Plex Sans" pitchFamily="34" charset="0"/>
                <a:ea typeface="IBM Plex Sans" pitchFamily="34" charset="-122"/>
                <a:cs typeface="IBM Plex Sans" pitchFamily="34" charset="-120"/>
              </a:rPr>
              <a:t>Shape: clock = average</a:t>
            </a:r>
            <a:endParaRPr lang="en-US" sz="1350" dirty="0"/>
          </a:p>
        </p:txBody>
      </p:sp>
      <p:pic>
        <p:nvPicPr>
          <p:cNvPr id="15" name="Image 2" descr="A's drift rises by 1.5 in the middle and B's dips by 1.5: the bump is split between them">    </p:cNvPr>
          <p:cNvPicPr>
            <a:picLocks noChangeAspect="1"/>
          </p:cNvPicPr>
          <p:nvPr/>
        </p:nvPicPr>
        <p:blipFill>
          <a:blip r:embed="rId3"/>
          <a:srcRect l="-6685" r="-6685" t="0" b="0"/>
          <a:stretch/>
        </p:blipFill>
        <p:spPr>
          <a:xfrm>
            <a:off x="8131833" y="3255956"/>
            <a:ext cx="2921000" cy="1288265"/>
          </a:xfrm>
          <a:prstGeom prst="rect">
            <a:avLst/>
          </a:prstGeom>
        </p:spPr>
      </p:pic>
      <p:sp>
        <p:nvSpPr>
          <p:cNvPr id="16" name="Text 11"/>
          <p:cNvSpPr/>
          <p:nvPr/>
        </p:nvSpPr>
        <p:spPr>
          <a:xfrm>
            <a:off x="8131833" y="4607719"/>
            <a:ext cx="3175951" cy="401710"/>
          </a:xfrm>
          <a:prstGeom prst="rect">
            <a:avLst/>
          </a:prstGeom>
          <a:noFill/>
          <a:ln/>
        </p:spPr>
        <p:txBody>
          <a:bodyPr wrap="square" lIns="0" tIns="0" rIns="0" bIns="0" rtlCol="0" anchor="t">
            <a:normAutofit/>
          </a:bodyPr>
          <a:lstStyle/>
          <a:p>
            <a:pPr algn="l" indent="0" marL="0">
              <a:lnSpc>
                <a:spcPts val="1486"/>
              </a:lnSpc>
              <a:buNone/>
            </a:pPr>
            <a:r>
              <a:rPr lang="en-US" sz="1061" dirty="0">
                <a:solidFill>
                  <a:srgbClr val="3E4A56"/>
                </a:solidFill>
                <a:latin typeface="IBM Plex Sans" pitchFamily="34" charset="0"/>
                <a:ea typeface="IBM Plex Sans" pitchFamily="34" charset="-122"/>
                <a:cs typeface="IBM Plex Sans" pitchFamily="34" charset="-120"/>
              </a:rPr>
              <a:t>A: 0, +1.5, 0 · B: 0, −1.5, 0</a:t>
            </a:r>
            <a:endParaRPr lang="en-US" sz="1061" dirty="0"/>
          </a:p>
          <a:p>
            <a:pPr algn="l" indent="0" marL="0">
              <a:lnSpc>
                <a:spcPts val="1486"/>
              </a:lnSpc>
              <a:buNone/>
            </a:pPr>
            <a:r>
              <a:rPr lang="en-US" sz="1061" dirty="0">
                <a:solidFill>
                  <a:srgbClr val="3E4A56"/>
                </a:solidFill>
                <a:latin typeface="IBM Plex Sans" pitchFamily="34" charset="0"/>
                <a:ea typeface="IBM Plex Sans" pitchFamily="34" charset="-122"/>
                <a:cs typeface="IBM Plex Sans" pitchFamily="34" charset="-120"/>
              </a:rPr>
              <a:t>Bends: 1.5 and 1.5 · </a:t>
            </a:r>
            <a:r>
              <a:rPr lang="en-US" sz="1061" b="1" dirty="0">
                <a:solidFill>
                  <a:srgbClr val="3E4A56"/>
                </a:solidFill>
                <a:latin typeface="IBM Plex Sans" pitchFamily="34" charset="0"/>
                <a:ea typeface="IBM Plex Sans" pitchFamily="34" charset="-122"/>
                <a:cs typeface="IBM Plex Sans" pitchFamily="34" charset="-120"/>
              </a:rPr>
              <a:t>penalty 4.5</a:t>
            </a:r>
            <a:endParaRPr lang="en-US" sz="1061" dirty="0"/>
          </a:p>
        </p:txBody>
      </p:sp>
      <p:sp>
        <p:nvSpPr>
          <p:cNvPr id="17" name="Text 12"/>
          <p:cNvSpPr/>
          <p:nvPr/>
        </p:nvSpPr>
        <p:spPr>
          <a:xfrm>
            <a:off x="812782" y="5376534"/>
            <a:ext cx="10883429" cy="490871"/>
          </a:xfrm>
          <a:prstGeom prst="rect">
            <a:avLst/>
          </a:prstGeom>
          <a:noFill/>
          <a:ln/>
        </p:spPr>
        <p:txBody>
          <a:bodyPr wrap="square" lIns="0" tIns="0" rIns="0" bIns="0" rtlCol="0" anchor="t">
            <a:normAutofit/>
          </a:bodyPr>
          <a:lstStyle/>
          <a:p>
            <a:pPr algn="l" indent="0" marL="0">
              <a:lnSpc>
                <a:spcPts val="1833"/>
              </a:lnSpc>
              <a:buNone/>
            </a:pPr>
            <a:r>
              <a:rPr lang="en-US" sz="1264" dirty="0">
                <a:solidFill>
                  <a:srgbClr val="1B2A3A"/>
                </a:solidFill>
                <a:latin typeface="IBM Plex Sans" pitchFamily="34" charset="0"/>
                <a:ea typeface="IBM Plex Sans" pitchFamily="34" charset="-122"/>
                <a:cs typeface="IBM Plex Sans" pitchFamily="34" charset="-120"/>
              </a:rPr>
              <a:t>In all three, A’s 20 and B’s 23 land on the same clock point, so </a:t>
            </a:r>
            <a:r>
              <a:rPr lang="en-US" sz="1264" b="1" dirty="0">
                <a:solidFill>
                  <a:srgbClr val="1B2A3A"/>
                </a:solidFill>
                <a:latin typeface="IBM Plex Sans" pitchFamily="34" charset="0"/>
                <a:ea typeface="IBM Plex Sans" pitchFamily="34" charset="-122"/>
                <a:cs typeface="IBM Plex Sans" pitchFamily="34" charset="-120"/>
              </a:rPr>
              <a:t>the map A → B is identical</a:t>
            </a:r>
            <a:r>
              <a:rPr lang="en-US" sz="1264" dirty="0">
                <a:solidFill>
                  <a:srgbClr val="1B2A3A"/>
                </a:solidFill>
                <a:latin typeface="IBM Plex Sans" pitchFamily="34" charset="0"/>
                <a:ea typeface="IBM Plex Sans" pitchFamily="34" charset="-122"/>
                <a:cs typeface="IBM Plex Sans" pitchFamily="34" charset="-120"/>
              </a:rPr>
              <a:t>. Sliding the clock moves every curve together and bends nothing. Re-shaping it moves bend from one warp to the other, and the penalty sees that.</a:t>
            </a:r>
            <a:endParaRPr lang="en-US" sz="1264" dirty="0"/>
          </a:p>
        </p:txBody>
      </p:sp>
      <p:sp>
        <p:nvSpPr>
          <p:cNvPr id="18" name="Text 13"/>
          <p:cNvSpPr/>
          <p:nvPr/>
        </p:nvSpPr>
        <p:spPr>
          <a:xfrm>
            <a:off x="812782" y="6024972"/>
            <a:ext cx="10883382"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682"/>
                </a:solidFill>
                <a:latin typeface="IBM Plex Sans" pitchFamily="34" charset="0"/>
                <a:ea typeface="IBM Plex Sans" pitchFamily="34" charset="-122"/>
                <a:cs typeface="IBM Plex Sans" pitchFamily="34" charset="-120"/>
              </a:rPr>
              <a:t>Blue: batch A. Orange: batch B. Grey dashed: zero drift. “Bend” here is the bump height at the middle knot; the real penalty squares second differences, which behaves the same way.</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5F0"/>
        </a:solidFill>
      </p:bgPr>
    </p:bg>
    <p:spTree>
      <p:nvGrpSpPr>
        <p:cNvPr id="1" name=""/>
        <p:cNvGrpSpPr/>
        <p:nvPr/>
      </p:nvGrpSpPr>
      <p:grpSpPr>
        <a:xfrm>
          <a:off x="0" y="0"/>
          <a:ext cx="0" cy="0"/>
          <a:chOff x="0" y="0"/>
          <a:chExt cx="0" cy="0"/>
        </a:xfrm>
      </p:grpSpPr>
      <p:sp>
        <p:nvSpPr>
          <p:cNvPr id="2" name="Text 0"/>
          <p:cNvSpPr/>
          <p:nvPr/>
        </p:nvSpPr>
        <p:spPr>
          <a:xfrm>
            <a:off x="812782" y="812781"/>
            <a:ext cx="10883429"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2F6FBF"/>
                </a:solidFill>
                <a:latin typeface="IBM Plex Sans" pitchFamily="34" charset="0"/>
                <a:ea typeface="IBM Plex Sans" pitchFamily="34" charset="-122"/>
                <a:cs typeface="IBM Plex Sans" pitchFamily="34" charset="-120"/>
              </a:rPr>
              <a:t>Q9 · EVIDENCE</a:t>
            </a:r>
            <a:endParaRPr lang="en-US" sz="1200" dirty="0"/>
          </a:p>
        </p:txBody>
      </p:sp>
      <p:sp>
        <p:nvSpPr>
          <p:cNvPr id="3" name="Text 1"/>
          <p:cNvSpPr/>
          <p:nvPr>
            <p:ph type="title"/>
          </p:nvPr>
        </p:nvSpPr>
        <p:spPr>
          <a:xfrm>
            <a:off x="812782" y="1127671"/>
            <a:ext cx="10883429" cy="472426"/>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B2A3A"/>
                </a:solidFill>
                <a:latin typeface="Source Serif 4" pitchFamily="18" charset="0"/>
                <a:ea typeface="Source Serif 4" pitchFamily="18" charset="-122"/>
                <a:cs typeface="Source Serif 4" pitchFamily="18" charset="-120"/>
              </a:rPr>
              <a:t>No gauge is correct, and the paper leaves it open</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4327" y="1840240"/>
          <a:ext cx="6084454" cy="1788012"/>
        </p:xfrm>
        <a:graphic>
          <a:graphicData uri="http://schemas.openxmlformats.org/drawingml/2006/table">
            <a:tbl>
              <a:tblPr/>
              <a:tblGrid>
                <a:gridCol w="3163916"/>
                <a:gridCol w="1460269"/>
                <a:gridCol w="1460269"/>
              </a:tblGrid>
              <a:tr h="384788">
                <a:tc>
                  <a:txBody>
                    <a:bodyPr/>
                    <a:lstStyle/>
                    <a:p>
                      <a:pPr indent="0" marL="0">
                        <a:lnSpc>
                          <a:spcPts val="1960"/>
                        </a:lnSpc>
                        <a:buNone/>
                      </a:pPr>
                      <a:r>
                        <a:rPr lang="en-US" sz="1400" b="1" dirty="0">
                          <a:solidFill>
                            <a:srgbClr val="1B2A3A"/>
                          </a:solidFill>
                          <a:latin typeface="IBM Plex Sans" pitchFamily="34" charset="0"/>
                          <a:ea typeface="IBM Plex Sans" pitchFamily="34" charset="-122"/>
                          <a:cs typeface="IBM Plex Sans" pitchFamily="34" charset="-120"/>
                        </a:rPr>
                        <a:t>At λ = 10</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4BF"/>
                      </a:solidFill>
                      <a:prstDash val="solid"/>
                      <a:round/>
                      <a:headEnd type="none" w="med" len="med"/>
                      <a:tailEnd type="none" w="med" len="med"/>
                    </a:lnL>
                    <a:lnR w="12700" cap="flat" cmpd="sng" algn="ctr">
                      <a:solidFill>
                        <a:srgbClr val="B7B5B1"/>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7B5B1"/>
                      </a:solidFill>
                      <a:prstDash val="solid"/>
                      <a:round/>
                      <a:headEnd type="none" w="med" len="med"/>
                      <a:tailEnd type="none" w="med" len="med"/>
                    </a:lnB>
                    <a:solidFill>
                      <a:srgbClr val="E5E3DE"/>
                    </a:solidFill>
                  </a:tcPr>
                </a:tc>
                <a:tc>
                  <a:txBody>
                    <a:bodyPr/>
                    <a:lstStyle/>
                    <a:p>
                      <a:pPr algn="r" indent="0" marL="0">
                        <a:lnSpc>
                          <a:spcPts val="1960"/>
                        </a:lnSpc>
                        <a:buNone/>
                      </a:pPr>
                      <a:r>
                        <a:rPr lang="en-US" sz="1400" b="1" dirty="0">
                          <a:solidFill>
                            <a:srgbClr val="1B2A3A"/>
                          </a:solidFill>
                          <a:latin typeface="IBM Plex Sans" pitchFamily="34" charset="0"/>
                          <a:ea typeface="IBM Plex Sans" pitchFamily="34" charset="-122"/>
                          <a:cs typeface="IBM Plex Sans" pitchFamily="34" charset="-120"/>
                        </a:rPr>
                        <a:t>Reference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7B5B1"/>
                      </a:solidFill>
                      <a:prstDash val="solid"/>
                      <a:round/>
                      <a:headEnd type="none" w="med" len="med"/>
                      <a:tailEnd type="none" w="med" len="med"/>
                    </a:lnL>
                    <a:lnR w="12700" cap="flat" cmpd="sng" algn="ctr">
                      <a:solidFill>
                        <a:srgbClr val="B7B5B1"/>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7B5B1"/>
                      </a:solidFill>
                      <a:prstDash val="solid"/>
                      <a:round/>
                      <a:headEnd type="none" w="med" len="med"/>
                      <a:tailEnd type="none" w="med" len="med"/>
                    </a:lnB>
                    <a:solidFill>
                      <a:srgbClr val="E5E3DE"/>
                    </a:solidFill>
                  </a:tcPr>
                </a:tc>
                <a:tc>
                  <a:txBody>
                    <a:bodyPr/>
                    <a:lstStyle/>
                    <a:p>
                      <a:pPr algn="r" indent="0" marL="0">
                        <a:lnSpc>
                          <a:spcPts val="1960"/>
                        </a:lnSpc>
                        <a:buNone/>
                      </a:pPr>
                      <a:r>
                        <a:rPr lang="en-US" sz="1400" b="1" dirty="0">
                          <a:solidFill>
                            <a:srgbClr val="1B2A3A"/>
                          </a:solidFill>
                          <a:latin typeface="IBM Plex Sans" pitchFamily="34" charset="0"/>
                          <a:ea typeface="IBM Plex Sans" pitchFamily="34" charset="-122"/>
                          <a:cs typeface="IBM Plex Sans" pitchFamily="34" charset="-120"/>
                        </a:rPr>
                        <a:t>Mean</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7B5B1"/>
                      </a:solidFill>
                      <a:prstDash val="solid"/>
                      <a:round/>
                      <a:headEnd type="none" w="med" len="med"/>
                      <a:tailEnd type="none" w="med" len="med"/>
                    </a:lnL>
                    <a:lnR w="12700" cap="flat" cmpd="sng" algn="ctr">
                      <a:solidFill>
                        <a:srgbClr val="B7B5B1"/>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7B5B1"/>
                      </a:solidFill>
                      <a:prstDash val="solid"/>
                      <a:round/>
                      <a:headEnd type="none" w="med" len="med"/>
                      <a:tailEnd type="none" w="med" len="med"/>
                    </a:lnB>
                    <a:solidFill>
                      <a:srgbClr val="E5E3DE"/>
                    </a:solidFill>
                  </a:tcPr>
                </a:tc>
              </a:tr>
              <a:tr h="633647">
                <a:tc>
                  <a:txBody>
                    <a:bodyPr/>
                    <a:lstStyle/>
                    <a:p>
                      <a:pPr indent="0" marL="0">
                        <a:lnSpc>
                          <a:spcPts val="1960"/>
                        </a:lnSpc>
                        <a:buNone/>
                      </a:pPr>
                      <a:r>
                        <a:rPr lang="en-US" sz="1400" dirty="0">
                          <a:solidFill>
                            <a:srgbClr val="1B2A3A"/>
                          </a:solidFill>
                          <a:latin typeface="IBM Plex Sans" pitchFamily="34" charset="0"/>
                          <a:ea typeface="IBM Plex Sans" pitchFamily="34" charset="-122"/>
                          <a:cs typeface="IBM Plex Sans" pitchFamily="34" charset="-120"/>
                        </a:rPr>
                        <a:t>Held-out anchor error (lower is better)</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7B5B1"/>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algn="r" indent="0" marL="0">
                        <a:lnSpc>
                          <a:spcPts val="1960"/>
                        </a:lnSpc>
                        <a:buNone/>
                      </a:pPr>
                      <a:r>
                        <a:rPr lang="en-US" sz="1400" dirty="0">
                          <a:solidFill>
                            <a:srgbClr val="1B2A3A"/>
                          </a:solidFill>
                          <a:latin typeface="IBM Plex Sans" pitchFamily="34" charset="0"/>
                          <a:ea typeface="IBM Plex Sans" pitchFamily="34" charset="-122"/>
                          <a:cs typeface="IBM Plex Sans" pitchFamily="34" charset="-120"/>
                        </a:rPr>
                        <a:t>0.111 min</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7B5B1"/>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algn="r" indent="0" marL="0">
                        <a:lnSpc>
                          <a:spcPts val="1960"/>
                        </a:lnSpc>
                        <a:buNone/>
                      </a:pPr>
                      <a:r>
                        <a:rPr lang="en-US" sz="1400" dirty="0">
                          <a:solidFill>
                            <a:srgbClr val="1B2A3A"/>
                          </a:solidFill>
                          <a:latin typeface="IBM Plex Sans" pitchFamily="34" charset="0"/>
                          <a:ea typeface="IBM Plex Sans" pitchFamily="34" charset="-122"/>
                          <a:cs typeface="IBM Plex Sans" pitchFamily="34" charset="-120"/>
                        </a:rPr>
                        <a:t>0.096 min</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7B5B1"/>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r>
              <a:tr h="384788">
                <a:tc>
                  <a:txBody>
                    <a:bodyPr/>
                    <a:lstStyle/>
                    <a:p>
                      <a:pPr indent="0" marL="0">
                        <a:lnSpc>
                          <a:spcPts val="1960"/>
                        </a:lnSpc>
                        <a:buNone/>
                      </a:pPr>
                      <a:r>
                        <a:rPr lang="en-US" sz="1400" dirty="0">
                          <a:solidFill>
                            <a:srgbClr val="1B2A3A"/>
                          </a:solidFill>
                          <a:latin typeface="IBM Plex Sans" pitchFamily="34" charset="0"/>
                          <a:ea typeface="IBM Plex Sans" pitchFamily="34" charset="-122"/>
                          <a:cs typeface="IBM Plex Sans" pitchFamily="34" charset="-120"/>
                        </a:rPr>
                        <a:t>TIC correlation, drifted pairs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algn="r" indent="0" marL="0">
                        <a:lnSpc>
                          <a:spcPts val="1960"/>
                        </a:lnSpc>
                        <a:buNone/>
                      </a:pPr>
                      <a:r>
                        <a:rPr lang="en-US" sz="1400" dirty="0">
                          <a:solidFill>
                            <a:srgbClr val="1B2A3A"/>
                          </a:solidFill>
                          <a:latin typeface="IBM Plex Sans" pitchFamily="34" charset="0"/>
                          <a:ea typeface="IBM Plex Sans" pitchFamily="34" charset="-122"/>
                          <a:cs typeface="IBM Plex Sans" pitchFamily="34" charset="-120"/>
                        </a:rPr>
                        <a:t>0.598</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algn="r" indent="0" marL="0">
                        <a:lnSpc>
                          <a:spcPts val="1960"/>
                        </a:lnSpc>
                        <a:buNone/>
                      </a:pPr>
                      <a:r>
                        <a:rPr lang="en-US" sz="1400" dirty="0">
                          <a:solidFill>
                            <a:srgbClr val="1B2A3A"/>
                          </a:solidFill>
                          <a:latin typeface="IBM Plex Sans" pitchFamily="34" charset="0"/>
                          <a:ea typeface="IBM Plex Sans" pitchFamily="34" charset="-122"/>
                          <a:cs typeface="IBM Plex Sans" pitchFamily="34" charset="-120"/>
                        </a:rPr>
                        <a:t>0.595</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r>
              <a:tr h="384788">
                <a:tc>
                  <a:txBody>
                    <a:bodyPr/>
                    <a:lstStyle/>
                    <a:p>
                      <a:pPr indent="0" marL="0">
                        <a:lnSpc>
                          <a:spcPts val="1960"/>
                        </a:lnSpc>
                        <a:buNone/>
                      </a:pPr>
                      <a:r>
                        <a:rPr lang="en-US" sz="1400" dirty="0">
                          <a:solidFill>
                            <a:srgbClr val="1B2A3A"/>
                          </a:solidFill>
                          <a:latin typeface="IBM Plex Sans" pitchFamily="34" charset="0"/>
                          <a:ea typeface="IBM Plex Sans" pitchFamily="34" charset="-122"/>
                          <a:cs typeface="IBM Plex Sans" pitchFamily="34" charset="-120"/>
                        </a:rPr>
                        <a:t>TIC correlation, near-aligned pairs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algn="r" indent="0" marL="0">
                        <a:lnSpc>
                          <a:spcPts val="1960"/>
                        </a:lnSpc>
                        <a:buNone/>
                      </a:pPr>
                      <a:r>
                        <a:rPr lang="en-US" sz="1400" dirty="0">
                          <a:solidFill>
                            <a:srgbClr val="1B2A3A"/>
                          </a:solidFill>
                          <a:latin typeface="IBM Plex Sans" pitchFamily="34" charset="0"/>
                          <a:ea typeface="IBM Plex Sans" pitchFamily="34" charset="-122"/>
                          <a:cs typeface="IBM Plex Sans" pitchFamily="34" charset="-120"/>
                        </a:rPr>
                        <a:t>0.779</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algn="r" indent="0" marL="0">
                        <a:lnSpc>
                          <a:spcPts val="1960"/>
                        </a:lnSpc>
                        <a:buNone/>
                      </a:pPr>
                      <a:r>
                        <a:rPr lang="en-US" sz="1400" dirty="0">
                          <a:solidFill>
                            <a:srgbClr val="1B2A3A"/>
                          </a:solidFill>
                          <a:latin typeface="IBM Plex Sans" pitchFamily="34" charset="0"/>
                          <a:ea typeface="IBM Plex Sans" pitchFamily="34" charset="-122"/>
                          <a:cs typeface="IBM Plex Sans" pitchFamily="34" charset="-120"/>
                        </a:rPr>
                        <a:t>0.768</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r>
            </a:tbl>
          </a:graphicData>
        </a:graphic>
      </p:graphicFrame>
      <p:sp>
        <p:nvSpPr>
          <p:cNvPr id="5" name="Text 2"/>
          <p:cNvSpPr/>
          <p:nvPr/>
        </p:nvSpPr>
        <p:spPr>
          <a:xfrm>
            <a:off x="7264346" y="1828695"/>
            <a:ext cx="4238318" cy="798630"/>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3E4A56"/>
                </a:solidFill>
                <a:latin typeface="IBM Plex Sans" pitchFamily="34" charset="0"/>
                <a:ea typeface="IBM Plex Sans" pitchFamily="34" charset="-122"/>
                <a:cs typeface="IBM Plex Sans" pitchFamily="34" charset="-120"/>
              </a:rPr>
              <a:t>A trade-off: the mean gauge predicts held-out anchors better; the reference gauge gives slightly higher TIC correlation.</a:t>
            </a:r>
            <a:endParaRPr lang="en-US" sz="1400" dirty="0"/>
          </a:p>
        </p:txBody>
      </p:sp>
      <p:sp>
        <p:nvSpPr>
          <p:cNvPr id="6" name="Shape 3"/>
          <p:cNvSpPr/>
          <p:nvPr/>
        </p:nvSpPr>
        <p:spPr>
          <a:xfrm>
            <a:off x="815957" y="3885425"/>
            <a:ext cx="5169486" cy="1516342"/>
          </a:xfrm>
          <a:prstGeom prst="roundRect">
            <a:avLst>
              <a:gd name="adj" fmla="val 6491"/>
            </a:avLst>
          </a:prstGeom>
          <a:solidFill>
            <a:srgbClr val="FDFCF9"/>
          </a:solidFill>
          <a:ln w="6350">
            <a:solidFill>
              <a:srgbClr val="D3DAE0"/>
            </a:solidFill>
            <a:prstDash val="solid"/>
          </a:ln>
        </p:spPr>
      </p:sp>
      <p:sp>
        <p:nvSpPr>
          <p:cNvPr id="7" name="Text 4"/>
          <p:cNvSpPr/>
          <p:nvPr/>
        </p:nvSpPr>
        <p:spPr>
          <a:xfrm>
            <a:off x="1021728" y="4091192"/>
            <a:ext cx="4900683" cy="269253"/>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B2A3A"/>
                </a:solidFill>
                <a:latin typeface="IBM Plex Sans" pitchFamily="34" charset="0"/>
                <a:ea typeface="IBM Plex Sans" pitchFamily="34" charset="-122"/>
                <a:cs typeface="IBM Plex Sans" pitchFamily="34" charset="-120"/>
              </a:rPr>
              <a:t>You said: no mathematically correct gauge</a:t>
            </a:r>
            <a:endParaRPr lang="en-US" sz="1600" dirty="0"/>
          </a:p>
        </p:txBody>
      </p:sp>
      <p:sp>
        <p:nvSpPr>
          <p:cNvPr id="8" name="Text 5"/>
          <p:cNvSpPr/>
          <p:nvPr/>
        </p:nvSpPr>
        <p:spPr>
          <a:xfrm>
            <a:off x="1021728" y="4411222"/>
            <a:ext cx="4900683" cy="540887"/>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3E4A56"/>
                </a:solidFill>
                <a:latin typeface="IBM Plex Sans" pitchFamily="34" charset="0"/>
                <a:ea typeface="IBM Plex Sans" pitchFamily="34" charset="-122"/>
                <a:cs typeface="IBM Plex Sans" pitchFamily="34" charset="-120"/>
              </a:rPr>
              <a:t>Right. The data cannot pick one, so the choice is a convention.</a:t>
            </a:r>
            <a:endParaRPr lang="en-US" sz="1400" dirty="0"/>
          </a:p>
        </p:txBody>
      </p:sp>
      <p:sp>
        <p:nvSpPr>
          <p:cNvPr id="9" name="Shape 6"/>
          <p:cNvSpPr/>
          <p:nvPr/>
        </p:nvSpPr>
        <p:spPr>
          <a:xfrm>
            <a:off x="6198141" y="3888600"/>
            <a:ext cx="5174727" cy="1509992"/>
          </a:xfrm>
          <a:prstGeom prst="roundRect">
            <a:avLst>
              <a:gd name="adj" fmla="val 6308"/>
            </a:avLst>
          </a:prstGeom>
          <a:solidFill>
            <a:srgbClr val="FDFCF9"/>
          </a:solidFill>
          <a:ln w="12700">
            <a:solidFill>
              <a:srgbClr val="C8641E"/>
            </a:solidFill>
            <a:prstDash val="solid"/>
          </a:ln>
        </p:spPr>
      </p:sp>
      <p:sp>
        <p:nvSpPr>
          <p:cNvPr id="10" name="Text 7"/>
          <p:cNvSpPr/>
          <p:nvPr/>
        </p:nvSpPr>
        <p:spPr>
          <a:xfrm>
            <a:off x="6406509" y="4096972"/>
            <a:ext cx="4900730" cy="269253"/>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B2A3A"/>
                </a:solidFill>
                <a:latin typeface="IBM Plex Sans" pitchFamily="34" charset="0"/>
                <a:ea typeface="IBM Plex Sans" pitchFamily="34" charset="-122"/>
                <a:cs typeface="IBM Plex Sans" pitchFamily="34" charset="-120"/>
              </a:rPr>
              <a:t>But it was not chosen by experiment</a:t>
            </a:r>
            <a:endParaRPr lang="en-US" sz="1600" dirty="0"/>
          </a:p>
        </p:txBody>
      </p:sp>
      <p:sp>
        <p:nvSpPr>
          <p:cNvPr id="11" name="Text 8"/>
          <p:cNvSpPr/>
          <p:nvPr/>
        </p:nvSpPr>
        <p:spPr>
          <a:xfrm>
            <a:off x="6406509" y="4417002"/>
            <a:ext cx="4900730" cy="798630"/>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3E4A56"/>
                </a:solidFill>
                <a:latin typeface="IBM Plex Sans" pitchFamily="34" charset="0"/>
                <a:ea typeface="IBM Plex Sans" pitchFamily="34" charset="-122"/>
                <a:cs typeface="IBM Plex Sans" pitchFamily="34" charset="-120"/>
              </a:rPr>
              <a:t>The selection rule fixes the reference gauge and tunes only λ. This table compares; it did not select. The paper calls the choice “not settled”.</a:t>
            </a:r>
            <a:endParaRPr lang="en-US" sz="1400" dirty="0"/>
          </a:p>
        </p:txBody>
      </p:sp>
      <p:sp>
        <p:nvSpPr>
          <p:cNvPr id="12" name="Text 9"/>
          <p:cNvSpPr/>
          <p:nvPr/>
        </p:nvSpPr>
        <p:spPr>
          <a:xfrm>
            <a:off x="812782" y="6238286"/>
            <a:ext cx="1088338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682"/>
                </a:solidFill>
                <a:latin typeface="IBM Plex Sans" pitchFamily="34" charset="0"/>
                <a:ea typeface="IBM Plex Sans" pitchFamily="34" charset="-122"/>
                <a:cs typeface="IBM Plex Sans" pitchFamily="34" charset="-120"/>
              </a:rPr>
              <a:t>Your idea that a different penalty might favour the mean gauge fits the previous slide, but it has not been tested. Paper: sensitivity results.</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5F0"/>
        </a:solidFill>
      </p:bgPr>
    </p:bg>
    <p:spTree>
      <p:nvGrpSpPr>
        <p:cNvPr id="1" name=""/>
        <p:cNvGrpSpPr/>
        <p:nvPr/>
      </p:nvGrpSpPr>
      <p:grpSpPr>
        <a:xfrm>
          <a:off x="0" y="0"/>
          <a:ext cx="0" cy="0"/>
          <a:chOff x="0" y="0"/>
          <a:chExt cx="0" cy="0"/>
        </a:xfrm>
      </p:grpSpPr>
      <p:sp>
        <p:nvSpPr>
          <p:cNvPr id="2" name="Text 0"/>
          <p:cNvSpPr/>
          <p:nvPr/>
        </p:nvSpPr>
        <p:spPr>
          <a:xfrm>
            <a:off x="812782" y="812775"/>
            <a:ext cx="10883429"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2F6FBF"/>
                </a:solidFill>
                <a:latin typeface="IBM Plex Sans" pitchFamily="34" charset="0"/>
                <a:ea typeface="IBM Plex Sans" pitchFamily="34" charset="-122"/>
                <a:cs typeface="IBM Plex Sans" pitchFamily="34" charset="-120"/>
              </a:rPr>
              <a:t>Q10 · INTUITION AND MATHS</a:t>
            </a:r>
            <a:endParaRPr lang="en-US" sz="1200" dirty="0"/>
          </a:p>
        </p:txBody>
      </p:sp>
      <p:sp>
        <p:nvSpPr>
          <p:cNvPr id="3" name="Text 1"/>
          <p:cNvSpPr/>
          <p:nvPr>
            <p:ph type="title"/>
          </p:nvPr>
        </p:nvSpPr>
        <p:spPr>
          <a:xfrm>
            <a:off x="812782" y="1127658"/>
            <a:ext cx="10883429" cy="472426"/>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B2A3A"/>
                </a:solidFill>
                <a:latin typeface="Source Serif 4" pitchFamily="18" charset="0"/>
                <a:ea typeface="Source Serif 4" pitchFamily="18" charset="-122"/>
                <a:cs typeface="Source Serif 4" pitchFamily="18" charset="-120"/>
              </a:rPr>
              <a:t>Eight solves: plain, then Huber, then Tukey</a:t>
            </a:r>
            <a:endParaRPr lang="en-US" sz="3200" dirty="0"/>
          </a:p>
        </p:txBody>
      </p:sp>
      <p:sp>
        <p:nvSpPr>
          <p:cNvPr id="4" name="Text 2"/>
          <p:cNvSpPr/>
          <p:nvPr/>
        </p:nvSpPr>
        <p:spPr>
          <a:xfrm>
            <a:off x="812782" y="1803251"/>
            <a:ext cx="2540000" cy="751717"/>
          </a:xfrm>
          <a:prstGeom prst="roundRect">
            <a:avLst>
              <a:gd name="adj" fmla="val 10137"/>
            </a:avLst>
          </a:prstGeom>
          <a:solidFill>
            <a:srgbClr val="E2E7EC"/>
          </a:solidFill>
          <a:ln/>
        </p:spPr>
        <p:txBody>
          <a:bodyPr wrap="square" lIns="44230" tIns="104682" rIns="44230" bIns="79282" rtlCol="0" anchor="t">
            <a:normAutofit/>
          </a:bodyPr>
          <a:lstStyle/>
          <a:p>
            <a:pPr algn="ctr" indent="0" marL="0">
              <a:lnSpc>
                <a:spcPts val="1960"/>
              </a:lnSpc>
              <a:buNone/>
            </a:pPr>
            <a:r>
              <a:rPr lang="en-US" sz="1400" b="1" dirty="0">
                <a:solidFill>
                  <a:srgbClr val="1B2A3A"/>
                </a:solidFill>
                <a:latin typeface="IBM Plex Sans" pitchFamily="34" charset="0"/>
                <a:ea typeface="IBM Plex Sans" pitchFamily="34" charset="-122"/>
                <a:cs typeface="IBM Plex Sans" pitchFamily="34" charset="-120"/>
              </a:rPr>
              <a:t>1 plain solve</a:t>
            </a:r>
            <a:endParaRPr lang="en-US" sz="1400" dirty="0"/>
          </a:p>
          <a:p>
            <a:pPr algn="ctr" indent="0" marL="0">
              <a:lnSpc>
                <a:spcPts val="1960"/>
              </a:lnSpc>
              <a:buNone/>
            </a:pPr>
            <a:r>
              <a:rPr lang="en-US" sz="1400" dirty="0">
                <a:solidFill>
                  <a:srgbClr val="1B2A3A"/>
                </a:solidFill>
                <a:latin typeface="IBM Plex Sans" pitchFamily="34" charset="0"/>
                <a:ea typeface="IBM Plex Sans" pitchFamily="34" charset="-122"/>
                <a:cs typeface="IBM Plex Sans" pitchFamily="34" charset="-120"/>
              </a:rPr>
              <a:t>every weight 1</a:t>
            </a:r>
            <a:endParaRPr lang="en-US" sz="1400" dirty="0"/>
          </a:p>
        </p:txBody>
      </p:sp>
      <p:pic>
        <p:nvPicPr>
          <p:cNvPr id="5" name="Image 0" descr="arrow-right">    </p:cNvPr>
          <p:cNvPicPr>
            <a:picLocks noChangeAspect="1"/>
          </p:cNvPicPr>
          <p:nvPr/>
        </p:nvPicPr>
        <p:blipFill>
          <a:blip r:embed="rId1"/>
          <a:srcRect l="-5" r="-5" t="0" b="0"/>
          <a:stretch/>
        </p:blipFill>
        <p:spPr>
          <a:xfrm>
            <a:off x="3454346" y="2064829"/>
            <a:ext cx="457173" cy="228564"/>
          </a:xfrm>
          <a:prstGeom prst="rect">
            <a:avLst/>
          </a:prstGeom>
        </p:spPr>
      </p:pic>
      <p:sp>
        <p:nvSpPr>
          <p:cNvPr id="6" name="Text 3"/>
          <p:cNvSpPr/>
          <p:nvPr/>
        </p:nvSpPr>
        <p:spPr>
          <a:xfrm>
            <a:off x="4013083" y="1803251"/>
            <a:ext cx="3048000" cy="751717"/>
          </a:xfrm>
          <a:prstGeom prst="roundRect">
            <a:avLst>
              <a:gd name="adj" fmla="val 10137"/>
            </a:avLst>
          </a:prstGeom>
          <a:solidFill>
            <a:srgbClr val="2F6FBF"/>
          </a:solidFill>
          <a:ln/>
        </p:spPr>
        <p:txBody>
          <a:bodyPr wrap="square" lIns="36610" tIns="104682" rIns="36610" bIns="79282" rtlCol="0" anchor="t">
            <a:normAutofit/>
          </a:bodyPr>
          <a:lstStyle/>
          <a:p>
            <a:pPr algn="ctr" indent="0" marL="0">
              <a:lnSpc>
                <a:spcPts val="1960"/>
              </a:lnSpc>
              <a:buNone/>
            </a:pPr>
            <a:r>
              <a:rPr lang="en-US" sz="1400" b="1" dirty="0">
                <a:solidFill>
                  <a:srgbClr val="F7F5F0"/>
                </a:solidFill>
                <a:latin typeface="IBM Plex Sans" pitchFamily="34" charset="0"/>
                <a:ea typeface="IBM Plex Sans" pitchFamily="34" charset="-122"/>
                <a:cs typeface="IBM Plex Sans" pitchFamily="34" charset="-120"/>
              </a:rPr>
              <a:t>3 Huber-weighted solves</a:t>
            </a:r>
            <a:endParaRPr lang="en-US" sz="1400" dirty="0"/>
          </a:p>
          <a:p>
            <a:pPr algn="ctr" indent="0" marL="0">
              <a:lnSpc>
                <a:spcPts val="1960"/>
              </a:lnSpc>
              <a:buNone/>
            </a:pPr>
            <a:r>
              <a:rPr lang="en-US" sz="1400" dirty="0">
                <a:solidFill>
                  <a:srgbClr val="F7F5F0"/>
                </a:solidFill>
                <a:latin typeface="IBM Plex Sans" pitchFamily="34" charset="0"/>
                <a:ea typeface="IBM Plex Sans" pitchFamily="34" charset="-122"/>
                <a:cs typeface="IBM Plex Sans" pitchFamily="34" charset="-120"/>
              </a:rPr>
              <a:t>shrink big misses</a:t>
            </a:r>
            <a:endParaRPr lang="en-US" sz="1400" dirty="0"/>
          </a:p>
        </p:txBody>
      </p:sp>
      <p:pic>
        <p:nvPicPr>
          <p:cNvPr id="7" name="Image 1" descr="arrow-right">    </p:cNvPr>
          <p:cNvPicPr>
            <a:picLocks noChangeAspect="1"/>
          </p:cNvPicPr>
          <p:nvPr/>
        </p:nvPicPr>
        <p:blipFill>
          <a:blip r:embed="rId2"/>
          <a:srcRect l="-5" r="-5" t="0" b="0"/>
          <a:stretch/>
        </p:blipFill>
        <p:spPr>
          <a:xfrm>
            <a:off x="7162647" y="2064829"/>
            <a:ext cx="457173" cy="228564"/>
          </a:xfrm>
          <a:prstGeom prst="rect">
            <a:avLst/>
          </a:prstGeom>
        </p:spPr>
      </p:pic>
      <p:sp>
        <p:nvSpPr>
          <p:cNvPr id="8" name="Text 4"/>
          <p:cNvSpPr/>
          <p:nvPr/>
        </p:nvSpPr>
        <p:spPr>
          <a:xfrm>
            <a:off x="7721383" y="1803251"/>
            <a:ext cx="3657834" cy="751717"/>
          </a:xfrm>
          <a:prstGeom prst="roundRect">
            <a:avLst>
              <a:gd name="adj" fmla="val 10137"/>
            </a:avLst>
          </a:prstGeom>
          <a:solidFill>
            <a:srgbClr val="F0B184"/>
          </a:solidFill>
          <a:ln/>
        </p:spPr>
        <p:txBody>
          <a:bodyPr wrap="square" lIns="27462" tIns="104682" rIns="27462" bIns="79282" rtlCol="0" anchor="t">
            <a:normAutofit/>
          </a:bodyPr>
          <a:lstStyle/>
          <a:p>
            <a:pPr algn="ctr" indent="0" marL="0">
              <a:lnSpc>
                <a:spcPts val="1960"/>
              </a:lnSpc>
              <a:buNone/>
            </a:pPr>
            <a:r>
              <a:rPr lang="en-US" sz="1400" b="1" dirty="0">
                <a:solidFill>
                  <a:srgbClr val="1B2A3A"/>
                </a:solidFill>
                <a:latin typeface="IBM Plex Sans" pitchFamily="34" charset="0"/>
                <a:ea typeface="IBM Plex Sans" pitchFamily="34" charset="-122"/>
                <a:cs typeface="IBM Plex Sans" pitchFamily="34" charset="-120"/>
              </a:rPr>
              <a:t>4 Tukey-weighted solves</a:t>
            </a:r>
            <a:endParaRPr lang="en-US" sz="1400" dirty="0"/>
          </a:p>
          <a:p>
            <a:pPr algn="ctr" indent="0" marL="0">
              <a:lnSpc>
                <a:spcPts val="1960"/>
              </a:lnSpc>
              <a:buNone/>
            </a:pPr>
            <a:r>
              <a:rPr lang="en-US" sz="1400" dirty="0">
                <a:solidFill>
                  <a:srgbClr val="1B2A3A"/>
                </a:solidFill>
                <a:latin typeface="IBM Plex Sans" pitchFamily="34" charset="0"/>
                <a:ea typeface="IBM Plex Sans" pitchFamily="34" charset="-122"/>
                <a:cs typeface="IBM Plex Sans" pitchFamily="34" charset="-120"/>
              </a:rPr>
              <a:t>drop gross mismatches</a:t>
            </a:r>
            <a:endParaRPr lang="en-US" sz="1400" dirty="0"/>
          </a:p>
        </p:txBody>
      </p:sp>
      <p:pic>
        <p:nvPicPr>
          <p:cNvPr id="9" name="Image 2" descr="Weight against residual size: the Huber weight stays at 1 up to 1.345 and then falls slowly but never reaches 0; the Tukey weight falls smoothly to exactly 0 at 4.685">    </p:cNvPr>
          <p:cNvPicPr>
            <a:picLocks noChangeAspect="1"/>
          </p:cNvPicPr>
          <p:nvPr/>
        </p:nvPicPr>
        <p:blipFill>
          <a:blip r:embed="rId3"/>
          <a:srcRect l="0" r="0" t="0" b="0"/>
          <a:stretch/>
        </p:blipFill>
        <p:spPr>
          <a:xfrm>
            <a:off x="812782" y="2783532"/>
            <a:ext cx="4318000" cy="2349500"/>
          </a:xfrm>
          <a:prstGeom prst="rect">
            <a:avLst/>
          </a:prstGeom>
        </p:spPr>
      </p:pic>
      <p:sp>
        <p:nvSpPr>
          <p:cNvPr id="10" name="Text 5"/>
          <p:cNvSpPr/>
          <p:nvPr/>
        </p:nvSpPr>
        <p:spPr>
          <a:xfrm>
            <a:off x="812782" y="5209208"/>
            <a:ext cx="444754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682"/>
                </a:solidFill>
                <a:latin typeface="IBM Plex Sans" pitchFamily="34" charset="0"/>
                <a:ea typeface="IBM Plex Sans" pitchFamily="34" charset="-122"/>
                <a:cs typeface="IBM Plex Sans" pitchFamily="34" charset="-120"/>
              </a:rPr>
              <a:t>Weight (up, 0 to 1) against miss size |r|/σ̂ (across, 0 to 6). Blue solid: Huber. Orange dashed: Tukey, exactly 0 beyond 4.685.</a:t>
            </a:r>
            <a:endParaRPr lang="en-US" sz="1200" dirty="0"/>
          </a:p>
        </p:txBody>
      </p:sp>
      <p:sp>
        <p:nvSpPr>
          <p:cNvPr id="11" name="Text 6"/>
          <p:cNvSpPr/>
          <p:nvPr/>
        </p:nvSpPr>
        <p:spPr>
          <a:xfrm>
            <a:off x="5435564" y="3372842"/>
            <a:ext cx="6121963" cy="1081989"/>
          </a:xfrm>
          <a:prstGeom prst="rect">
            <a:avLst/>
          </a:prstGeom>
          <a:noFill/>
          <a:ln/>
        </p:spPr>
        <p:txBody>
          <a:bodyPr wrap="square" lIns="0" tIns="0" rIns="0" bIns="0" rtlCol="0" anchor="t">
            <a:normAutofit/>
          </a:bodyPr>
          <a:lstStyle/>
          <a:p>
            <a:pPr algn="l" indent="0" marL="0">
              <a:lnSpc>
                <a:spcPts val="2080"/>
              </a:lnSpc>
              <a:buNone/>
            </a:pPr>
            <a:r>
              <a:rPr lang="en-US" sz="1300" dirty="0">
                <a:solidFill>
                  <a:srgbClr val="1B2A3A"/>
                </a:solidFill>
                <a:latin typeface="JetBrains Mono" pitchFamily="49" charset="0"/>
                <a:ea typeface="JetBrains Mono" pitchFamily="49" charset="-122"/>
                <a:cs typeface="JetBrains Mono" pitchFamily="49" charset="-120"/>
              </a:rPr>
              <a:t>σ̂ = max(1.4826·MAD(r), 0.25 bins)</a:t>
            </a:r>
            <a:endParaRPr lang="en-US" sz="1300" dirty="0"/>
          </a:p>
          <a:p>
            <a:pPr algn="l" indent="0" marL="0">
              <a:lnSpc>
                <a:spcPts val="2080"/>
              </a:lnSpc>
              <a:buNone/>
            </a:pPr>
            <a:r>
              <a:rPr lang="en-US" sz="1300" dirty="0">
                <a:solidFill>
                  <a:srgbClr val="1B2A3A"/>
                </a:solidFill>
                <a:latin typeface="JetBrains Mono" pitchFamily="49" charset="0"/>
                <a:ea typeface="JetBrains Mono" pitchFamily="49" charset="-122"/>
                <a:cs typeface="JetBrains Mono" pitchFamily="49" charset="-120"/>
              </a:rPr>
              <a:t>Huber: w = min(1, c/|r|), c = 1.345σ̂</a:t>
            </a:r>
            <a:endParaRPr lang="en-US" sz="1300" dirty="0"/>
          </a:p>
          <a:p>
            <a:pPr algn="l" indent="0" marL="0">
              <a:lnSpc>
                <a:spcPts val="2080"/>
              </a:lnSpc>
              <a:buNone/>
            </a:pPr>
            <a:r>
              <a:rPr lang="en-US" sz="1300" dirty="0">
                <a:solidFill>
                  <a:srgbClr val="1B2A3A"/>
                </a:solidFill>
                <a:latin typeface="JetBrains Mono" pitchFamily="49" charset="0"/>
                <a:ea typeface="JetBrains Mono" pitchFamily="49" charset="-122"/>
                <a:cs typeface="JetBrains Mono" pitchFamily="49" charset="-120"/>
              </a:rPr>
              <a:t>Tukey: w = (1 − (r/c)²)², c = 4.685σ̂</a:t>
            </a:r>
            <a:endParaRPr lang="en-US" sz="1300" dirty="0"/>
          </a:p>
          <a:p>
            <a:pPr algn="l" indent="0" marL="0">
              <a:lnSpc>
                <a:spcPts val="2080"/>
              </a:lnSpc>
              <a:buNone/>
            </a:pPr>
            <a:r>
              <a:rPr lang="en-US" sz="1300" dirty="0">
                <a:solidFill>
                  <a:srgbClr val="1B2A3A"/>
                </a:solidFill>
                <a:latin typeface="JetBrains Mono" pitchFamily="49" charset="0"/>
                <a:ea typeface="JetBrains Mono" pitchFamily="49" charset="-122"/>
                <a:cs typeface="JetBrains Mono" pitchFamily="49" charset="-120"/>
              </a:rPr>
              <a:t>w = 0 when |r| ≥ c</a:t>
            </a:r>
            <a:endParaRPr lang="en-US" sz="1300" dirty="0"/>
          </a:p>
        </p:txBody>
      </p:sp>
      <p:sp>
        <p:nvSpPr>
          <p:cNvPr id="12" name="Text 7"/>
          <p:cNvSpPr/>
          <p:nvPr/>
        </p:nvSpPr>
        <p:spPr>
          <a:xfrm>
            <a:off x="5435564" y="4530998"/>
            <a:ext cx="6121963" cy="540887"/>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3E4A56"/>
                </a:solidFill>
                <a:latin typeface="IBM Plex Sans" pitchFamily="34" charset="0"/>
                <a:ea typeface="IBM Plex Sans" pitchFamily="34" charset="-122"/>
                <a:cs typeface="IBM Plex Sans" pitchFamily="34" charset="-120"/>
              </a:rPr>
              <a:t>Huber’s loss is </a:t>
            </a:r>
            <a:r>
              <a:rPr lang="en-US" sz="1400" b="1" dirty="0">
                <a:solidFill>
                  <a:srgbClr val="3E4A56"/>
                </a:solidFill>
                <a:latin typeface="IBM Plex Sans" pitchFamily="34" charset="0"/>
                <a:ea typeface="IBM Plex Sans" pitchFamily="34" charset="-122"/>
                <a:cs typeface="IBM Plex Sans" pitchFamily="34" charset="-120"/>
              </a:rPr>
              <a:t>convex</a:t>
            </a:r>
            <a:r>
              <a:rPr lang="en-US" sz="1400" dirty="0">
                <a:solidFill>
                  <a:srgbClr val="3E4A56"/>
                </a:solidFill>
                <a:latin typeface="IBM Plex Sans" pitchFamily="34" charset="0"/>
                <a:ea typeface="IBM Plex Sans" pitchFamily="34" charset="-122"/>
                <a:cs typeface="IBM Plex Sans" pitchFamily="34" charset="-120"/>
              </a:rPr>
              <a:t>, so it starts safely. Tukey’s is not: begun from a poor fit it could throw away good anchors. Hence Huber first.</a:t>
            </a:r>
            <a:endParaRPr lang="en-US" sz="1400" dirty="0"/>
          </a:p>
        </p:txBody>
      </p:sp>
      <p:sp>
        <p:nvSpPr>
          <p:cNvPr id="13" name="Text 8"/>
          <p:cNvSpPr/>
          <p:nvPr/>
        </p:nvSpPr>
        <p:spPr>
          <a:xfrm>
            <a:off x="812782" y="6024959"/>
            <a:ext cx="10883382"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682"/>
                </a:solidFill>
                <a:latin typeface="IBM Plex Sans" pitchFamily="34" charset="0"/>
                <a:ea typeface="IBM Plex Sans" pitchFamily="34" charset="-122"/>
                <a:cs typeface="IBM Plex Sans" pitchFamily="34" charset="-120"/>
              </a:rPr>
              <a:t>Fixed schedule, not “until θ stops changing”. Each solve has one answer; the robust fit as a whole is not convex, so its answer depends on the start. 3.9% of fish anchors end at weight 0.</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ECF0F3"/>
        </a:solidFill>
      </p:bgPr>
    </p:bg>
    <p:spTree>
      <p:nvGrpSpPr>
        <p:cNvPr id="1" name=""/>
        <p:cNvGrpSpPr/>
        <p:nvPr/>
      </p:nvGrpSpPr>
      <p:grpSpPr>
        <a:xfrm>
          <a:off x="0" y="0"/>
          <a:ext cx="0" cy="0"/>
          <a:chOff x="0" y="0"/>
          <a:chExt cx="0" cy="0"/>
        </a:xfrm>
      </p:grpSpPr>
      <p:sp>
        <p:nvSpPr>
          <p:cNvPr id="2" name="Text 0"/>
          <p:cNvSpPr/>
          <p:nvPr/>
        </p:nvSpPr>
        <p:spPr>
          <a:xfrm>
            <a:off x="812782" y="812775"/>
            <a:ext cx="10883429"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2F6FBF"/>
                </a:solidFill>
                <a:latin typeface="IBM Plex Sans" pitchFamily="34" charset="0"/>
                <a:ea typeface="IBM Plex Sans" pitchFamily="34" charset="-122"/>
                <a:cs typeface="IBM Plex Sans" pitchFamily="34" charset="-120"/>
              </a:rPr>
              <a:t>Q11 · INTUITION</a:t>
            </a:r>
            <a:endParaRPr lang="en-US" sz="1200" dirty="0"/>
          </a:p>
        </p:txBody>
      </p:sp>
      <p:sp>
        <p:nvSpPr>
          <p:cNvPr id="3" name="Text 1"/>
          <p:cNvSpPr/>
          <p:nvPr>
            <p:ph type="title"/>
          </p:nvPr>
        </p:nvSpPr>
        <p:spPr>
          <a:xfrm>
            <a:off x="812782" y="1127658"/>
            <a:ext cx="10883429" cy="472426"/>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B2A3A"/>
                </a:solidFill>
                <a:latin typeface="Source Serif 4" pitchFamily="18" charset="0"/>
                <a:ea typeface="Source Serif 4" pitchFamily="18" charset="-122"/>
                <a:cs typeface="Source Serif 4" pitchFamily="18" charset="-120"/>
              </a:rPr>
              <a:t>IRLS weighs rows; Adam scales columns</a:t>
            </a:r>
            <a:endParaRPr lang="en-US" sz="3200" dirty="0"/>
          </a:p>
        </p:txBody>
      </p:sp>
      <p:sp>
        <p:nvSpPr>
          <p:cNvPr id="4" name="Shape 2"/>
          <p:cNvSpPr/>
          <p:nvPr/>
        </p:nvSpPr>
        <p:spPr>
          <a:xfrm>
            <a:off x="812782" y="1828688"/>
            <a:ext cx="814947" cy="279391"/>
          </a:xfrm>
          <a:prstGeom prst="rect">
            <a:avLst/>
          </a:prstGeom>
          <a:solidFill>
            <a:srgbClr val="2F6FBF"/>
          </a:solidFill>
          <a:ln/>
        </p:spPr>
      </p:sp>
      <p:sp>
        <p:nvSpPr>
          <p:cNvPr id="5" name="Shape 3"/>
          <p:cNvSpPr/>
          <p:nvPr/>
        </p:nvSpPr>
        <p:spPr>
          <a:xfrm>
            <a:off x="1665793" y="1828688"/>
            <a:ext cx="814947" cy="279391"/>
          </a:xfrm>
          <a:prstGeom prst="rect">
            <a:avLst/>
          </a:prstGeom>
          <a:solidFill>
            <a:srgbClr val="2F6FBF"/>
          </a:solidFill>
          <a:ln/>
        </p:spPr>
      </p:sp>
      <p:sp>
        <p:nvSpPr>
          <p:cNvPr id="6" name="Shape 4"/>
          <p:cNvSpPr/>
          <p:nvPr/>
        </p:nvSpPr>
        <p:spPr>
          <a:xfrm>
            <a:off x="2518803" y="1828688"/>
            <a:ext cx="814947" cy="279391"/>
          </a:xfrm>
          <a:prstGeom prst="rect">
            <a:avLst/>
          </a:prstGeom>
          <a:solidFill>
            <a:srgbClr val="2F6FBF"/>
          </a:solidFill>
          <a:ln/>
        </p:spPr>
      </p:sp>
      <p:sp>
        <p:nvSpPr>
          <p:cNvPr id="7" name="Shape 5"/>
          <p:cNvSpPr/>
          <p:nvPr/>
        </p:nvSpPr>
        <p:spPr>
          <a:xfrm>
            <a:off x="3371814" y="1828688"/>
            <a:ext cx="814947" cy="279391"/>
          </a:xfrm>
          <a:prstGeom prst="rect">
            <a:avLst/>
          </a:prstGeom>
          <a:solidFill>
            <a:srgbClr val="2F6FBF"/>
          </a:solidFill>
          <a:ln/>
        </p:spPr>
      </p:sp>
      <p:sp>
        <p:nvSpPr>
          <p:cNvPr id="8" name="Shape 6"/>
          <p:cNvSpPr/>
          <p:nvPr/>
        </p:nvSpPr>
        <p:spPr>
          <a:xfrm>
            <a:off x="4224824" y="1828688"/>
            <a:ext cx="814947" cy="279391"/>
          </a:xfrm>
          <a:prstGeom prst="rect">
            <a:avLst/>
          </a:prstGeom>
          <a:solidFill>
            <a:srgbClr val="2F6FBF"/>
          </a:solidFill>
          <a:ln/>
        </p:spPr>
      </p:sp>
      <p:sp>
        <p:nvSpPr>
          <p:cNvPr id="9" name="Shape 7"/>
          <p:cNvSpPr/>
          <p:nvPr/>
        </p:nvSpPr>
        <p:spPr>
          <a:xfrm>
            <a:off x="5077835" y="1828688"/>
            <a:ext cx="814947" cy="279391"/>
          </a:xfrm>
          <a:prstGeom prst="rect">
            <a:avLst/>
          </a:prstGeom>
          <a:solidFill>
            <a:srgbClr val="2F6FBF"/>
          </a:solidFill>
          <a:ln/>
        </p:spPr>
      </p:sp>
      <p:sp>
        <p:nvSpPr>
          <p:cNvPr id="10" name="Shape 8"/>
          <p:cNvSpPr/>
          <p:nvPr/>
        </p:nvSpPr>
        <p:spPr>
          <a:xfrm>
            <a:off x="812782" y="2146139"/>
            <a:ext cx="814947" cy="279391"/>
          </a:xfrm>
          <a:prstGeom prst="rect">
            <a:avLst/>
          </a:prstGeom>
          <a:solidFill>
            <a:srgbClr val="8FB4E6"/>
          </a:solidFill>
          <a:ln/>
        </p:spPr>
      </p:sp>
      <p:sp>
        <p:nvSpPr>
          <p:cNvPr id="11" name="Shape 9"/>
          <p:cNvSpPr/>
          <p:nvPr/>
        </p:nvSpPr>
        <p:spPr>
          <a:xfrm>
            <a:off x="1665793" y="2146139"/>
            <a:ext cx="814947" cy="279391"/>
          </a:xfrm>
          <a:prstGeom prst="rect">
            <a:avLst/>
          </a:prstGeom>
          <a:solidFill>
            <a:srgbClr val="8FB4E6"/>
          </a:solidFill>
          <a:ln/>
        </p:spPr>
      </p:sp>
      <p:sp>
        <p:nvSpPr>
          <p:cNvPr id="12" name="Shape 10"/>
          <p:cNvSpPr/>
          <p:nvPr/>
        </p:nvSpPr>
        <p:spPr>
          <a:xfrm>
            <a:off x="2518803" y="2146139"/>
            <a:ext cx="814947" cy="279391"/>
          </a:xfrm>
          <a:prstGeom prst="rect">
            <a:avLst/>
          </a:prstGeom>
          <a:solidFill>
            <a:srgbClr val="8FB4E6"/>
          </a:solidFill>
          <a:ln/>
        </p:spPr>
      </p:sp>
      <p:sp>
        <p:nvSpPr>
          <p:cNvPr id="13" name="Shape 11"/>
          <p:cNvSpPr/>
          <p:nvPr/>
        </p:nvSpPr>
        <p:spPr>
          <a:xfrm>
            <a:off x="3371814" y="2146139"/>
            <a:ext cx="814947" cy="279391"/>
          </a:xfrm>
          <a:prstGeom prst="rect">
            <a:avLst/>
          </a:prstGeom>
          <a:solidFill>
            <a:srgbClr val="8FB4E6"/>
          </a:solidFill>
          <a:ln/>
        </p:spPr>
      </p:sp>
      <p:sp>
        <p:nvSpPr>
          <p:cNvPr id="14" name="Shape 12"/>
          <p:cNvSpPr/>
          <p:nvPr/>
        </p:nvSpPr>
        <p:spPr>
          <a:xfrm>
            <a:off x="4224824" y="2146139"/>
            <a:ext cx="814947" cy="279391"/>
          </a:xfrm>
          <a:prstGeom prst="rect">
            <a:avLst/>
          </a:prstGeom>
          <a:solidFill>
            <a:srgbClr val="8FB4E6"/>
          </a:solidFill>
          <a:ln/>
        </p:spPr>
      </p:sp>
      <p:sp>
        <p:nvSpPr>
          <p:cNvPr id="15" name="Shape 13"/>
          <p:cNvSpPr/>
          <p:nvPr/>
        </p:nvSpPr>
        <p:spPr>
          <a:xfrm>
            <a:off x="5077835" y="2146139"/>
            <a:ext cx="814947" cy="279391"/>
          </a:xfrm>
          <a:prstGeom prst="rect">
            <a:avLst/>
          </a:prstGeom>
          <a:solidFill>
            <a:srgbClr val="8FB4E6"/>
          </a:solidFill>
          <a:ln/>
        </p:spPr>
      </p:sp>
      <p:sp>
        <p:nvSpPr>
          <p:cNvPr id="16" name="Shape 14"/>
          <p:cNvSpPr/>
          <p:nvPr/>
        </p:nvSpPr>
        <p:spPr>
          <a:xfrm>
            <a:off x="812782" y="2463602"/>
            <a:ext cx="814947" cy="279391"/>
          </a:xfrm>
          <a:prstGeom prst="rect">
            <a:avLst/>
          </a:prstGeom>
          <a:solidFill>
            <a:srgbClr val="2F6FBF"/>
          </a:solidFill>
          <a:ln/>
        </p:spPr>
      </p:sp>
      <p:sp>
        <p:nvSpPr>
          <p:cNvPr id="17" name="Shape 15"/>
          <p:cNvSpPr/>
          <p:nvPr/>
        </p:nvSpPr>
        <p:spPr>
          <a:xfrm>
            <a:off x="1665793" y="2463602"/>
            <a:ext cx="814947" cy="279391"/>
          </a:xfrm>
          <a:prstGeom prst="rect">
            <a:avLst/>
          </a:prstGeom>
          <a:solidFill>
            <a:srgbClr val="2F6FBF"/>
          </a:solidFill>
          <a:ln/>
        </p:spPr>
      </p:sp>
      <p:sp>
        <p:nvSpPr>
          <p:cNvPr id="18" name="Shape 16"/>
          <p:cNvSpPr/>
          <p:nvPr/>
        </p:nvSpPr>
        <p:spPr>
          <a:xfrm>
            <a:off x="2518803" y="2463602"/>
            <a:ext cx="814947" cy="279391"/>
          </a:xfrm>
          <a:prstGeom prst="rect">
            <a:avLst/>
          </a:prstGeom>
          <a:solidFill>
            <a:srgbClr val="2F6FBF"/>
          </a:solidFill>
          <a:ln/>
        </p:spPr>
      </p:sp>
      <p:sp>
        <p:nvSpPr>
          <p:cNvPr id="19" name="Shape 17"/>
          <p:cNvSpPr/>
          <p:nvPr/>
        </p:nvSpPr>
        <p:spPr>
          <a:xfrm>
            <a:off x="3371814" y="2463602"/>
            <a:ext cx="814947" cy="279391"/>
          </a:xfrm>
          <a:prstGeom prst="rect">
            <a:avLst/>
          </a:prstGeom>
          <a:solidFill>
            <a:srgbClr val="2F6FBF"/>
          </a:solidFill>
          <a:ln/>
        </p:spPr>
      </p:sp>
      <p:sp>
        <p:nvSpPr>
          <p:cNvPr id="20" name="Shape 18"/>
          <p:cNvSpPr/>
          <p:nvPr/>
        </p:nvSpPr>
        <p:spPr>
          <a:xfrm>
            <a:off x="4224824" y="2463602"/>
            <a:ext cx="814947" cy="279391"/>
          </a:xfrm>
          <a:prstGeom prst="rect">
            <a:avLst/>
          </a:prstGeom>
          <a:solidFill>
            <a:srgbClr val="2F6FBF"/>
          </a:solidFill>
          <a:ln/>
        </p:spPr>
      </p:sp>
      <p:sp>
        <p:nvSpPr>
          <p:cNvPr id="21" name="Shape 19"/>
          <p:cNvSpPr/>
          <p:nvPr/>
        </p:nvSpPr>
        <p:spPr>
          <a:xfrm>
            <a:off x="5077835" y="2463602"/>
            <a:ext cx="814947" cy="279391"/>
          </a:xfrm>
          <a:prstGeom prst="rect">
            <a:avLst/>
          </a:prstGeom>
          <a:solidFill>
            <a:srgbClr val="2F6FBF"/>
          </a:solidFill>
          <a:ln/>
        </p:spPr>
      </p:sp>
      <p:sp>
        <p:nvSpPr>
          <p:cNvPr id="22" name="Shape 20"/>
          <p:cNvSpPr/>
          <p:nvPr/>
        </p:nvSpPr>
        <p:spPr>
          <a:xfrm>
            <a:off x="819132" y="2787402"/>
            <a:ext cx="802247" cy="266691"/>
          </a:xfrm>
          <a:prstGeom prst="rect">
            <a:avLst/>
          </a:prstGeom>
          <a:solidFill>
            <a:srgbClr val="F7F5F0"/>
          </a:solidFill>
          <a:ln w="12700">
            <a:solidFill>
              <a:srgbClr val="A9520F"/>
            </a:solidFill>
            <a:prstDash val="dash"/>
          </a:ln>
        </p:spPr>
      </p:sp>
      <p:sp>
        <p:nvSpPr>
          <p:cNvPr id="23" name="Shape 21"/>
          <p:cNvSpPr/>
          <p:nvPr/>
        </p:nvSpPr>
        <p:spPr>
          <a:xfrm>
            <a:off x="1672143" y="2787402"/>
            <a:ext cx="802247" cy="266691"/>
          </a:xfrm>
          <a:prstGeom prst="rect">
            <a:avLst/>
          </a:prstGeom>
          <a:solidFill>
            <a:srgbClr val="F7F5F0"/>
          </a:solidFill>
          <a:ln w="12700">
            <a:solidFill>
              <a:srgbClr val="A9520F"/>
            </a:solidFill>
            <a:prstDash val="dash"/>
          </a:ln>
        </p:spPr>
      </p:sp>
      <p:sp>
        <p:nvSpPr>
          <p:cNvPr id="24" name="Shape 22"/>
          <p:cNvSpPr/>
          <p:nvPr/>
        </p:nvSpPr>
        <p:spPr>
          <a:xfrm>
            <a:off x="2525153" y="2787402"/>
            <a:ext cx="802247" cy="266691"/>
          </a:xfrm>
          <a:prstGeom prst="rect">
            <a:avLst/>
          </a:prstGeom>
          <a:solidFill>
            <a:srgbClr val="F7F5F0"/>
          </a:solidFill>
          <a:ln w="12700">
            <a:solidFill>
              <a:srgbClr val="A9520F"/>
            </a:solidFill>
            <a:prstDash val="dash"/>
          </a:ln>
        </p:spPr>
      </p:sp>
      <p:sp>
        <p:nvSpPr>
          <p:cNvPr id="25" name="Shape 23"/>
          <p:cNvSpPr/>
          <p:nvPr/>
        </p:nvSpPr>
        <p:spPr>
          <a:xfrm>
            <a:off x="3378164" y="2787402"/>
            <a:ext cx="802247" cy="266691"/>
          </a:xfrm>
          <a:prstGeom prst="rect">
            <a:avLst/>
          </a:prstGeom>
          <a:solidFill>
            <a:srgbClr val="F7F5F0"/>
          </a:solidFill>
          <a:ln w="12700">
            <a:solidFill>
              <a:srgbClr val="A9520F"/>
            </a:solidFill>
            <a:prstDash val="dash"/>
          </a:ln>
        </p:spPr>
      </p:sp>
      <p:sp>
        <p:nvSpPr>
          <p:cNvPr id="26" name="Shape 24"/>
          <p:cNvSpPr/>
          <p:nvPr/>
        </p:nvSpPr>
        <p:spPr>
          <a:xfrm>
            <a:off x="4231174" y="2787402"/>
            <a:ext cx="802247" cy="266691"/>
          </a:xfrm>
          <a:prstGeom prst="rect">
            <a:avLst/>
          </a:prstGeom>
          <a:solidFill>
            <a:srgbClr val="F7F5F0"/>
          </a:solidFill>
          <a:ln w="12700">
            <a:solidFill>
              <a:srgbClr val="A9520F"/>
            </a:solidFill>
            <a:prstDash val="dash"/>
          </a:ln>
        </p:spPr>
      </p:sp>
      <p:sp>
        <p:nvSpPr>
          <p:cNvPr id="27" name="Shape 25"/>
          <p:cNvSpPr/>
          <p:nvPr/>
        </p:nvSpPr>
        <p:spPr>
          <a:xfrm>
            <a:off x="5084185" y="2787402"/>
            <a:ext cx="802247" cy="266691"/>
          </a:xfrm>
          <a:prstGeom prst="rect">
            <a:avLst/>
          </a:prstGeom>
          <a:solidFill>
            <a:srgbClr val="F7F5F0"/>
          </a:solidFill>
          <a:ln w="12700">
            <a:solidFill>
              <a:srgbClr val="A9520F"/>
            </a:solidFill>
            <a:prstDash val="dash"/>
          </a:ln>
        </p:spPr>
      </p:sp>
      <p:sp>
        <p:nvSpPr>
          <p:cNvPr id="28" name="Shape 26"/>
          <p:cNvSpPr/>
          <p:nvPr/>
        </p:nvSpPr>
        <p:spPr>
          <a:xfrm>
            <a:off x="812782" y="3098502"/>
            <a:ext cx="814947" cy="279391"/>
          </a:xfrm>
          <a:prstGeom prst="rect">
            <a:avLst/>
          </a:prstGeom>
          <a:solidFill>
            <a:srgbClr val="2F6FBF"/>
          </a:solidFill>
          <a:ln/>
        </p:spPr>
      </p:sp>
      <p:sp>
        <p:nvSpPr>
          <p:cNvPr id="29" name="Shape 27"/>
          <p:cNvSpPr/>
          <p:nvPr/>
        </p:nvSpPr>
        <p:spPr>
          <a:xfrm>
            <a:off x="1665793" y="3098502"/>
            <a:ext cx="814947" cy="279391"/>
          </a:xfrm>
          <a:prstGeom prst="rect">
            <a:avLst/>
          </a:prstGeom>
          <a:solidFill>
            <a:srgbClr val="2F6FBF"/>
          </a:solidFill>
          <a:ln/>
        </p:spPr>
      </p:sp>
      <p:sp>
        <p:nvSpPr>
          <p:cNvPr id="30" name="Shape 28"/>
          <p:cNvSpPr/>
          <p:nvPr/>
        </p:nvSpPr>
        <p:spPr>
          <a:xfrm>
            <a:off x="2518803" y="3098502"/>
            <a:ext cx="814947" cy="279391"/>
          </a:xfrm>
          <a:prstGeom prst="rect">
            <a:avLst/>
          </a:prstGeom>
          <a:solidFill>
            <a:srgbClr val="2F6FBF"/>
          </a:solidFill>
          <a:ln/>
        </p:spPr>
      </p:sp>
      <p:sp>
        <p:nvSpPr>
          <p:cNvPr id="31" name="Shape 29"/>
          <p:cNvSpPr/>
          <p:nvPr/>
        </p:nvSpPr>
        <p:spPr>
          <a:xfrm>
            <a:off x="3371814" y="3098502"/>
            <a:ext cx="814947" cy="279391"/>
          </a:xfrm>
          <a:prstGeom prst="rect">
            <a:avLst/>
          </a:prstGeom>
          <a:solidFill>
            <a:srgbClr val="2F6FBF"/>
          </a:solidFill>
          <a:ln/>
        </p:spPr>
      </p:sp>
      <p:sp>
        <p:nvSpPr>
          <p:cNvPr id="32" name="Shape 30"/>
          <p:cNvSpPr/>
          <p:nvPr/>
        </p:nvSpPr>
        <p:spPr>
          <a:xfrm>
            <a:off x="4224824" y="3098502"/>
            <a:ext cx="814947" cy="279391"/>
          </a:xfrm>
          <a:prstGeom prst="rect">
            <a:avLst/>
          </a:prstGeom>
          <a:solidFill>
            <a:srgbClr val="2F6FBF"/>
          </a:solidFill>
          <a:ln/>
        </p:spPr>
      </p:sp>
      <p:sp>
        <p:nvSpPr>
          <p:cNvPr id="33" name="Shape 31"/>
          <p:cNvSpPr/>
          <p:nvPr/>
        </p:nvSpPr>
        <p:spPr>
          <a:xfrm>
            <a:off x="5077835" y="3098502"/>
            <a:ext cx="814947" cy="279391"/>
          </a:xfrm>
          <a:prstGeom prst="rect">
            <a:avLst/>
          </a:prstGeom>
          <a:solidFill>
            <a:srgbClr val="2F6FBF"/>
          </a:solidFill>
          <a:ln/>
        </p:spPr>
      </p:sp>
      <p:sp>
        <p:nvSpPr>
          <p:cNvPr id="34" name="Text 32"/>
          <p:cNvSpPr/>
          <p:nvPr/>
        </p:nvSpPr>
        <p:spPr>
          <a:xfrm>
            <a:off x="812782" y="3479465"/>
            <a:ext cx="5232400" cy="284451"/>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B2A3A"/>
                </a:solidFill>
                <a:latin typeface="IBM Plex Sans" pitchFamily="34" charset="0"/>
                <a:ea typeface="IBM Plex Sans" pitchFamily="34" charset="-122"/>
                <a:cs typeface="IBM Plex Sans" pitchFamily="34" charset="-120"/>
              </a:rPr>
              <a:t>IRLS: one weight per anchor (row)</a:t>
            </a:r>
            <a:endParaRPr lang="en-US" sz="1700" dirty="0"/>
          </a:p>
        </p:txBody>
      </p:sp>
      <p:sp>
        <p:nvSpPr>
          <p:cNvPr id="35" name="Text 33"/>
          <p:cNvSpPr/>
          <p:nvPr/>
        </p:nvSpPr>
        <p:spPr>
          <a:xfrm>
            <a:off x="812782" y="3840076"/>
            <a:ext cx="5232400" cy="798630"/>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3E4A56"/>
                </a:solidFill>
                <a:latin typeface="IBM Plex Sans" pitchFamily="34" charset="0"/>
                <a:ea typeface="IBM Plex Sans" pitchFamily="34" charset="-122"/>
                <a:cs typeface="IBM Plex Sans" pitchFamily="34" charset="-120"/>
              </a:rPr>
              <a:t>“How much do I trust this data point?” Pale row: down-weighted. Dashed row: weight 0, a rejected mismatch. All unknowns are then solved together, exactly.</a:t>
            </a:r>
            <a:endParaRPr lang="en-US" sz="1400" dirty="0"/>
          </a:p>
        </p:txBody>
      </p:sp>
      <p:sp>
        <p:nvSpPr>
          <p:cNvPr id="36" name="Shape 34"/>
          <p:cNvSpPr/>
          <p:nvPr/>
        </p:nvSpPr>
        <p:spPr>
          <a:xfrm>
            <a:off x="6299173" y="1828688"/>
            <a:ext cx="814947" cy="279391"/>
          </a:xfrm>
          <a:prstGeom prst="rect">
            <a:avLst/>
          </a:prstGeom>
          <a:solidFill>
            <a:srgbClr val="2F6FBF"/>
          </a:solidFill>
          <a:ln/>
        </p:spPr>
      </p:sp>
      <p:sp>
        <p:nvSpPr>
          <p:cNvPr id="37" name="Shape 35"/>
          <p:cNvSpPr/>
          <p:nvPr/>
        </p:nvSpPr>
        <p:spPr>
          <a:xfrm>
            <a:off x="7152184" y="1828688"/>
            <a:ext cx="814947" cy="279391"/>
          </a:xfrm>
          <a:prstGeom prst="rect">
            <a:avLst/>
          </a:prstGeom>
          <a:solidFill>
            <a:srgbClr val="8FB4E6"/>
          </a:solidFill>
          <a:ln/>
        </p:spPr>
      </p:sp>
      <p:sp>
        <p:nvSpPr>
          <p:cNvPr id="38" name="Shape 36"/>
          <p:cNvSpPr/>
          <p:nvPr/>
        </p:nvSpPr>
        <p:spPr>
          <a:xfrm>
            <a:off x="8005194" y="1828688"/>
            <a:ext cx="814947" cy="279391"/>
          </a:xfrm>
          <a:prstGeom prst="rect">
            <a:avLst/>
          </a:prstGeom>
          <a:solidFill>
            <a:srgbClr val="C9D3DC"/>
          </a:solidFill>
          <a:ln/>
        </p:spPr>
      </p:sp>
      <p:sp>
        <p:nvSpPr>
          <p:cNvPr id="39" name="Shape 37"/>
          <p:cNvSpPr/>
          <p:nvPr/>
        </p:nvSpPr>
        <p:spPr>
          <a:xfrm>
            <a:off x="8858204" y="1828688"/>
            <a:ext cx="814947" cy="279391"/>
          </a:xfrm>
          <a:prstGeom prst="rect">
            <a:avLst/>
          </a:prstGeom>
          <a:solidFill>
            <a:srgbClr val="2F6FBF"/>
          </a:solidFill>
          <a:ln/>
        </p:spPr>
      </p:sp>
      <p:sp>
        <p:nvSpPr>
          <p:cNvPr id="40" name="Shape 38"/>
          <p:cNvSpPr/>
          <p:nvPr/>
        </p:nvSpPr>
        <p:spPr>
          <a:xfrm>
            <a:off x="9711215" y="1828688"/>
            <a:ext cx="814947" cy="279391"/>
          </a:xfrm>
          <a:prstGeom prst="rect">
            <a:avLst/>
          </a:prstGeom>
          <a:solidFill>
            <a:srgbClr val="8FB4E6"/>
          </a:solidFill>
          <a:ln/>
        </p:spPr>
      </p:sp>
      <p:sp>
        <p:nvSpPr>
          <p:cNvPr id="41" name="Shape 39"/>
          <p:cNvSpPr/>
          <p:nvPr/>
        </p:nvSpPr>
        <p:spPr>
          <a:xfrm>
            <a:off x="10564226" y="1828688"/>
            <a:ext cx="814947" cy="279391"/>
          </a:xfrm>
          <a:prstGeom prst="rect">
            <a:avLst/>
          </a:prstGeom>
          <a:solidFill>
            <a:srgbClr val="2F6FBF"/>
          </a:solidFill>
          <a:ln/>
        </p:spPr>
      </p:sp>
      <p:sp>
        <p:nvSpPr>
          <p:cNvPr id="42" name="Shape 40"/>
          <p:cNvSpPr/>
          <p:nvPr/>
        </p:nvSpPr>
        <p:spPr>
          <a:xfrm>
            <a:off x="6299173" y="2146139"/>
            <a:ext cx="814947" cy="279391"/>
          </a:xfrm>
          <a:prstGeom prst="rect">
            <a:avLst/>
          </a:prstGeom>
          <a:solidFill>
            <a:srgbClr val="2F6FBF"/>
          </a:solidFill>
          <a:ln/>
        </p:spPr>
      </p:sp>
      <p:sp>
        <p:nvSpPr>
          <p:cNvPr id="43" name="Shape 41"/>
          <p:cNvSpPr/>
          <p:nvPr/>
        </p:nvSpPr>
        <p:spPr>
          <a:xfrm>
            <a:off x="7152184" y="2146139"/>
            <a:ext cx="814947" cy="279391"/>
          </a:xfrm>
          <a:prstGeom prst="rect">
            <a:avLst/>
          </a:prstGeom>
          <a:solidFill>
            <a:srgbClr val="8FB4E6"/>
          </a:solidFill>
          <a:ln/>
        </p:spPr>
      </p:sp>
      <p:sp>
        <p:nvSpPr>
          <p:cNvPr id="44" name="Shape 42"/>
          <p:cNvSpPr/>
          <p:nvPr/>
        </p:nvSpPr>
        <p:spPr>
          <a:xfrm>
            <a:off x="8005194" y="2146139"/>
            <a:ext cx="814947" cy="279391"/>
          </a:xfrm>
          <a:prstGeom prst="rect">
            <a:avLst/>
          </a:prstGeom>
          <a:solidFill>
            <a:srgbClr val="C9D3DC"/>
          </a:solidFill>
          <a:ln/>
        </p:spPr>
      </p:sp>
      <p:sp>
        <p:nvSpPr>
          <p:cNvPr id="45" name="Shape 43"/>
          <p:cNvSpPr/>
          <p:nvPr/>
        </p:nvSpPr>
        <p:spPr>
          <a:xfrm>
            <a:off x="8858204" y="2146139"/>
            <a:ext cx="814947" cy="279391"/>
          </a:xfrm>
          <a:prstGeom prst="rect">
            <a:avLst/>
          </a:prstGeom>
          <a:solidFill>
            <a:srgbClr val="2F6FBF"/>
          </a:solidFill>
          <a:ln/>
        </p:spPr>
      </p:sp>
      <p:sp>
        <p:nvSpPr>
          <p:cNvPr id="46" name="Shape 44"/>
          <p:cNvSpPr/>
          <p:nvPr/>
        </p:nvSpPr>
        <p:spPr>
          <a:xfrm>
            <a:off x="9711215" y="2146139"/>
            <a:ext cx="814947" cy="279391"/>
          </a:xfrm>
          <a:prstGeom prst="rect">
            <a:avLst/>
          </a:prstGeom>
          <a:solidFill>
            <a:srgbClr val="8FB4E6"/>
          </a:solidFill>
          <a:ln/>
        </p:spPr>
      </p:sp>
      <p:sp>
        <p:nvSpPr>
          <p:cNvPr id="47" name="Shape 45"/>
          <p:cNvSpPr/>
          <p:nvPr/>
        </p:nvSpPr>
        <p:spPr>
          <a:xfrm>
            <a:off x="10564226" y="2146139"/>
            <a:ext cx="814947" cy="279391"/>
          </a:xfrm>
          <a:prstGeom prst="rect">
            <a:avLst/>
          </a:prstGeom>
          <a:solidFill>
            <a:srgbClr val="2F6FBF"/>
          </a:solidFill>
          <a:ln/>
        </p:spPr>
      </p:sp>
      <p:sp>
        <p:nvSpPr>
          <p:cNvPr id="48" name="Shape 46"/>
          <p:cNvSpPr/>
          <p:nvPr/>
        </p:nvSpPr>
        <p:spPr>
          <a:xfrm>
            <a:off x="6299173" y="2463602"/>
            <a:ext cx="814947" cy="279391"/>
          </a:xfrm>
          <a:prstGeom prst="rect">
            <a:avLst/>
          </a:prstGeom>
          <a:solidFill>
            <a:srgbClr val="2F6FBF"/>
          </a:solidFill>
          <a:ln/>
        </p:spPr>
      </p:sp>
      <p:sp>
        <p:nvSpPr>
          <p:cNvPr id="49" name="Shape 47"/>
          <p:cNvSpPr/>
          <p:nvPr/>
        </p:nvSpPr>
        <p:spPr>
          <a:xfrm>
            <a:off x="7152184" y="2463602"/>
            <a:ext cx="814947" cy="279391"/>
          </a:xfrm>
          <a:prstGeom prst="rect">
            <a:avLst/>
          </a:prstGeom>
          <a:solidFill>
            <a:srgbClr val="8FB4E6"/>
          </a:solidFill>
          <a:ln/>
        </p:spPr>
      </p:sp>
      <p:sp>
        <p:nvSpPr>
          <p:cNvPr id="50" name="Shape 48"/>
          <p:cNvSpPr/>
          <p:nvPr/>
        </p:nvSpPr>
        <p:spPr>
          <a:xfrm>
            <a:off x="8005194" y="2463602"/>
            <a:ext cx="814947" cy="279391"/>
          </a:xfrm>
          <a:prstGeom prst="rect">
            <a:avLst/>
          </a:prstGeom>
          <a:solidFill>
            <a:srgbClr val="C9D3DC"/>
          </a:solidFill>
          <a:ln/>
        </p:spPr>
      </p:sp>
      <p:sp>
        <p:nvSpPr>
          <p:cNvPr id="51" name="Shape 49"/>
          <p:cNvSpPr/>
          <p:nvPr/>
        </p:nvSpPr>
        <p:spPr>
          <a:xfrm>
            <a:off x="8858204" y="2463602"/>
            <a:ext cx="814947" cy="279391"/>
          </a:xfrm>
          <a:prstGeom prst="rect">
            <a:avLst/>
          </a:prstGeom>
          <a:solidFill>
            <a:srgbClr val="2F6FBF"/>
          </a:solidFill>
          <a:ln/>
        </p:spPr>
      </p:sp>
      <p:sp>
        <p:nvSpPr>
          <p:cNvPr id="52" name="Shape 50"/>
          <p:cNvSpPr/>
          <p:nvPr/>
        </p:nvSpPr>
        <p:spPr>
          <a:xfrm>
            <a:off x="9711215" y="2463602"/>
            <a:ext cx="814947" cy="279391"/>
          </a:xfrm>
          <a:prstGeom prst="rect">
            <a:avLst/>
          </a:prstGeom>
          <a:solidFill>
            <a:srgbClr val="8FB4E6"/>
          </a:solidFill>
          <a:ln/>
        </p:spPr>
      </p:sp>
      <p:sp>
        <p:nvSpPr>
          <p:cNvPr id="53" name="Shape 51"/>
          <p:cNvSpPr/>
          <p:nvPr/>
        </p:nvSpPr>
        <p:spPr>
          <a:xfrm>
            <a:off x="10564226" y="2463602"/>
            <a:ext cx="814947" cy="279391"/>
          </a:xfrm>
          <a:prstGeom prst="rect">
            <a:avLst/>
          </a:prstGeom>
          <a:solidFill>
            <a:srgbClr val="2F6FBF"/>
          </a:solidFill>
          <a:ln/>
        </p:spPr>
      </p:sp>
      <p:sp>
        <p:nvSpPr>
          <p:cNvPr id="54" name="Shape 52"/>
          <p:cNvSpPr/>
          <p:nvPr/>
        </p:nvSpPr>
        <p:spPr>
          <a:xfrm>
            <a:off x="6299173" y="2781052"/>
            <a:ext cx="814947" cy="279391"/>
          </a:xfrm>
          <a:prstGeom prst="rect">
            <a:avLst/>
          </a:prstGeom>
          <a:solidFill>
            <a:srgbClr val="2F6FBF"/>
          </a:solidFill>
          <a:ln/>
        </p:spPr>
      </p:sp>
      <p:sp>
        <p:nvSpPr>
          <p:cNvPr id="55" name="Shape 53"/>
          <p:cNvSpPr/>
          <p:nvPr/>
        </p:nvSpPr>
        <p:spPr>
          <a:xfrm>
            <a:off x="7152184" y="2781052"/>
            <a:ext cx="814947" cy="279391"/>
          </a:xfrm>
          <a:prstGeom prst="rect">
            <a:avLst/>
          </a:prstGeom>
          <a:solidFill>
            <a:srgbClr val="8FB4E6"/>
          </a:solidFill>
          <a:ln/>
        </p:spPr>
      </p:sp>
      <p:sp>
        <p:nvSpPr>
          <p:cNvPr id="56" name="Shape 54"/>
          <p:cNvSpPr/>
          <p:nvPr/>
        </p:nvSpPr>
        <p:spPr>
          <a:xfrm>
            <a:off x="8005194" y="2781052"/>
            <a:ext cx="814947" cy="279391"/>
          </a:xfrm>
          <a:prstGeom prst="rect">
            <a:avLst/>
          </a:prstGeom>
          <a:solidFill>
            <a:srgbClr val="C9D3DC"/>
          </a:solidFill>
          <a:ln/>
        </p:spPr>
      </p:sp>
      <p:sp>
        <p:nvSpPr>
          <p:cNvPr id="57" name="Shape 55"/>
          <p:cNvSpPr/>
          <p:nvPr/>
        </p:nvSpPr>
        <p:spPr>
          <a:xfrm>
            <a:off x="8858204" y="2781052"/>
            <a:ext cx="814947" cy="279391"/>
          </a:xfrm>
          <a:prstGeom prst="rect">
            <a:avLst/>
          </a:prstGeom>
          <a:solidFill>
            <a:srgbClr val="2F6FBF"/>
          </a:solidFill>
          <a:ln/>
        </p:spPr>
      </p:sp>
      <p:sp>
        <p:nvSpPr>
          <p:cNvPr id="58" name="Shape 56"/>
          <p:cNvSpPr/>
          <p:nvPr/>
        </p:nvSpPr>
        <p:spPr>
          <a:xfrm>
            <a:off x="9711215" y="2781052"/>
            <a:ext cx="814947" cy="279391"/>
          </a:xfrm>
          <a:prstGeom prst="rect">
            <a:avLst/>
          </a:prstGeom>
          <a:solidFill>
            <a:srgbClr val="8FB4E6"/>
          </a:solidFill>
          <a:ln/>
        </p:spPr>
      </p:sp>
      <p:sp>
        <p:nvSpPr>
          <p:cNvPr id="59" name="Shape 57"/>
          <p:cNvSpPr/>
          <p:nvPr/>
        </p:nvSpPr>
        <p:spPr>
          <a:xfrm>
            <a:off x="10564226" y="2781052"/>
            <a:ext cx="814947" cy="279391"/>
          </a:xfrm>
          <a:prstGeom prst="rect">
            <a:avLst/>
          </a:prstGeom>
          <a:solidFill>
            <a:srgbClr val="2F6FBF"/>
          </a:solidFill>
          <a:ln/>
        </p:spPr>
      </p:sp>
      <p:sp>
        <p:nvSpPr>
          <p:cNvPr id="60" name="Shape 58"/>
          <p:cNvSpPr/>
          <p:nvPr/>
        </p:nvSpPr>
        <p:spPr>
          <a:xfrm>
            <a:off x="6299173" y="3098502"/>
            <a:ext cx="814947" cy="279391"/>
          </a:xfrm>
          <a:prstGeom prst="rect">
            <a:avLst/>
          </a:prstGeom>
          <a:solidFill>
            <a:srgbClr val="2F6FBF"/>
          </a:solidFill>
          <a:ln/>
        </p:spPr>
      </p:sp>
      <p:sp>
        <p:nvSpPr>
          <p:cNvPr id="61" name="Shape 59"/>
          <p:cNvSpPr/>
          <p:nvPr/>
        </p:nvSpPr>
        <p:spPr>
          <a:xfrm>
            <a:off x="7152184" y="3098502"/>
            <a:ext cx="814947" cy="279391"/>
          </a:xfrm>
          <a:prstGeom prst="rect">
            <a:avLst/>
          </a:prstGeom>
          <a:solidFill>
            <a:srgbClr val="8FB4E6"/>
          </a:solidFill>
          <a:ln/>
        </p:spPr>
      </p:sp>
      <p:sp>
        <p:nvSpPr>
          <p:cNvPr id="62" name="Shape 60"/>
          <p:cNvSpPr/>
          <p:nvPr/>
        </p:nvSpPr>
        <p:spPr>
          <a:xfrm>
            <a:off x="8005194" y="3098502"/>
            <a:ext cx="814947" cy="279391"/>
          </a:xfrm>
          <a:prstGeom prst="rect">
            <a:avLst/>
          </a:prstGeom>
          <a:solidFill>
            <a:srgbClr val="C9D3DC"/>
          </a:solidFill>
          <a:ln/>
        </p:spPr>
      </p:sp>
      <p:sp>
        <p:nvSpPr>
          <p:cNvPr id="63" name="Shape 61"/>
          <p:cNvSpPr/>
          <p:nvPr/>
        </p:nvSpPr>
        <p:spPr>
          <a:xfrm>
            <a:off x="8858204" y="3098502"/>
            <a:ext cx="814947" cy="279391"/>
          </a:xfrm>
          <a:prstGeom prst="rect">
            <a:avLst/>
          </a:prstGeom>
          <a:solidFill>
            <a:srgbClr val="2F6FBF"/>
          </a:solidFill>
          <a:ln/>
        </p:spPr>
      </p:sp>
      <p:sp>
        <p:nvSpPr>
          <p:cNvPr id="64" name="Shape 62"/>
          <p:cNvSpPr/>
          <p:nvPr/>
        </p:nvSpPr>
        <p:spPr>
          <a:xfrm>
            <a:off x="9711215" y="3098502"/>
            <a:ext cx="814947" cy="279391"/>
          </a:xfrm>
          <a:prstGeom prst="rect">
            <a:avLst/>
          </a:prstGeom>
          <a:solidFill>
            <a:srgbClr val="8FB4E6"/>
          </a:solidFill>
          <a:ln/>
        </p:spPr>
      </p:sp>
      <p:sp>
        <p:nvSpPr>
          <p:cNvPr id="65" name="Shape 63"/>
          <p:cNvSpPr/>
          <p:nvPr/>
        </p:nvSpPr>
        <p:spPr>
          <a:xfrm>
            <a:off x="10564226" y="3098502"/>
            <a:ext cx="814947" cy="279391"/>
          </a:xfrm>
          <a:prstGeom prst="rect">
            <a:avLst/>
          </a:prstGeom>
          <a:solidFill>
            <a:srgbClr val="2F6FBF"/>
          </a:solidFill>
          <a:ln/>
        </p:spPr>
      </p:sp>
      <p:sp>
        <p:nvSpPr>
          <p:cNvPr id="66" name="Text 64"/>
          <p:cNvSpPr/>
          <p:nvPr/>
        </p:nvSpPr>
        <p:spPr>
          <a:xfrm>
            <a:off x="6299173" y="3479465"/>
            <a:ext cx="5232446" cy="284451"/>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B2A3A"/>
                </a:solidFill>
                <a:latin typeface="IBM Plex Sans" pitchFamily="34" charset="0"/>
                <a:ea typeface="IBM Plex Sans" pitchFamily="34" charset="-122"/>
                <a:cs typeface="IBM Plex Sans" pitchFamily="34" charset="-120"/>
              </a:rPr>
              <a:t>Adam: one step size per parameter (column)</a:t>
            </a:r>
            <a:endParaRPr lang="en-US" sz="1700" dirty="0"/>
          </a:p>
        </p:txBody>
      </p:sp>
      <p:sp>
        <p:nvSpPr>
          <p:cNvPr id="67" name="Text 65"/>
          <p:cNvSpPr/>
          <p:nvPr/>
        </p:nvSpPr>
        <p:spPr>
          <a:xfrm>
            <a:off x="6299173" y="3840076"/>
            <a:ext cx="5232446" cy="540887"/>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3E4A56"/>
                </a:solidFill>
                <a:latin typeface="IBM Plex Sans" pitchFamily="34" charset="0"/>
                <a:ea typeface="IBM Plex Sans" pitchFamily="34" charset="-122"/>
                <a:cs typeface="IBM Plex Sans" pitchFamily="34" charset="-120"/>
              </a:rPr>
              <a:t>“How far should I move this unknown?” Every data point counts fully; each parameter takes its own gradient step.</a:t>
            </a:r>
            <a:endParaRPr lang="en-US" sz="1400" dirty="0"/>
          </a:p>
        </p:txBody>
      </p:sp>
      <p:sp>
        <p:nvSpPr>
          <p:cNvPr id="68" name="Text 66"/>
          <p:cNvSpPr/>
          <p:nvPr/>
        </p:nvSpPr>
        <p:spPr>
          <a:xfrm>
            <a:off x="812782" y="6238280"/>
            <a:ext cx="1088338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682"/>
                </a:solidFill>
                <a:latin typeface="IBM Plex Sans" pitchFamily="34" charset="0"/>
                <a:ea typeface="IBM Plex Sans" pitchFamily="34" charset="-122"/>
                <a:cs typeface="IBM Plex Sans" pitchFamily="34" charset="-120"/>
              </a:rPr>
              <a:t>A closer analogy from machine learning: per-sample loss weighting, as in robust regression or down-weighting noisy labels.</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5F0"/>
        </a:solidFill>
      </p:bgPr>
    </p:bg>
    <p:spTree>
      <p:nvGrpSpPr>
        <p:cNvPr id="1" name=""/>
        <p:cNvGrpSpPr/>
        <p:nvPr/>
      </p:nvGrpSpPr>
      <p:grpSpPr>
        <a:xfrm>
          <a:off x="0" y="0"/>
          <a:ext cx="0" cy="0"/>
          <a:chOff x="0" y="0"/>
          <a:chExt cx="0" cy="0"/>
        </a:xfrm>
      </p:grpSpPr>
      <p:sp>
        <p:nvSpPr>
          <p:cNvPr id="2" name="Text 0"/>
          <p:cNvSpPr/>
          <p:nvPr/>
        </p:nvSpPr>
        <p:spPr>
          <a:xfrm>
            <a:off x="812782" y="812775"/>
            <a:ext cx="10883429"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2F6FBF"/>
                </a:solidFill>
                <a:latin typeface="IBM Plex Sans" pitchFamily="34" charset="0"/>
                <a:ea typeface="IBM Plex Sans" pitchFamily="34" charset="-122"/>
                <a:cs typeface="IBM Plex Sans" pitchFamily="34" charset="-120"/>
              </a:rPr>
              <a:t>Q12 · INTUITION AND MATHS</a:t>
            </a:r>
            <a:endParaRPr lang="en-US" sz="1200" dirty="0"/>
          </a:p>
        </p:txBody>
      </p:sp>
      <p:sp>
        <p:nvSpPr>
          <p:cNvPr id="3" name="Text 1"/>
          <p:cNvSpPr/>
          <p:nvPr>
            <p:ph type="title"/>
          </p:nvPr>
        </p:nvSpPr>
        <p:spPr>
          <a:xfrm>
            <a:off x="812782" y="1127658"/>
            <a:ext cx="10883429" cy="472426"/>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B2A3A"/>
                </a:solidFill>
                <a:latin typeface="Source Serif 4" pitchFamily="18" charset="0"/>
                <a:ea typeface="Source Serif 4" pitchFamily="18" charset="-122"/>
                <a:cs typeface="Source Serif 4" pitchFamily="18" charset="-120"/>
              </a:rPr>
              <a:t>Hold out stretches of time, not samples</a:t>
            </a:r>
            <a:endParaRPr lang="en-US" sz="3200" dirty="0"/>
          </a:p>
        </p:txBody>
      </p:sp>
      <p:sp>
        <p:nvSpPr>
          <p:cNvPr id="4" name="Text 2"/>
          <p:cNvSpPr/>
          <p:nvPr/>
        </p:nvSpPr>
        <p:spPr>
          <a:xfrm>
            <a:off x="812782" y="1803251"/>
            <a:ext cx="609609" cy="408917"/>
          </a:xfrm>
          <a:prstGeom prst="rect">
            <a:avLst/>
          </a:prstGeom>
          <a:solidFill>
            <a:srgbClr val="E2E7EC"/>
          </a:solidFill>
          <a:ln/>
        </p:spPr>
        <p:txBody>
          <a:bodyPr wrap="square" lIns="0" tIns="88900" rIns="0" bIns="63500" rtlCol="0" anchor="t">
            <a:normAutofit/>
          </a:bodyPr>
          <a:lstStyle/>
          <a:p>
            <a:pPr algn="ctr" indent="0" marL="0">
              <a:lnSpc>
                <a:spcPts val="1820"/>
              </a:lnSpc>
              <a:buNone/>
            </a:pPr>
            <a:r>
              <a:rPr lang="en-US" sz="1300" dirty="0">
                <a:solidFill>
                  <a:srgbClr val="3E4A56"/>
                </a:solidFill>
                <a:latin typeface="IBM Plex Sans" pitchFamily="34" charset="0"/>
                <a:ea typeface="IBM Plex Sans" pitchFamily="34" charset="-122"/>
                <a:cs typeface="IBM Plex Sans" pitchFamily="34" charset="-120"/>
              </a:rPr>
              <a:t>0</a:t>
            </a:r>
            <a:endParaRPr lang="en-US" sz="1300" dirty="0"/>
          </a:p>
        </p:txBody>
      </p:sp>
      <p:sp>
        <p:nvSpPr>
          <p:cNvPr id="5" name="Text 3"/>
          <p:cNvSpPr/>
          <p:nvPr/>
        </p:nvSpPr>
        <p:spPr>
          <a:xfrm>
            <a:off x="1447782" y="1803251"/>
            <a:ext cx="609654" cy="408917"/>
          </a:xfrm>
          <a:prstGeom prst="rect">
            <a:avLst/>
          </a:prstGeom>
          <a:solidFill>
            <a:srgbClr val="E2E7EC"/>
          </a:solidFill>
          <a:ln/>
        </p:spPr>
        <p:txBody>
          <a:bodyPr wrap="square" lIns="0" tIns="88900" rIns="0" bIns="63500" rtlCol="0" anchor="t">
            <a:normAutofit/>
          </a:bodyPr>
          <a:lstStyle/>
          <a:p>
            <a:pPr algn="ctr" indent="0" marL="0">
              <a:lnSpc>
                <a:spcPts val="1820"/>
              </a:lnSpc>
              <a:buNone/>
            </a:pPr>
            <a:r>
              <a:rPr lang="en-US" sz="1300" dirty="0">
                <a:solidFill>
                  <a:srgbClr val="3E4A56"/>
                </a:solidFill>
                <a:latin typeface="IBM Plex Sans" pitchFamily="34" charset="0"/>
                <a:ea typeface="IBM Plex Sans" pitchFamily="34" charset="-122"/>
                <a:cs typeface="IBM Plex Sans" pitchFamily="34" charset="-120"/>
              </a:rPr>
              <a:t>1</a:t>
            </a:r>
            <a:endParaRPr lang="en-US" sz="1300" dirty="0"/>
          </a:p>
        </p:txBody>
      </p:sp>
      <p:sp>
        <p:nvSpPr>
          <p:cNvPr id="6" name="Text 4"/>
          <p:cNvSpPr/>
          <p:nvPr/>
        </p:nvSpPr>
        <p:spPr>
          <a:xfrm>
            <a:off x="2082827" y="1803251"/>
            <a:ext cx="609609" cy="408917"/>
          </a:xfrm>
          <a:prstGeom prst="rect">
            <a:avLst/>
          </a:prstGeom>
          <a:solidFill>
            <a:srgbClr val="F0B184"/>
          </a:solidFill>
          <a:ln/>
        </p:spPr>
        <p:txBody>
          <a:bodyPr wrap="square" lIns="0" tIns="88900" rIns="0" bIns="63500" rtlCol="0" anchor="t">
            <a:normAutofit/>
          </a:bodyPr>
          <a:lstStyle/>
          <a:p>
            <a:pPr algn="ctr" indent="0" marL="0">
              <a:lnSpc>
                <a:spcPts val="1820"/>
              </a:lnSpc>
              <a:buNone/>
            </a:pPr>
            <a:r>
              <a:rPr lang="en-US" sz="1300" b="1" dirty="0">
                <a:solidFill>
                  <a:srgbClr val="1B2A3A"/>
                </a:solidFill>
                <a:latin typeface="IBM Plex Sans" pitchFamily="34" charset="0"/>
                <a:ea typeface="IBM Plex Sans" pitchFamily="34" charset="-122"/>
                <a:cs typeface="IBM Plex Sans" pitchFamily="34" charset="-120"/>
              </a:rPr>
              <a:t>2</a:t>
            </a:r>
            <a:endParaRPr lang="en-US" sz="1300" dirty="0"/>
          </a:p>
        </p:txBody>
      </p:sp>
      <p:sp>
        <p:nvSpPr>
          <p:cNvPr id="7" name="Text 5"/>
          <p:cNvSpPr/>
          <p:nvPr/>
        </p:nvSpPr>
        <p:spPr>
          <a:xfrm>
            <a:off x="2717827" y="1803251"/>
            <a:ext cx="609609" cy="408917"/>
          </a:xfrm>
          <a:prstGeom prst="rect">
            <a:avLst/>
          </a:prstGeom>
          <a:solidFill>
            <a:srgbClr val="E2E7EC"/>
          </a:solidFill>
          <a:ln/>
        </p:spPr>
        <p:txBody>
          <a:bodyPr wrap="square" lIns="0" tIns="88900" rIns="0" bIns="63500" rtlCol="0" anchor="t">
            <a:normAutofit/>
          </a:bodyPr>
          <a:lstStyle/>
          <a:p>
            <a:pPr algn="ctr" indent="0" marL="0">
              <a:lnSpc>
                <a:spcPts val="1820"/>
              </a:lnSpc>
              <a:buNone/>
            </a:pPr>
            <a:r>
              <a:rPr lang="en-US" sz="1300" dirty="0">
                <a:solidFill>
                  <a:srgbClr val="3E4A56"/>
                </a:solidFill>
                <a:latin typeface="IBM Plex Sans" pitchFamily="34" charset="0"/>
                <a:ea typeface="IBM Plex Sans" pitchFamily="34" charset="-122"/>
                <a:cs typeface="IBM Plex Sans" pitchFamily="34" charset="-120"/>
              </a:rPr>
              <a:t>3</a:t>
            </a:r>
            <a:endParaRPr lang="en-US" sz="1300" dirty="0"/>
          </a:p>
        </p:txBody>
      </p:sp>
      <p:sp>
        <p:nvSpPr>
          <p:cNvPr id="8" name="Text 6"/>
          <p:cNvSpPr/>
          <p:nvPr/>
        </p:nvSpPr>
        <p:spPr>
          <a:xfrm>
            <a:off x="3352827" y="1803251"/>
            <a:ext cx="609609" cy="408917"/>
          </a:xfrm>
          <a:prstGeom prst="rect">
            <a:avLst/>
          </a:prstGeom>
          <a:solidFill>
            <a:srgbClr val="E2E7EC"/>
          </a:solidFill>
          <a:ln/>
        </p:spPr>
        <p:txBody>
          <a:bodyPr wrap="square" lIns="0" tIns="88900" rIns="0" bIns="63500" rtlCol="0" anchor="t">
            <a:normAutofit/>
          </a:bodyPr>
          <a:lstStyle/>
          <a:p>
            <a:pPr algn="ctr" indent="0" marL="0">
              <a:lnSpc>
                <a:spcPts val="1820"/>
              </a:lnSpc>
              <a:buNone/>
            </a:pPr>
            <a:r>
              <a:rPr lang="en-US" sz="1300" dirty="0">
                <a:solidFill>
                  <a:srgbClr val="3E4A56"/>
                </a:solidFill>
                <a:latin typeface="IBM Plex Sans" pitchFamily="34" charset="0"/>
                <a:ea typeface="IBM Plex Sans" pitchFamily="34" charset="-122"/>
                <a:cs typeface="IBM Plex Sans" pitchFamily="34" charset="-120"/>
              </a:rPr>
              <a:t>4</a:t>
            </a:r>
            <a:endParaRPr lang="en-US" sz="1300" dirty="0"/>
          </a:p>
        </p:txBody>
      </p:sp>
      <p:sp>
        <p:nvSpPr>
          <p:cNvPr id="9" name="Text 7"/>
          <p:cNvSpPr/>
          <p:nvPr/>
        </p:nvSpPr>
        <p:spPr>
          <a:xfrm>
            <a:off x="3987827" y="1803251"/>
            <a:ext cx="609609" cy="408917"/>
          </a:xfrm>
          <a:prstGeom prst="rect">
            <a:avLst/>
          </a:prstGeom>
          <a:solidFill>
            <a:srgbClr val="E2E7EC"/>
          </a:solidFill>
          <a:ln/>
        </p:spPr>
        <p:txBody>
          <a:bodyPr wrap="square" lIns="0" tIns="88900" rIns="0" bIns="63500" rtlCol="0" anchor="t">
            <a:normAutofit/>
          </a:bodyPr>
          <a:lstStyle/>
          <a:p>
            <a:pPr algn="ctr" indent="0" marL="0">
              <a:lnSpc>
                <a:spcPts val="1820"/>
              </a:lnSpc>
              <a:buNone/>
            </a:pPr>
            <a:r>
              <a:rPr lang="en-US" sz="1300" dirty="0">
                <a:solidFill>
                  <a:srgbClr val="3E4A56"/>
                </a:solidFill>
                <a:latin typeface="IBM Plex Sans" pitchFamily="34" charset="0"/>
                <a:ea typeface="IBM Plex Sans" pitchFamily="34" charset="-122"/>
                <a:cs typeface="IBM Plex Sans" pitchFamily="34" charset="-120"/>
              </a:rPr>
              <a:t>0</a:t>
            </a:r>
            <a:endParaRPr lang="en-US" sz="1300" dirty="0"/>
          </a:p>
        </p:txBody>
      </p:sp>
      <p:sp>
        <p:nvSpPr>
          <p:cNvPr id="10" name="Text 8"/>
          <p:cNvSpPr/>
          <p:nvPr/>
        </p:nvSpPr>
        <p:spPr>
          <a:xfrm>
            <a:off x="4622827" y="1803251"/>
            <a:ext cx="609609" cy="408917"/>
          </a:xfrm>
          <a:prstGeom prst="rect">
            <a:avLst/>
          </a:prstGeom>
          <a:solidFill>
            <a:srgbClr val="E2E7EC"/>
          </a:solidFill>
          <a:ln/>
        </p:spPr>
        <p:txBody>
          <a:bodyPr wrap="square" lIns="0" tIns="88900" rIns="0" bIns="63500" rtlCol="0" anchor="t">
            <a:normAutofit/>
          </a:bodyPr>
          <a:lstStyle/>
          <a:p>
            <a:pPr algn="ctr" indent="0" marL="0">
              <a:lnSpc>
                <a:spcPts val="1820"/>
              </a:lnSpc>
              <a:buNone/>
            </a:pPr>
            <a:r>
              <a:rPr lang="en-US" sz="1300" dirty="0">
                <a:solidFill>
                  <a:srgbClr val="3E4A56"/>
                </a:solidFill>
                <a:latin typeface="IBM Plex Sans" pitchFamily="34" charset="0"/>
                <a:ea typeface="IBM Plex Sans" pitchFamily="34" charset="-122"/>
                <a:cs typeface="IBM Plex Sans" pitchFamily="34" charset="-120"/>
              </a:rPr>
              <a:t>1</a:t>
            </a:r>
            <a:endParaRPr lang="en-US" sz="1300" dirty="0"/>
          </a:p>
        </p:txBody>
      </p:sp>
      <p:sp>
        <p:nvSpPr>
          <p:cNvPr id="11" name="Text 9"/>
          <p:cNvSpPr/>
          <p:nvPr/>
        </p:nvSpPr>
        <p:spPr>
          <a:xfrm>
            <a:off x="5257827" y="1803251"/>
            <a:ext cx="609609" cy="408917"/>
          </a:xfrm>
          <a:prstGeom prst="rect">
            <a:avLst/>
          </a:prstGeom>
          <a:solidFill>
            <a:srgbClr val="F0B184"/>
          </a:solidFill>
          <a:ln/>
        </p:spPr>
        <p:txBody>
          <a:bodyPr wrap="square" lIns="0" tIns="88900" rIns="0" bIns="63500" rtlCol="0" anchor="t">
            <a:normAutofit/>
          </a:bodyPr>
          <a:lstStyle/>
          <a:p>
            <a:pPr algn="ctr" indent="0" marL="0">
              <a:lnSpc>
                <a:spcPts val="1820"/>
              </a:lnSpc>
              <a:buNone/>
            </a:pPr>
            <a:r>
              <a:rPr lang="en-US" sz="1300" b="1" dirty="0">
                <a:solidFill>
                  <a:srgbClr val="1B2A3A"/>
                </a:solidFill>
                <a:latin typeface="IBM Plex Sans" pitchFamily="34" charset="0"/>
                <a:ea typeface="IBM Plex Sans" pitchFamily="34" charset="-122"/>
                <a:cs typeface="IBM Plex Sans" pitchFamily="34" charset="-120"/>
              </a:rPr>
              <a:t>2</a:t>
            </a:r>
            <a:endParaRPr lang="en-US" sz="1300" dirty="0"/>
          </a:p>
        </p:txBody>
      </p:sp>
      <p:sp>
        <p:nvSpPr>
          <p:cNvPr id="12" name="Text 10"/>
          <p:cNvSpPr/>
          <p:nvPr/>
        </p:nvSpPr>
        <p:spPr>
          <a:xfrm>
            <a:off x="5892827" y="1803251"/>
            <a:ext cx="609609" cy="408917"/>
          </a:xfrm>
          <a:prstGeom prst="rect">
            <a:avLst/>
          </a:prstGeom>
          <a:solidFill>
            <a:srgbClr val="E2E7EC"/>
          </a:solidFill>
          <a:ln/>
        </p:spPr>
        <p:txBody>
          <a:bodyPr wrap="square" lIns="0" tIns="88900" rIns="0" bIns="63500" rtlCol="0" anchor="t">
            <a:normAutofit/>
          </a:bodyPr>
          <a:lstStyle/>
          <a:p>
            <a:pPr algn="ctr" indent="0" marL="0">
              <a:lnSpc>
                <a:spcPts val="1820"/>
              </a:lnSpc>
              <a:buNone/>
            </a:pPr>
            <a:r>
              <a:rPr lang="en-US" sz="1300" dirty="0">
                <a:solidFill>
                  <a:srgbClr val="3E4A56"/>
                </a:solidFill>
                <a:latin typeface="IBM Plex Sans" pitchFamily="34" charset="0"/>
                <a:ea typeface="IBM Plex Sans" pitchFamily="34" charset="-122"/>
                <a:cs typeface="IBM Plex Sans" pitchFamily="34" charset="-120"/>
              </a:rPr>
              <a:t>3</a:t>
            </a:r>
            <a:endParaRPr lang="en-US" sz="1300" dirty="0"/>
          </a:p>
        </p:txBody>
      </p:sp>
      <p:sp>
        <p:nvSpPr>
          <p:cNvPr id="13" name="Text 11"/>
          <p:cNvSpPr/>
          <p:nvPr/>
        </p:nvSpPr>
        <p:spPr>
          <a:xfrm>
            <a:off x="6527827" y="1803251"/>
            <a:ext cx="609609" cy="408917"/>
          </a:xfrm>
          <a:prstGeom prst="rect">
            <a:avLst/>
          </a:prstGeom>
          <a:solidFill>
            <a:srgbClr val="E2E7EC"/>
          </a:solidFill>
          <a:ln/>
        </p:spPr>
        <p:txBody>
          <a:bodyPr wrap="square" lIns="0" tIns="88900" rIns="0" bIns="63500" rtlCol="0" anchor="t">
            <a:normAutofit/>
          </a:bodyPr>
          <a:lstStyle/>
          <a:p>
            <a:pPr algn="ctr" indent="0" marL="0">
              <a:lnSpc>
                <a:spcPts val="1820"/>
              </a:lnSpc>
              <a:buNone/>
            </a:pPr>
            <a:r>
              <a:rPr lang="en-US" sz="1300" dirty="0">
                <a:solidFill>
                  <a:srgbClr val="3E4A56"/>
                </a:solidFill>
                <a:latin typeface="IBM Plex Sans" pitchFamily="34" charset="0"/>
                <a:ea typeface="IBM Plex Sans" pitchFamily="34" charset="-122"/>
                <a:cs typeface="IBM Plex Sans" pitchFamily="34" charset="-120"/>
              </a:rPr>
              <a:t>4</a:t>
            </a:r>
            <a:endParaRPr lang="en-US" sz="1300" dirty="0"/>
          </a:p>
        </p:txBody>
      </p:sp>
      <p:sp>
        <p:nvSpPr>
          <p:cNvPr id="14" name="Text 12"/>
          <p:cNvSpPr/>
          <p:nvPr/>
        </p:nvSpPr>
        <p:spPr>
          <a:xfrm>
            <a:off x="7162827" y="1803251"/>
            <a:ext cx="609609" cy="408917"/>
          </a:xfrm>
          <a:prstGeom prst="rect">
            <a:avLst/>
          </a:prstGeom>
          <a:solidFill>
            <a:srgbClr val="E2E7EC"/>
          </a:solidFill>
          <a:ln/>
        </p:spPr>
        <p:txBody>
          <a:bodyPr wrap="square" lIns="0" tIns="88900" rIns="0" bIns="63500" rtlCol="0" anchor="t">
            <a:normAutofit/>
          </a:bodyPr>
          <a:lstStyle/>
          <a:p>
            <a:pPr algn="ctr" indent="0" marL="0">
              <a:lnSpc>
                <a:spcPts val="1820"/>
              </a:lnSpc>
              <a:buNone/>
            </a:pPr>
            <a:r>
              <a:rPr lang="en-US" sz="1300" dirty="0">
                <a:solidFill>
                  <a:srgbClr val="3E4A56"/>
                </a:solidFill>
                <a:latin typeface="IBM Plex Sans" pitchFamily="34" charset="0"/>
                <a:ea typeface="IBM Plex Sans" pitchFamily="34" charset="-122"/>
                <a:cs typeface="IBM Plex Sans" pitchFamily="34" charset="-120"/>
              </a:rPr>
              <a:t>0</a:t>
            </a:r>
            <a:endParaRPr lang="en-US" sz="1300" dirty="0"/>
          </a:p>
        </p:txBody>
      </p:sp>
      <p:sp>
        <p:nvSpPr>
          <p:cNvPr id="15" name="Text 13"/>
          <p:cNvSpPr/>
          <p:nvPr/>
        </p:nvSpPr>
        <p:spPr>
          <a:xfrm>
            <a:off x="7797827" y="1803251"/>
            <a:ext cx="609609" cy="408917"/>
          </a:xfrm>
          <a:prstGeom prst="rect">
            <a:avLst/>
          </a:prstGeom>
          <a:solidFill>
            <a:srgbClr val="E2E7EC"/>
          </a:solidFill>
          <a:ln/>
        </p:spPr>
        <p:txBody>
          <a:bodyPr wrap="square" lIns="0" tIns="88900" rIns="0" bIns="63500" rtlCol="0" anchor="t">
            <a:normAutofit/>
          </a:bodyPr>
          <a:lstStyle/>
          <a:p>
            <a:pPr algn="ctr" indent="0" marL="0">
              <a:lnSpc>
                <a:spcPts val="1820"/>
              </a:lnSpc>
              <a:buNone/>
            </a:pPr>
            <a:r>
              <a:rPr lang="en-US" sz="1300" dirty="0">
                <a:solidFill>
                  <a:srgbClr val="3E4A56"/>
                </a:solidFill>
                <a:latin typeface="IBM Plex Sans" pitchFamily="34" charset="0"/>
                <a:ea typeface="IBM Plex Sans" pitchFamily="34" charset="-122"/>
                <a:cs typeface="IBM Plex Sans" pitchFamily="34" charset="-120"/>
              </a:rPr>
              <a:t>1</a:t>
            </a:r>
            <a:endParaRPr lang="en-US" sz="1300" dirty="0"/>
          </a:p>
        </p:txBody>
      </p:sp>
      <p:sp>
        <p:nvSpPr>
          <p:cNvPr id="16" name="Text 14"/>
          <p:cNvSpPr/>
          <p:nvPr/>
        </p:nvSpPr>
        <p:spPr>
          <a:xfrm>
            <a:off x="8432827" y="1803251"/>
            <a:ext cx="609609" cy="408917"/>
          </a:xfrm>
          <a:prstGeom prst="rect">
            <a:avLst/>
          </a:prstGeom>
          <a:solidFill>
            <a:srgbClr val="F0B184"/>
          </a:solidFill>
          <a:ln/>
        </p:spPr>
        <p:txBody>
          <a:bodyPr wrap="square" lIns="0" tIns="88900" rIns="0" bIns="63500" rtlCol="0" anchor="t">
            <a:normAutofit/>
          </a:bodyPr>
          <a:lstStyle/>
          <a:p>
            <a:pPr algn="ctr" indent="0" marL="0">
              <a:lnSpc>
                <a:spcPts val="1820"/>
              </a:lnSpc>
              <a:buNone/>
            </a:pPr>
            <a:r>
              <a:rPr lang="en-US" sz="1300" b="1" dirty="0">
                <a:solidFill>
                  <a:srgbClr val="1B2A3A"/>
                </a:solidFill>
                <a:latin typeface="IBM Plex Sans" pitchFamily="34" charset="0"/>
                <a:ea typeface="IBM Plex Sans" pitchFamily="34" charset="-122"/>
                <a:cs typeface="IBM Plex Sans" pitchFamily="34" charset="-120"/>
              </a:rPr>
              <a:t>2</a:t>
            </a:r>
            <a:endParaRPr lang="en-US" sz="1300" dirty="0"/>
          </a:p>
        </p:txBody>
      </p:sp>
      <p:sp>
        <p:nvSpPr>
          <p:cNvPr id="17" name="Text 15"/>
          <p:cNvSpPr/>
          <p:nvPr/>
        </p:nvSpPr>
        <p:spPr>
          <a:xfrm>
            <a:off x="9067826" y="1803251"/>
            <a:ext cx="609609" cy="408917"/>
          </a:xfrm>
          <a:prstGeom prst="rect">
            <a:avLst/>
          </a:prstGeom>
          <a:solidFill>
            <a:srgbClr val="E2E7EC"/>
          </a:solidFill>
          <a:ln/>
        </p:spPr>
        <p:txBody>
          <a:bodyPr wrap="square" lIns="0" tIns="88900" rIns="0" bIns="63500" rtlCol="0" anchor="t">
            <a:normAutofit/>
          </a:bodyPr>
          <a:lstStyle/>
          <a:p>
            <a:pPr algn="ctr" indent="0" marL="0">
              <a:lnSpc>
                <a:spcPts val="1820"/>
              </a:lnSpc>
              <a:buNone/>
            </a:pPr>
            <a:r>
              <a:rPr lang="en-US" sz="1300" dirty="0">
                <a:solidFill>
                  <a:srgbClr val="3E4A56"/>
                </a:solidFill>
                <a:latin typeface="IBM Plex Sans" pitchFamily="34" charset="0"/>
                <a:ea typeface="IBM Plex Sans" pitchFamily="34" charset="-122"/>
                <a:cs typeface="IBM Plex Sans" pitchFamily="34" charset="-120"/>
              </a:rPr>
              <a:t>3</a:t>
            </a:r>
            <a:endParaRPr lang="en-US" sz="1300" dirty="0"/>
          </a:p>
        </p:txBody>
      </p:sp>
      <p:sp>
        <p:nvSpPr>
          <p:cNvPr id="18" name="Text 16"/>
          <p:cNvSpPr/>
          <p:nvPr/>
        </p:nvSpPr>
        <p:spPr>
          <a:xfrm>
            <a:off x="9702826" y="1803251"/>
            <a:ext cx="609609" cy="408917"/>
          </a:xfrm>
          <a:prstGeom prst="rect">
            <a:avLst/>
          </a:prstGeom>
          <a:solidFill>
            <a:srgbClr val="E2E7EC"/>
          </a:solidFill>
          <a:ln/>
        </p:spPr>
        <p:txBody>
          <a:bodyPr wrap="square" lIns="0" tIns="88900" rIns="0" bIns="63500" rtlCol="0" anchor="t">
            <a:normAutofit/>
          </a:bodyPr>
          <a:lstStyle/>
          <a:p>
            <a:pPr algn="ctr" indent="0" marL="0">
              <a:lnSpc>
                <a:spcPts val="1820"/>
              </a:lnSpc>
              <a:buNone/>
            </a:pPr>
            <a:r>
              <a:rPr lang="en-US" sz="1300" dirty="0">
                <a:solidFill>
                  <a:srgbClr val="3E4A56"/>
                </a:solidFill>
                <a:latin typeface="IBM Plex Sans" pitchFamily="34" charset="0"/>
                <a:ea typeface="IBM Plex Sans" pitchFamily="34" charset="-122"/>
                <a:cs typeface="IBM Plex Sans" pitchFamily="34" charset="-120"/>
              </a:rPr>
              <a:t>4</a:t>
            </a:r>
            <a:endParaRPr lang="en-US" sz="1300" dirty="0"/>
          </a:p>
        </p:txBody>
      </p:sp>
      <p:sp>
        <p:nvSpPr>
          <p:cNvPr id="19" name="Text 17"/>
          <p:cNvSpPr/>
          <p:nvPr/>
        </p:nvSpPr>
        <p:spPr>
          <a:xfrm>
            <a:off x="10337826" y="1803251"/>
            <a:ext cx="609609" cy="408917"/>
          </a:xfrm>
          <a:prstGeom prst="rect">
            <a:avLst/>
          </a:prstGeom>
          <a:solidFill>
            <a:srgbClr val="E2E7EC"/>
          </a:solidFill>
          <a:ln/>
        </p:spPr>
        <p:txBody>
          <a:bodyPr wrap="square" lIns="0" tIns="88900" rIns="0" bIns="63500" rtlCol="0" anchor="t">
            <a:normAutofit/>
          </a:bodyPr>
          <a:lstStyle/>
          <a:p>
            <a:pPr algn="ctr" indent="0" marL="0">
              <a:lnSpc>
                <a:spcPts val="1820"/>
              </a:lnSpc>
              <a:buNone/>
            </a:pPr>
            <a:r>
              <a:rPr lang="en-US" sz="1300" dirty="0">
                <a:solidFill>
                  <a:srgbClr val="3E4A56"/>
                </a:solidFill>
                <a:latin typeface="IBM Plex Sans" pitchFamily="34" charset="0"/>
                <a:ea typeface="IBM Plex Sans" pitchFamily="34" charset="-122"/>
                <a:cs typeface="IBM Plex Sans" pitchFamily="34" charset="-120"/>
              </a:rPr>
              <a:t>0</a:t>
            </a:r>
            <a:endParaRPr lang="en-US" sz="1300" dirty="0"/>
          </a:p>
        </p:txBody>
      </p:sp>
      <p:sp>
        <p:nvSpPr>
          <p:cNvPr id="20" name="Text 18"/>
          <p:cNvSpPr/>
          <p:nvPr/>
        </p:nvSpPr>
        <p:spPr>
          <a:xfrm>
            <a:off x="10972826" y="1803251"/>
            <a:ext cx="406391" cy="408917"/>
          </a:xfrm>
          <a:prstGeom prst="rect">
            <a:avLst/>
          </a:prstGeom>
          <a:solidFill>
            <a:srgbClr val="E2E7EC"/>
          </a:solidFill>
          <a:ln/>
        </p:spPr>
        <p:txBody>
          <a:bodyPr wrap="square" lIns="0" tIns="88900" rIns="0" bIns="63500" rtlCol="0" anchor="t">
            <a:normAutofit/>
          </a:bodyPr>
          <a:lstStyle/>
          <a:p>
            <a:pPr algn="ctr" indent="0" marL="0">
              <a:lnSpc>
                <a:spcPts val="1820"/>
              </a:lnSpc>
              <a:buNone/>
            </a:pPr>
            <a:r>
              <a:rPr lang="en-US" sz="1300" dirty="0">
                <a:solidFill>
                  <a:srgbClr val="3E4A56"/>
                </a:solidFill>
                <a:latin typeface="IBM Plex Sans" pitchFamily="34" charset="0"/>
                <a:ea typeface="IBM Plex Sans" pitchFamily="34" charset="-122"/>
                <a:cs typeface="IBM Plex Sans" pitchFamily="34" charset="-120"/>
              </a:rPr>
              <a:t>1</a:t>
            </a:r>
            <a:endParaRPr lang="en-US" sz="1300" dirty="0"/>
          </a:p>
        </p:txBody>
      </p:sp>
      <p:sp>
        <p:nvSpPr>
          <p:cNvPr id="21" name="Text 19"/>
          <p:cNvSpPr/>
          <p:nvPr/>
        </p:nvSpPr>
        <p:spPr>
          <a:xfrm>
            <a:off x="812782" y="2288344"/>
            <a:ext cx="1088342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682"/>
                </a:solidFill>
                <a:latin typeface="IBM Plex Sans" pitchFamily="34" charset="0"/>
                <a:ea typeface="IBM Plex Sans" pitchFamily="34" charset="-122"/>
                <a:cs typeface="IBM Plex Sans" pitchFamily="34" charset="-120"/>
              </a:rPr>
              <a:t>The 0–45 min run as 17 blocks of 12 bins (2.7 min); block b goes to fold b mod 5. Orange: fold 2, held out across every sample and batch.</a:t>
            </a:r>
            <a:endParaRPr lang="en-US" sz="1200" dirty="0"/>
          </a:p>
        </p:txBody>
      </p:sp>
      <p:sp>
        <p:nvSpPr>
          <p:cNvPr id="22" name="Shape 20"/>
          <p:cNvSpPr/>
          <p:nvPr/>
        </p:nvSpPr>
        <p:spPr>
          <a:xfrm>
            <a:off x="815957" y="2733402"/>
            <a:ext cx="5169486" cy="1762540"/>
          </a:xfrm>
          <a:prstGeom prst="roundRect">
            <a:avLst>
              <a:gd name="adj" fmla="val 5584"/>
            </a:avLst>
          </a:prstGeom>
          <a:solidFill>
            <a:srgbClr val="FDFCF9"/>
          </a:solidFill>
          <a:ln w="6350">
            <a:solidFill>
              <a:srgbClr val="D3DAE0"/>
            </a:solidFill>
            <a:prstDash val="solid"/>
          </a:ln>
        </p:spPr>
      </p:sp>
      <p:sp>
        <p:nvSpPr>
          <p:cNvPr id="23" name="Text 21"/>
          <p:cNvSpPr/>
          <p:nvPr/>
        </p:nvSpPr>
        <p:spPr>
          <a:xfrm>
            <a:off x="1021728" y="2939169"/>
            <a:ext cx="4900683" cy="269253"/>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B2A3A"/>
                </a:solidFill>
                <a:latin typeface="IBM Plex Sans" pitchFamily="34" charset="0"/>
                <a:ea typeface="IBM Plex Sans" pitchFamily="34" charset="-122"/>
                <a:cs typeface="IBM Plex Sans" pitchFamily="34" charset="-120"/>
              </a:rPr>
              <a:t>Folds over samples leak</a:t>
            </a:r>
            <a:endParaRPr lang="en-US" sz="1600" dirty="0"/>
          </a:p>
        </p:txBody>
      </p:sp>
      <p:sp>
        <p:nvSpPr>
          <p:cNvPr id="24" name="Text 22"/>
          <p:cNvSpPr/>
          <p:nvPr/>
        </p:nvSpPr>
        <p:spPr>
          <a:xfrm>
            <a:off x="1021728" y="3259200"/>
            <a:ext cx="4900683" cy="1056373"/>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3E4A56"/>
                </a:solidFill>
                <a:latin typeface="IBM Plex Sans" pitchFamily="34" charset="0"/>
                <a:ea typeface="IBM Plex Sans" pitchFamily="34" charset="-122"/>
                <a:cs typeface="IBM Plex Sans" pitchFamily="34" charset="-120"/>
              </a:rPr>
              <a:t>Hide one sample and its compounds still have anchors at the same times in other samples. The test never visits the gaps between compounds, where a wiggly warp goes wrong.</a:t>
            </a:r>
            <a:endParaRPr lang="en-US" sz="1400" dirty="0"/>
          </a:p>
        </p:txBody>
      </p:sp>
      <p:sp>
        <p:nvSpPr>
          <p:cNvPr id="25" name="Shape 23"/>
          <p:cNvSpPr/>
          <p:nvPr/>
        </p:nvSpPr>
        <p:spPr>
          <a:xfrm>
            <a:off x="6198141" y="2736577"/>
            <a:ext cx="5174727" cy="1756190"/>
          </a:xfrm>
          <a:prstGeom prst="roundRect">
            <a:avLst>
              <a:gd name="adj" fmla="val 5424"/>
            </a:avLst>
          </a:prstGeom>
          <a:solidFill>
            <a:srgbClr val="FDFCF9"/>
          </a:solidFill>
          <a:ln w="12700">
            <a:solidFill>
              <a:srgbClr val="2F6FBF"/>
            </a:solidFill>
            <a:prstDash val="solid"/>
          </a:ln>
        </p:spPr>
      </p:sp>
      <p:sp>
        <p:nvSpPr>
          <p:cNvPr id="26" name="Text 24"/>
          <p:cNvSpPr/>
          <p:nvPr/>
        </p:nvSpPr>
        <p:spPr>
          <a:xfrm>
            <a:off x="6406509" y="2944949"/>
            <a:ext cx="4900730" cy="269253"/>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B2A3A"/>
                </a:solidFill>
                <a:latin typeface="IBM Plex Sans" pitchFamily="34" charset="0"/>
                <a:ea typeface="IBM Plex Sans" pitchFamily="34" charset="-122"/>
                <a:cs typeface="IBM Plex Sans" pitchFamily="34" charset="-120"/>
              </a:rPr>
              <a:t>Folds over time do not</a:t>
            </a:r>
            <a:endParaRPr lang="en-US" sz="1600" dirty="0"/>
          </a:p>
        </p:txBody>
      </p:sp>
      <p:sp>
        <p:nvSpPr>
          <p:cNvPr id="27" name="Text 25"/>
          <p:cNvSpPr/>
          <p:nvPr/>
        </p:nvSpPr>
        <p:spPr>
          <a:xfrm>
            <a:off x="6406509" y="3264967"/>
            <a:ext cx="4900730" cy="798630"/>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3E4A56"/>
                </a:solidFill>
                <a:latin typeface="IBM Plex Sans" pitchFamily="34" charset="0"/>
                <a:ea typeface="IBM Plex Sans" pitchFamily="34" charset="-122"/>
                <a:cs typeface="IBM Plex Sans" pitchFamily="34" charset="-120"/>
              </a:rPr>
              <a:t>An anchor is tested if </a:t>
            </a:r>
            <a:r>
              <a:rPr lang="en-US" sz="1400" b="1" dirty="0">
                <a:solidFill>
                  <a:srgbClr val="3E4A56"/>
                </a:solidFill>
                <a:latin typeface="IBM Plex Sans" pitchFamily="34" charset="0"/>
                <a:ea typeface="IBM Plex Sans" pitchFamily="34" charset="-122"/>
                <a:cs typeface="IBM Plex Sans" pitchFamily="34" charset="-120"/>
              </a:rPr>
              <a:t>either</a:t>
            </a:r>
            <a:r>
              <a:rPr lang="en-US" sz="1400" dirty="0">
                <a:solidFill>
                  <a:srgbClr val="3E4A56"/>
                </a:solidFill>
                <a:latin typeface="IBM Plex Sans" pitchFamily="34" charset="0"/>
                <a:ea typeface="IBM Plex Sans" pitchFamily="34" charset="-122"/>
                <a:cs typeface="IBM Plex Sans" pitchFamily="34" charset="-120"/>
              </a:rPr>
              <a:t> end lies in the fold, trained on only if </a:t>
            </a:r>
            <a:r>
              <a:rPr lang="en-US" sz="1400" b="1" dirty="0">
                <a:solidFill>
                  <a:srgbClr val="3E4A56"/>
                </a:solidFill>
                <a:latin typeface="IBM Plex Sans" pitchFamily="34" charset="0"/>
                <a:ea typeface="IBM Plex Sans" pitchFamily="34" charset="-122"/>
                <a:cs typeface="IBM Plex Sans" pitchFamily="34" charset="-120"/>
              </a:rPr>
              <a:t>neither</a:t>
            </a:r>
            <a:r>
              <a:rPr lang="en-US" sz="1400" dirty="0">
                <a:solidFill>
                  <a:srgbClr val="3E4A56"/>
                </a:solidFill>
                <a:latin typeface="IBM Plex Sans" pitchFamily="34" charset="0"/>
                <a:ea typeface="IBM Plex Sans" pitchFamily="34" charset="-122"/>
                <a:cs typeface="IBM Plex Sans" pitchFamily="34" charset="-120"/>
              </a:rPr>
              <a:t> does. The warp must bridge a 2.7-min hole, so wiggles show up as error.</a:t>
            </a:r>
            <a:endParaRPr lang="en-US" sz="1400" dirty="0"/>
          </a:p>
        </p:txBody>
      </p:sp>
      <p:sp>
        <p:nvSpPr>
          <p:cNvPr id="28" name="Text 26"/>
          <p:cNvSpPr/>
          <p:nvPr/>
        </p:nvSpPr>
        <p:spPr>
          <a:xfrm>
            <a:off x="812782" y="4727674"/>
            <a:ext cx="10883429" cy="301589"/>
          </a:xfrm>
          <a:prstGeom prst="rect">
            <a:avLst/>
          </a:prstGeom>
          <a:noFill/>
          <a:ln/>
        </p:spPr>
        <p:txBody>
          <a:bodyPr wrap="square" lIns="0" tIns="0" rIns="0" bIns="0" rtlCol="0" anchor="t">
            <a:normAutofit/>
          </a:bodyPr>
          <a:lstStyle/>
          <a:p>
            <a:pPr algn="l" indent="0" marL="0">
              <a:lnSpc>
                <a:spcPts val="2175"/>
              </a:lnSpc>
              <a:buNone/>
            </a:pPr>
            <a:r>
              <a:rPr lang="en-US" sz="1500" dirty="0">
                <a:solidFill>
                  <a:srgbClr val="1B2A3A"/>
                </a:solidFill>
                <a:latin typeface="IBM Plex Sans" pitchFamily="34" charset="0"/>
                <a:ea typeface="IBM Plex Sans" pitchFamily="34" charset="-122"/>
                <a:cs typeface="IBM Plex Sans" pitchFamily="34" charset="-120"/>
              </a:rPr>
              <a:t>Pick λ from {0.1, 1, 10, …, 10⁴} by the lowest median held-out error: </a:t>
            </a:r>
            <a:r>
              <a:rPr lang="en-US" sz="1500" b="1" dirty="0">
                <a:solidFill>
                  <a:srgbClr val="1B2A3A"/>
                </a:solidFill>
                <a:latin typeface="IBM Plex Sans" pitchFamily="34" charset="0"/>
                <a:ea typeface="IBM Plex Sans" pitchFamily="34" charset="-122"/>
                <a:cs typeface="IBM Plex Sans" pitchFamily="34" charset="-120"/>
              </a:rPr>
              <a:t>λ = 10</a:t>
            </a:r>
            <a:r>
              <a:rPr lang="en-US" sz="1500" dirty="0">
                <a:solidFill>
                  <a:srgbClr val="1B2A3A"/>
                </a:solidFill>
                <a:latin typeface="IBM Plex Sans" pitchFamily="34" charset="0"/>
                <a:ea typeface="IBM Plex Sans" pitchFamily="34" charset="-122"/>
                <a:cs typeface="IBM Plex Sans" pitchFamily="34" charset="-120"/>
              </a:rPr>
              <a:t>, error 0.111 min.</a:t>
            </a:r>
            <a:endParaRPr lang="en-US" sz="1500" dirty="0"/>
          </a:p>
        </p:txBody>
      </p:sp>
      <p:sp>
        <p:nvSpPr>
          <p:cNvPr id="29" name="Text 27"/>
          <p:cNvSpPr/>
          <p:nvPr/>
        </p:nvSpPr>
        <p:spPr>
          <a:xfrm>
            <a:off x="812782" y="6024959"/>
            <a:ext cx="10883382"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682"/>
                </a:solidFill>
                <a:latin typeface="IBM Plex Sans" pitchFamily="34" charset="0"/>
                <a:ea typeface="IBM Plex Sans" pitchFamily="34" charset="-122"/>
                <a:cs typeface="IBM Plex Sans" pitchFamily="34" charset="-120"/>
              </a:rPr>
              <a:t>Your explanation of the leak is right. The TIC correlation is never used to choose λ; after selection it stays between 0.595 and 0.600 for every λ from 1 to 10⁴.</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7F5F0"/>
        </a:solidFill>
      </p:bgPr>
    </p:bg>
    <p:spTree>
      <p:nvGrpSpPr>
        <p:cNvPr id="1" name=""/>
        <p:cNvGrpSpPr/>
        <p:nvPr/>
      </p:nvGrpSpPr>
      <p:grpSpPr>
        <a:xfrm>
          <a:off x="0" y="0"/>
          <a:ext cx="0" cy="0"/>
          <a:chOff x="0" y="0"/>
          <a:chExt cx="0" cy="0"/>
        </a:xfrm>
      </p:grpSpPr>
      <p:sp>
        <p:nvSpPr>
          <p:cNvPr id="2" name="Text 0"/>
          <p:cNvSpPr/>
          <p:nvPr/>
        </p:nvSpPr>
        <p:spPr>
          <a:xfrm>
            <a:off x="812782" y="812775"/>
            <a:ext cx="10883429"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2F6FBF"/>
                </a:solidFill>
                <a:latin typeface="IBM Plex Sans" pitchFamily="34" charset="0"/>
                <a:ea typeface="IBM Plex Sans" pitchFamily="34" charset="-122"/>
                <a:cs typeface="IBM Plex Sans" pitchFamily="34" charset="-120"/>
              </a:rPr>
              <a:t>Q13 · INTUITION</a:t>
            </a:r>
            <a:endParaRPr lang="en-US" sz="1200" dirty="0"/>
          </a:p>
        </p:txBody>
      </p:sp>
      <p:sp>
        <p:nvSpPr>
          <p:cNvPr id="3" name="Text 1"/>
          <p:cNvSpPr/>
          <p:nvPr>
            <p:ph type="title"/>
          </p:nvPr>
        </p:nvSpPr>
        <p:spPr>
          <a:xfrm>
            <a:off x="812782" y="1127658"/>
            <a:ext cx="10883429" cy="472426"/>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B2A3A"/>
                </a:solidFill>
                <a:latin typeface="Source Serif 4" pitchFamily="18" charset="0"/>
                <a:ea typeface="Source Serif 4" pitchFamily="18" charset="-122"/>
                <a:cs typeface="Source Serif 4" pitchFamily="18" charset="-120"/>
              </a:rPr>
              <a:t>A thin thread for the line, a corridor for a peak</a:t>
            </a:r>
            <a:endParaRPr lang="en-US" sz="3200" dirty="0"/>
          </a:p>
        </p:txBody>
      </p:sp>
      <p:pic>
        <p:nvPicPr>
          <p:cNvPr id="4" name="Image 0" descr="Illustration: scattered anchor points around a curve, with a very thin blue band hugging the curve and a much wider orange corridor containing most points">    </p:cNvPr>
          <p:cNvPicPr>
            <a:picLocks noChangeAspect="1"/>
          </p:cNvPicPr>
          <p:nvPr/>
        </p:nvPicPr>
        <p:blipFill>
          <a:blip r:embed="rId1"/>
          <a:srcRect l="0" r="0" t="0" b="0"/>
          <a:stretch/>
        </p:blipFill>
        <p:spPr>
          <a:xfrm>
            <a:off x="812782" y="1803251"/>
            <a:ext cx="5715000" cy="2413000"/>
          </a:xfrm>
          <a:prstGeom prst="rect">
            <a:avLst/>
          </a:prstGeom>
        </p:spPr>
      </p:pic>
      <p:sp>
        <p:nvSpPr>
          <p:cNvPr id="5" name="Text 2"/>
          <p:cNvSpPr/>
          <p:nvPr/>
        </p:nvSpPr>
        <p:spPr>
          <a:xfrm>
            <a:off x="812782" y="4292426"/>
            <a:ext cx="588645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682"/>
                </a:solidFill>
                <a:latin typeface="IBM Plex Sans" pitchFamily="34" charset="0"/>
                <a:ea typeface="IBM Plex Sans" pitchFamily="34" charset="-122"/>
                <a:cs typeface="IBM Plex Sans" pitchFamily="34" charset="-120"/>
              </a:rPr>
              <a:t>Sketch, not data. Dots: held-out anchors. Blue: the band for the map itself. Orange: the predictive interval for one compound.</a:t>
            </a:r>
            <a:endParaRPr lang="en-US" sz="1200" dirty="0"/>
          </a:p>
        </p:txBody>
      </p:sp>
      <p:sp>
        <p:nvSpPr>
          <p:cNvPr id="6" name="Shape 3"/>
          <p:cNvSpPr/>
          <p:nvPr/>
        </p:nvSpPr>
        <p:spPr>
          <a:xfrm>
            <a:off x="6889696" y="1934840"/>
            <a:ext cx="4483172" cy="1363464"/>
          </a:xfrm>
          <a:prstGeom prst="roundRect">
            <a:avLst>
              <a:gd name="adj" fmla="val 6986"/>
            </a:avLst>
          </a:prstGeom>
          <a:solidFill>
            <a:srgbClr val="FDFCF9"/>
          </a:solidFill>
          <a:ln w="12700">
            <a:solidFill>
              <a:srgbClr val="2F6FBF"/>
            </a:solidFill>
            <a:prstDash val="solid"/>
          </a:ln>
        </p:spPr>
      </p:sp>
      <p:sp>
        <p:nvSpPr>
          <p:cNvPr id="7" name="Text 4"/>
          <p:cNvSpPr/>
          <p:nvPr/>
        </p:nvSpPr>
        <p:spPr>
          <a:xfrm>
            <a:off x="7072673" y="2117824"/>
            <a:ext cx="4240734" cy="253964"/>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B2A3A"/>
                </a:solidFill>
                <a:latin typeface="IBM Plex Sans" pitchFamily="34" charset="0"/>
                <a:ea typeface="IBM Plex Sans" pitchFamily="34" charset="-122"/>
                <a:cs typeface="IBM Plex Sans" pitchFamily="34" charset="-120"/>
              </a:rPr>
              <a:t>Band: where is the line?</a:t>
            </a:r>
            <a:endParaRPr lang="en-US" sz="1500" dirty="0"/>
          </a:p>
        </p:txBody>
      </p:sp>
      <p:sp>
        <p:nvSpPr>
          <p:cNvPr id="8" name="Text 5"/>
          <p:cNvSpPr/>
          <p:nvPr/>
        </p:nvSpPr>
        <p:spPr>
          <a:xfrm>
            <a:off x="7072673" y="2397162"/>
            <a:ext cx="4240734" cy="743563"/>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3E4A56"/>
                </a:solidFill>
                <a:latin typeface="IBM Plex Sans" pitchFamily="34" charset="0"/>
                <a:ea typeface="IBM Plex Sans" pitchFamily="34" charset="-122"/>
                <a:cs typeface="IBM Plex Sans" pitchFamily="34" charset="-120"/>
              </a:rPr>
              <a:t>Refit 200 times on resampled samples. Thousands of anchors pin it: 0.044–0.054 min wide. Holds </a:t>
            </a:r>
            <a:r>
              <a:rPr lang="en-US" sz="1300" b="1" dirty="0">
                <a:solidFill>
                  <a:srgbClr val="3E4A56"/>
                </a:solidFill>
                <a:latin typeface="IBM Plex Sans" pitchFamily="34" charset="0"/>
                <a:ea typeface="IBM Plex Sans" pitchFamily="34" charset="-122"/>
                <a:cs typeface="IBM Plex Sans" pitchFamily="34" charset="-120"/>
              </a:rPr>
              <a:t>15%</a:t>
            </a:r>
            <a:r>
              <a:rPr lang="en-US" sz="1300" dirty="0">
                <a:solidFill>
                  <a:srgbClr val="3E4A56"/>
                </a:solidFill>
                <a:latin typeface="IBM Plex Sans" pitchFamily="34" charset="0"/>
                <a:ea typeface="IBM Plex Sans" pitchFamily="34" charset="-122"/>
                <a:cs typeface="IBM Plex Sans" pitchFamily="34" charset="-120"/>
              </a:rPr>
              <a:t> of held-out anchors.</a:t>
            </a:r>
            <a:endParaRPr lang="en-US" sz="1300" dirty="0"/>
          </a:p>
        </p:txBody>
      </p:sp>
      <p:sp>
        <p:nvSpPr>
          <p:cNvPr id="9" name="Shape 6"/>
          <p:cNvSpPr/>
          <p:nvPr/>
        </p:nvSpPr>
        <p:spPr>
          <a:xfrm>
            <a:off x="6889696" y="3463392"/>
            <a:ext cx="4483172" cy="1124076"/>
          </a:xfrm>
          <a:prstGeom prst="roundRect">
            <a:avLst>
              <a:gd name="adj" fmla="val 8474"/>
            </a:avLst>
          </a:prstGeom>
          <a:solidFill>
            <a:srgbClr val="FDFCF9"/>
          </a:solidFill>
          <a:ln w="12700">
            <a:solidFill>
              <a:srgbClr val="C8641E"/>
            </a:solidFill>
            <a:prstDash val="solid"/>
          </a:ln>
        </p:spPr>
      </p:sp>
      <p:sp>
        <p:nvSpPr>
          <p:cNvPr id="10" name="Text 7"/>
          <p:cNvSpPr/>
          <p:nvPr/>
        </p:nvSpPr>
        <p:spPr>
          <a:xfrm>
            <a:off x="7072673" y="3646376"/>
            <a:ext cx="4240734" cy="253964"/>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B2A3A"/>
                </a:solidFill>
                <a:latin typeface="IBM Plex Sans" pitchFamily="34" charset="0"/>
                <a:ea typeface="IBM Plex Sans" pitchFamily="34" charset="-122"/>
                <a:cs typeface="IBM Plex Sans" pitchFamily="34" charset="-120"/>
              </a:rPr>
              <a:t>Interval: where will a peak be?</a:t>
            </a:r>
            <a:endParaRPr lang="en-US" sz="1500" dirty="0"/>
          </a:p>
        </p:txBody>
      </p:sp>
      <p:sp>
        <p:nvSpPr>
          <p:cNvPr id="11" name="Text 8"/>
          <p:cNvSpPr/>
          <p:nvPr/>
        </p:nvSpPr>
        <p:spPr>
          <a:xfrm>
            <a:off x="7072673" y="3925726"/>
            <a:ext cx="4240734" cy="504176"/>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3E4A56"/>
                </a:solidFill>
                <a:latin typeface="IBM Plex Sans" pitchFamily="34" charset="0"/>
                <a:ea typeface="IBM Plex Sans" pitchFamily="34" charset="-122"/>
                <a:cs typeface="IBM Plex Sans" pitchFamily="34" charset="-120"/>
              </a:rPr>
              <a:t>Adds each peak’s own scatter. Meant to hold 90%; holds </a:t>
            </a:r>
            <a:r>
              <a:rPr lang="en-US" sz="1300" b="1" dirty="0">
                <a:solidFill>
                  <a:srgbClr val="3E4A56"/>
                </a:solidFill>
                <a:latin typeface="IBM Plex Sans" pitchFamily="34" charset="0"/>
                <a:ea typeface="IBM Plex Sans" pitchFamily="34" charset="-122"/>
                <a:cs typeface="IBM Plex Sans" pitchFamily="34" charset="-120"/>
              </a:rPr>
              <a:t>81%</a:t>
            </a:r>
            <a:r>
              <a:rPr lang="en-US" sz="1300" dirty="0">
                <a:solidFill>
                  <a:srgbClr val="3E4A56"/>
                </a:solidFill>
                <a:latin typeface="IBM Plex Sans" pitchFamily="34" charset="0"/>
                <a:ea typeface="IBM Plex Sans" pitchFamily="34" charset="-122"/>
                <a:cs typeface="IBM Plex Sans" pitchFamily="34" charset="-120"/>
              </a:rPr>
              <a:t>. A chemist’s search window in batch l.</a:t>
            </a:r>
            <a:endParaRPr lang="en-US" sz="1300" dirty="0"/>
          </a:p>
        </p:txBody>
      </p:sp>
      <p:sp>
        <p:nvSpPr>
          <p:cNvPr id="12" name="Text 9"/>
          <p:cNvSpPr/>
          <p:nvPr/>
        </p:nvSpPr>
        <p:spPr>
          <a:xfrm>
            <a:off x="812782" y="6024959"/>
            <a:ext cx="10883382"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682"/>
                </a:solidFill>
                <a:latin typeface="IBM Plex Sans" pitchFamily="34" charset="0"/>
                <a:ea typeface="IBM Plex Sans" pitchFamily="34" charset="-122"/>
                <a:cs typeface="IBM Plex Sans" pitchFamily="34" charset="-120"/>
              </a:rPr>
              <a:t>You recalled the bands being insensitive to smoothness. The paper’s finding is different: bands widen only weakly where direct anchors are sparse (Spearman ρ = −0.40).</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ECF0F3"/>
        </a:solidFill>
      </p:bgPr>
    </p:bg>
    <p:spTree>
      <p:nvGrpSpPr>
        <p:cNvPr id="1" name=""/>
        <p:cNvGrpSpPr/>
        <p:nvPr/>
      </p:nvGrpSpPr>
      <p:grpSpPr>
        <a:xfrm>
          <a:off x="0" y="0"/>
          <a:ext cx="0" cy="0"/>
          <a:chOff x="0" y="0"/>
          <a:chExt cx="0" cy="0"/>
        </a:xfrm>
      </p:grpSpPr>
      <p:sp>
        <p:nvSpPr>
          <p:cNvPr id="2" name="Text 0"/>
          <p:cNvSpPr/>
          <p:nvPr/>
        </p:nvSpPr>
        <p:spPr>
          <a:xfrm>
            <a:off x="812782" y="812775"/>
            <a:ext cx="10883429"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2F6FBF"/>
                </a:solidFill>
                <a:latin typeface="IBM Plex Sans" pitchFamily="34" charset="0"/>
                <a:ea typeface="IBM Plex Sans" pitchFamily="34" charset="-122"/>
                <a:cs typeface="IBM Plex Sans" pitchFamily="34" charset="-120"/>
              </a:rPr>
              <a:t>Q13 · MATHS</a:t>
            </a:r>
            <a:endParaRPr lang="en-US" sz="1200" dirty="0"/>
          </a:p>
        </p:txBody>
      </p:sp>
      <p:sp>
        <p:nvSpPr>
          <p:cNvPr id="3" name="Text 1"/>
          <p:cNvSpPr/>
          <p:nvPr>
            <p:ph type="title"/>
          </p:nvPr>
        </p:nvSpPr>
        <p:spPr>
          <a:xfrm>
            <a:off x="812782" y="1127658"/>
            <a:ext cx="10883429" cy="472426"/>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B2A3A"/>
                </a:solidFill>
                <a:latin typeface="Source Serif 4" pitchFamily="18" charset="0"/>
                <a:ea typeface="Source Serif 4" pitchFamily="18" charset="-122"/>
                <a:cs typeface="Source Serif 4" pitchFamily="18" charset="-120"/>
              </a:rPr>
              <a:t>Why a 90% interval catches only 81%</a:t>
            </a:r>
            <a:endParaRPr lang="en-US" sz="3200" dirty="0"/>
          </a:p>
        </p:txBody>
      </p:sp>
      <p:sp>
        <p:nvSpPr>
          <p:cNvPr id="4" name="Shape 2"/>
          <p:cNvSpPr/>
          <p:nvPr/>
        </p:nvSpPr>
        <p:spPr>
          <a:xfrm>
            <a:off x="815957" y="1806426"/>
            <a:ext cx="5175259" cy="1520085"/>
          </a:xfrm>
          <a:prstGeom prst="roundRect">
            <a:avLst>
              <a:gd name="adj" fmla="val 6475"/>
            </a:avLst>
          </a:prstGeom>
          <a:solidFill>
            <a:srgbClr val="FDFCF9"/>
          </a:solidFill>
          <a:ln w="6350">
            <a:solidFill>
              <a:srgbClr val="D3DAE0"/>
            </a:solidFill>
            <a:prstDash val="solid"/>
          </a:ln>
        </p:spPr>
      </p:sp>
      <p:sp>
        <p:nvSpPr>
          <p:cNvPr id="5" name="Text 3"/>
          <p:cNvSpPr/>
          <p:nvPr/>
        </p:nvSpPr>
        <p:spPr>
          <a:xfrm>
            <a:off x="1021728" y="2012193"/>
            <a:ext cx="4906629" cy="253964"/>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B2A3A"/>
                </a:solidFill>
                <a:latin typeface="IBM Plex Sans" pitchFamily="34" charset="0"/>
                <a:ea typeface="IBM Plex Sans" pitchFamily="34" charset="-122"/>
                <a:cs typeface="IBM Plex Sans" pitchFamily="34" charset="-120"/>
              </a:rPr>
              <a:t>1 · Resample samples</a:t>
            </a:r>
            <a:endParaRPr lang="en-US" sz="1500" dirty="0"/>
          </a:p>
        </p:txBody>
      </p:sp>
      <p:sp>
        <p:nvSpPr>
          <p:cNvPr id="6" name="Text 4"/>
          <p:cNvSpPr/>
          <p:nvPr/>
        </p:nvSpPr>
        <p:spPr>
          <a:xfrm>
            <a:off x="1021728" y="2316931"/>
            <a:ext cx="4906629" cy="743563"/>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3E4A56"/>
                </a:solidFill>
                <a:latin typeface="IBM Plex Sans" pitchFamily="34" charset="0"/>
                <a:ea typeface="IBM Plex Sans" pitchFamily="34" charset="-122"/>
                <a:cs typeface="IBM Plex Sans" pitchFamily="34" charset="-120"/>
              </a:rPr>
              <a:t>In each batch, draw samples with replacement; sample i appears mₖ,ᵢ times. An anchor between two samples gets weight mₖ,ᵢ · mₗ,ᵢ′ (0 if either is missing). Refit. Repeat 200 times.</a:t>
            </a:r>
            <a:endParaRPr lang="en-US" sz="1300" dirty="0"/>
          </a:p>
        </p:txBody>
      </p:sp>
      <p:sp>
        <p:nvSpPr>
          <p:cNvPr id="7" name="Shape 5"/>
          <p:cNvSpPr/>
          <p:nvPr/>
        </p:nvSpPr>
        <p:spPr>
          <a:xfrm>
            <a:off x="6200739" y="1806426"/>
            <a:ext cx="5175304" cy="1520085"/>
          </a:xfrm>
          <a:prstGeom prst="roundRect">
            <a:avLst>
              <a:gd name="adj" fmla="val 6475"/>
            </a:avLst>
          </a:prstGeom>
          <a:solidFill>
            <a:srgbClr val="FDFCF9"/>
          </a:solidFill>
          <a:ln w="6350">
            <a:solidFill>
              <a:srgbClr val="D3DAE0"/>
            </a:solidFill>
            <a:prstDash val="solid"/>
          </a:ln>
        </p:spPr>
      </p:sp>
      <p:sp>
        <p:nvSpPr>
          <p:cNvPr id="8" name="Text 6"/>
          <p:cNvSpPr/>
          <p:nvPr/>
        </p:nvSpPr>
        <p:spPr>
          <a:xfrm>
            <a:off x="6406509" y="2012193"/>
            <a:ext cx="4906676" cy="253964"/>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B2A3A"/>
                </a:solidFill>
                <a:latin typeface="IBM Plex Sans" pitchFamily="34" charset="0"/>
                <a:ea typeface="IBM Plex Sans" pitchFamily="34" charset="-122"/>
                <a:cs typeface="IBM Plex Sans" pitchFamily="34" charset="-120"/>
              </a:rPr>
              <a:t>2 · Band, then interval</a:t>
            </a:r>
            <a:endParaRPr lang="en-US" sz="1500" dirty="0"/>
          </a:p>
        </p:txBody>
      </p:sp>
      <p:sp>
        <p:nvSpPr>
          <p:cNvPr id="9" name="Text 7"/>
          <p:cNvSpPr/>
          <p:nvPr/>
        </p:nvSpPr>
        <p:spPr>
          <a:xfrm>
            <a:off x="6406509" y="2316931"/>
            <a:ext cx="4906676" cy="504176"/>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3E4A56"/>
                </a:solidFill>
                <a:latin typeface="IBM Plex Sans" pitchFamily="34" charset="0"/>
                <a:ea typeface="IBM Plex Sans" pitchFamily="34" charset="-122"/>
                <a:cs typeface="IBM Plex Sans" pitchFamily="34" charset="-120"/>
              </a:rPr>
              <a:t>The 5th–95th percentiles of the 200 maps give the band, half-width h. Add the pair’s anchor scatter σₖₗ:</a:t>
            </a:r>
            <a:endParaRPr lang="en-US" sz="1300" dirty="0"/>
          </a:p>
        </p:txBody>
      </p:sp>
      <p:sp>
        <p:nvSpPr>
          <p:cNvPr id="10" name="Text 8"/>
          <p:cNvSpPr/>
          <p:nvPr/>
        </p:nvSpPr>
        <p:spPr>
          <a:xfrm>
            <a:off x="6406509" y="2871887"/>
            <a:ext cx="4906676" cy="274259"/>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B2A3A"/>
                </a:solidFill>
                <a:latin typeface="JetBrains Mono" pitchFamily="49" charset="0"/>
                <a:ea typeface="JetBrains Mono" pitchFamily="49" charset="-122"/>
                <a:cs typeface="JetBrains Mono" pitchFamily="49" charset="-120"/>
              </a:rPr>
              <a:t>half-width = √(h² + (1.645·σₖₗ)²)</a:t>
            </a:r>
            <a:endParaRPr lang="en-US" sz="1400" dirty="0"/>
          </a:p>
        </p:txBody>
      </p:sp>
      <p:sp>
        <p:nvSpPr>
          <p:cNvPr id="11" name="Shape 9"/>
          <p:cNvSpPr/>
          <p:nvPr/>
        </p:nvSpPr>
        <p:spPr>
          <a:xfrm>
            <a:off x="819132" y="3564595"/>
            <a:ext cx="5174681" cy="1679025"/>
          </a:xfrm>
          <a:prstGeom prst="roundRect">
            <a:avLst>
              <a:gd name="adj" fmla="val 5673"/>
            </a:avLst>
          </a:prstGeom>
          <a:solidFill>
            <a:srgbClr val="FDFCF9"/>
          </a:solidFill>
          <a:ln w="12700">
            <a:solidFill>
              <a:srgbClr val="C8641E"/>
            </a:solidFill>
            <a:prstDash val="solid"/>
          </a:ln>
        </p:spPr>
      </p:sp>
      <p:sp>
        <p:nvSpPr>
          <p:cNvPr id="12" name="Text 10"/>
          <p:cNvSpPr/>
          <p:nvPr/>
        </p:nvSpPr>
        <p:spPr>
          <a:xfrm>
            <a:off x="1027500" y="3772967"/>
            <a:ext cx="4900683" cy="253964"/>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B2A3A"/>
                </a:solidFill>
                <a:latin typeface="IBM Plex Sans" pitchFamily="34" charset="0"/>
                <a:ea typeface="IBM Plex Sans" pitchFamily="34" charset="-122"/>
                <a:cs typeface="IBM Plex Sans" pitchFamily="34" charset="-120"/>
              </a:rPr>
              <a:t>3 · The likely gap: bias</a:t>
            </a:r>
            <a:endParaRPr lang="en-US" sz="1500" dirty="0"/>
          </a:p>
        </p:txBody>
      </p:sp>
      <p:sp>
        <p:nvSpPr>
          <p:cNvPr id="13" name="Text 11"/>
          <p:cNvSpPr/>
          <p:nvPr/>
        </p:nvSpPr>
        <p:spPr>
          <a:xfrm>
            <a:off x="1027500" y="4077705"/>
            <a:ext cx="4900683" cy="982951"/>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3E4A56"/>
                </a:solidFill>
                <a:latin typeface="IBM Plex Sans" pitchFamily="34" charset="0"/>
                <a:ea typeface="IBM Plex Sans" pitchFamily="34" charset="-122"/>
                <a:cs typeface="IBM Plex Sans" pitchFamily="34" charset="-120"/>
              </a:rPr>
              <a:t>The smoothness penalty pulls every refit toward a smoother curve. Resampling shows how much the fits </a:t>
            </a:r>
            <a:r>
              <a:rPr lang="en-US" sz="1300" b="1" dirty="0">
                <a:solidFill>
                  <a:srgbClr val="3E4A56"/>
                </a:solidFill>
                <a:latin typeface="IBM Plex Sans" pitchFamily="34" charset="0"/>
                <a:ea typeface="IBM Plex Sans" pitchFamily="34" charset="-122"/>
                <a:cs typeface="IBM Plex Sans" pitchFamily="34" charset="-120"/>
              </a:rPr>
              <a:t>vary</a:t>
            </a:r>
            <a:r>
              <a:rPr lang="en-US" sz="1300" dirty="0">
                <a:solidFill>
                  <a:srgbClr val="3E4A56"/>
                </a:solidFill>
                <a:latin typeface="IBM Plex Sans" pitchFamily="34" charset="0"/>
                <a:ea typeface="IBM Plex Sans" pitchFamily="34" charset="-122"/>
                <a:cs typeface="IBM Plex Sans" pitchFamily="34" charset="-120"/>
              </a:rPr>
              <a:t>, not how far they are all </a:t>
            </a:r>
            <a:r>
              <a:rPr lang="en-US" sz="1300" b="1" dirty="0">
                <a:solidFill>
                  <a:srgbClr val="3E4A56"/>
                </a:solidFill>
                <a:latin typeface="IBM Plex Sans" pitchFamily="34" charset="0"/>
                <a:ea typeface="IBM Plex Sans" pitchFamily="34" charset="-122"/>
                <a:cs typeface="IBM Plex Sans" pitchFamily="34" charset="-120"/>
              </a:rPr>
              <a:t>pulled</a:t>
            </a:r>
            <a:r>
              <a:rPr lang="en-US" sz="1300" dirty="0">
                <a:solidFill>
                  <a:srgbClr val="3E4A56"/>
                </a:solidFill>
                <a:latin typeface="IBM Plex Sans" pitchFamily="34" charset="0"/>
                <a:ea typeface="IBM Plex Sans" pitchFamily="34" charset="-122"/>
                <a:cs typeface="IBM Plex Sans" pitchFamily="34" charset="-120"/>
              </a:rPr>
              <a:t>. The paper calls this “one likely reason”; it is not tested.</a:t>
            </a:r>
            <a:endParaRPr lang="en-US" sz="1300" dirty="0"/>
          </a:p>
        </p:txBody>
      </p:sp>
      <p:sp>
        <p:nvSpPr>
          <p:cNvPr id="14" name="Shape 12"/>
          <p:cNvSpPr/>
          <p:nvPr/>
        </p:nvSpPr>
        <p:spPr>
          <a:xfrm>
            <a:off x="6206511" y="3561420"/>
            <a:ext cx="5169531" cy="1685375"/>
          </a:xfrm>
          <a:prstGeom prst="roundRect">
            <a:avLst>
              <a:gd name="adj" fmla="val 5840"/>
            </a:avLst>
          </a:prstGeom>
          <a:solidFill>
            <a:srgbClr val="FDFCF9"/>
          </a:solidFill>
          <a:ln w="6350">
            <a:solidFill>
              <a:srgbClr val="D3DAE0"/>
            </a:solidFill>
            <a:prstDash val="solid"/>
          </a:ln>
        </p:spPr>
      </p:sp>
      <p:sp>
        <p:nvSpPr>
          <p:cNvPr id="15" name="Text 13"/>
          <p:cNvSpPr/>
          <p:nvPr/>
        </p:nvSpPr>
        <p:spPr>
          <a:xfrm>
            <a:off x="6412282" y="3767200"/>
            <a:ext cx="4900730" cy="253964"/>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B2A3A"/>
                </a:solidFill>
                <a:latin typeface="IBM Plex Sans" pitchFamily="34" charset="0"/>
                <a:ea typeface="IBM Plex Sans" pitchFamily="34" charset="-122"/>
                <a:cs typeface="IBM Plex Sans" pitchFamily="34" charset="-120"/>
              </a:rPr>
              <a:t>4 · The fix: calibrate</a:t>
            </a:r>
            <a:endParaRPr lang="en-US" sz="1500" dirty="0"/>
          </a:p>
        </p:txBody>
      </p:sp>
      <p:sp>
        <p:nvSpPr>
          <p:cNvPr id="16" name="Text 14"/>
          <p:cNvSpPr/>
          <p:nvPr/>
        </p:nvSpPr>
        <p:spPr>
          <a:xfrm>
            <a:off x="6412282" y="4071938"/>
            <a:ext cx="4900730" cy="743563"/>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3E4A56"/>
                </a:solidFill>
                <a:latin typeface="IBM Plex Sans" pitchFamily="34" charset="0"/>
                <a:ea typeface="IBM Plex Sans" pitchFamily="34" charset="-122"/>
                <a:cs typeface="IBM Plex Sans" pitchFamily="34" charset="-120"/>
              </a:rPr>
              <a:t>Widen the intervals until held-out anchors are covered at the stated rate, for example by conformal scaling. The paper recommends this before anyone relies on them.</a:t>
            </a:r>
            <a:endParaRPr lang="en-US" sz="1300" dirty="0"/>
          </a:p>
        </p:txBody>
      </p:sp>
      <p:sp>
        <p:nvSpPr>
          <p:cNvPr id="17" name="Text 15"/>
          <p:cNvSpPr/>
          <p:nvPr/>
        </p:nvSpPr>
        <p:spPr>
          <a:xfrm>
            <a:off x="812782" y="6024959"/>
            <a:ext cx="10883382"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682"/>
                </a:solidFill>
                <a:latin typeface="IBM Plex Sans" pitchFamily="34" charset="0"/>
                <a:ea typeface="IBM Plex Sans" pitchFamily="34" charset="-122"/>
                <a:cs typeface="IBM Plex Sans" pitchFamily="34" charset="-120"/>
              </a:rPr>
              <a:t>1.645 is where a normal distribution leaves 5% in each tail, so ±1.645σ holds 90% if the scatter is Gaussian. Paper: uncertainty results; trust-align plans to test the calibration.</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7F5F0"/>
        </a:solidFill>
      </p:bgPr>
    </p:bg>
    <p:spTree>
      <p:nvGrpSpPr>
        <p:cNvPr id="1" name=""/>
        <p:cNvGrpSpPr/>
        <p:nvPr/>
      </p:nvGrpSpPr>
      <p:grpSpPr>
        <a:xfrm>
          <a:off x="0" y="0"/>
          <a:ext cx="0" cy="0"/>
          <a:chOff x="0" y="0"/>
          <a:chExt cx="0" cy="0"/>
        </a:xfrm>
      </p:grpSpPr>
      <p:sp>
        <p:nvSpPr>
          <p:cNvPr id="2" name="Text 0"/>
          <p:cNvSpPr/>
          <p:nvPr/>
        </p:nvSpPr>
        <p:spPr>
          <a:xfrm>
            <a:off x="812782" y="812775"/>
            <a:ext cx="10883429"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2F6FBF"/>
                </a:solidFill>
                <a:latin typeface="IBM Plex Sans" pitchFamily="34" charset="0"/>
                <a:ea typeface="IBM Plex Sans" pitchFamily="34" charset="-122"/>
                <a:cs typeface="IBM Plex Sans" pitchFamily="34" charset="-120"/>
              </a:rPr>
              <a:t>Q14 · INTUITION AND EVIDENCE</a:t>
            </a:r>
            <a:endParaRPr lang="en-US" sz="1200" dirty="0"/>
          </a:p>
        </p:txBody>
      </p:sp>
      <p:sp>
        <p:nvSpPr>
          <p:cNvPr id="3" name="Text 1"/>
          <p:cNvSpPr/>
          <p:nvPr>
            <p:ph type="title"/>
          </p:nvPr>
        </p:nvSpPr>
        <p:spPr>
          <a:xfrm>
            <a:off x="812782" y="1127658"/>
            <a:ext cx="10883429" cy="472426"/>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B2A3A"/>
                </a:solidFill>
                <a:latin typeface="Source Serif 4" pitchFamily="18" charset="0"/>
                <a:ea typeface="Source Serif 4" pitchFamily="18" charset="-122"/>
                <a:cs typeface="Source Serif 4" pitchFamily="18" charset="-120"/>
              </a:rPr>
              <a:t>A weak link is held in place by the rest of the web</a:t>
            </a:r>
            <a:endParaRPr lang="en-US" sz="3200" dirty="0"/>
          </a:p>
        </p:txBody>
      </p:sp>
      <p:pic>
        <p:nvPicPr>
          <p:cNvPr id="4" name="Image 0" descr="connector">    </p:cNvPr>
          <p:cNvPicPr>
            <a:picLocks noChangeAspect="1"/>
          </p:cNvPicPr>
          <p:nvPr/>
        </p:nvPicPr>
        <p:blipFill>
          <a:blip r:embed="rId1"/>
          <a:srcRect l="-1" r="-1" t="0" b="0"/>
          <a:stretch/>
        </p:blipFill>
        <p:spPr>
          <a:xfrm>
            <a:off x="1333455" y="2006426"/>
            <a:ext cx="1943064" cy="1181064"/>
          </a:xfrm>
          <a:prstGeom prst="rect">
            <a:avLst/>
          </a:prstGeom>
        </p:spPr>
      </p:pic>
      <p:pic>
        <p:nvPicPr>
          <p:cNvPr id="5" name="Image 1" descr="connector">    </p:cNvPr>
          <p:cNvPicPr>
            <a:picLocks noChangeAspect="1"/>
          </p:cNvPicPr>
          <p:nvPr/>
        </p:nvPicPr>
        <p:blipFill>
          <a:blip r:embed="rId2"/>
          <a:srcRect l="-1" r="-1" t="0" b="0"/>
          <a:stretch/>
        </p:blipFill>
        <p:spPr>
          <a:xfrm>
            <a:off x="3174955" y="2006426"/>
            <a:ext cx="1943064" cy="1181064"/>
          </a:xfrm>
          <a:prstGeom prst="rect">
            <a:avLst/>
          </a:prstGeom>
        </p:spPr>
      </p:pic>
      <p:pic>
        <p:nvPicPr>
          <p:cNvPr id="6" name="Image 2" descr="connector">    </p:cNvPr>
          <p:cNvPicPr>
            <a:picLocks noChangeAspect="1"/>
          </p:cNvPicPr>
          <p:nvPr/>
        </p:nvPicPr>
        <p:blipFill>
          <a:blip r:embed="rId3"/>
          <a:srcRect l="-17" r="-17" t="0" b="0"/>
          <a:stretch/>
        </p:blipFill>
        <p:spPr>
          <a:xfrm>
            <a:off x="1333455" y="3085926"/>
            <a:ext cx="3784564" cy="101564"/>
          </a:xfrm>
          <a:prstGeom prst="rect">
            <a:avLst/>
          </a:prstGeom>
        </p:spPr>
      </p:pic>
      <p:pic>
        <p:nvPicPr>
          <p:cNvPr id="7" name="Image 3" descr="connector">    </p:cNvPr>
          <p:cNvPicPr>
            <a:picLocks noChangeAspect="1"/>
          </p:cNvPicPr>
          <p:nvPr/>
        </p:nvPicPr>
        <p:blipFill>
          <a:blip r:embed="rId4"/>
          <a:srcRect l="0" r="0" t="-1" b="-1"/>
          <a:stretch/>
        </p:blipFill>
        <p:spPr>
          <a:xfrm>
            <a:off x="1333455" y="3085926"/>
            <a:ext cx="800064" cy="1689064"/>
          </a:xfrm>
          <a:prstGeom prst="rect">
            <a:avLst/>
          </a:prstGeom>
        </p:spPr>
      </p:pic>
      <p:pic>
        <p:nvPicPr>
          <p:cNvPr id="8" name="Image 4" descr="connector">    </p:cNvPr>
          <p:cNvPicPr>
            <a:picLocks noChangeAspect="1"/>
          </p:cNvPicPr>
          <p:nvPr/>
        </p:nvPicPr>
        <p:blipFill>
          <a:blip r:embed="rId5"/>
          <a:srcRect l="0" r="0" t="0" b="0"/>
          <a:stretch/>
        </p:blipFill>
        <p:spPr>
          <a:xfrm>
            <a:off x="1333455" y="3085926"/>
            <a:ext cx="3086064" cy="1689064"/>
          </a:xfrm>
          <a:prstGeom prst="rect">
            <a:avLst/>
          </a:prstGeom>
        </p:spPr>
      </p:pic>
      <p:pic>
        <p:nvPicPr>
          <p:cNvPr id="9" name="Image 5" descr="connector">    </p:cNvPr>
          <p:cNvPicPr>
            <a:picLocks noChangeAspect="1"/>
          </p:cNvPicPr>
          <p:nvPr/>
        </p:nvPicPr>
        <p:blipFill>
          <a:blip r:embed="rId6"/>
          <a:srcRect l="0" r="0" t="0" b="0"/>
          <a:stretch/>
        </p:blipFill>
        <p:spPr>
          <a:xfrm>
            <a:off x="2031955" y="3085926"/>
            <a:ext cx="3086064" cy="1689064"/>
          </a:xfrm>
          <a:prstGeom prst="rect">
            <a:avLst/>
          </a:prstGeom>
        </p:spPr>
      </p:pic>
      <p:pic>
        <p:nvPicPr>
          <p:cNvPr id="10" name="Image 6" descr="connector">    </p:cNvPr>
          <p:cNvPicPr>
            <a:picLocks noChangeAspect="1"/>
          </p:cNvPicPr>
          <p:nvPr/>
        </p:nvPicPr>
        <p:blipFill>
          <a:blip r:embed="rId7"/>
          <a:srcRect l="0" r="0" t="-1" b="-1"/>
          <a:stretch/>
        </p:blipFill>
        <p:spPr>
          <a:xfrm>
            <a:off x="4317955" y="3085926"/>
            <a:ext cx="800064" cy="1689064"/>
          </a:xfrm>
          <a:prstGeom prst="rect">
            <a:avLst/>
          </a:prstGeom>
        </p:spPr>
      </p:pic>
      <p:pic>
        <p:nvPicPr>
          <p:cNvPr id="11" name="Image 7" descr="connector">    </p:cNvPr>
          <p:cNvPicPr>
            <a:picLocks noChangeAspect="1"/>
          </p:cNvPicPr>
          <p:nvPr/>
        </p:nvPicPr>
        <p:blipFill>
          <a:blip r:embed="rId8"/>
          <a:srcRect l="0" r="0" t="0" b="0"/>
          <a:stretch/>
        </p:blipFill>
        <p:spPr>
          <a:xfrm>
            <a:off x="1987532" y="1962001"/>
            <a:ext cx="1333500" cy="2857500"/>
          </a:xfrm>
          <a:prstGeom prst="rect">
            <a:avLst/>
          </a:prstGeom>
        </p:spPr>
      </p:pic>
      <p:pic>
        <p:nvPicPr>
          <p:cNvPr id="12" name="Image 8" descr="connector">    </p:cNvPr>
          <p:cNvPicPr>
            <a:picLocks noChangeAspect="1"/>
          </p:cNvPicPr>
          <p:nvPr/>
        </p:nvPicPr>
        <p:blipFill>
          <a:blip r:embed="rId9"/>
          <a:srcRect l="0" r="0" t="0" b="0"/>
          <a:stretch/>
        </p:blipFill>
        <p:spPr>
          <a:xfrm>
            <a:off x="3130532" y="1962001"/>
            <a:ext cx="1333500" cy="2857500"/>
          </a:xfrm>
          <a:prstGeom prst="rect">
            <a:avLst/>
          </a:prstGeom>
        </p:spPr>
      </p:pic>
      <p:pic>
        <p:nvPicPr>
          <p:cNvPr id="13" name="Image 9" descr="connector">    </p:cNvPr>
          <p:cNvPicPr>
            <a:picLocks noChangeAspect="1"/>
          </p:cNvPicPr>
          <p:nvPr/>
        </p:nvPicPr>
        <p:blipFill>
          <a:blip r:embed="rId10"/>
          <a:srcRect l="0" r="0" t="0" b="0"/>
          <a:stretch/>
        </p:blipFill>
        <p:spPr>
          <a:xfrm>
            <a:off x="2019282" y="4660751"/>
            <a:ext cx="2413000" cy="127000"/>
          </a:xfrm>
          <a:prstGeom prst="rect">
            <a:avLst/>
          </a:prstGeom>
        </p:spPr>
      </p:pic>
      <p:sp>
        <p:nvSpPr>
          <p:cNvPr id="14" name="Text 2"/>
          <p:cNvSpPr/>
          <p:nvPr/>
        </p:nvSpPr>
        <p:spPr>
          <a:xfrm>
            <a:off x="2590782" y="1803251"/>
            <a:ext cx="1270000" cy="508000"/>
          </a:xfrm>
          <a:prstGeom prst="roundRect">
            <a:avLst>
              <a:gd name="adj" fmla="val 17500"/>
            </a:avLst>
          </a:prstGeom>
          <a:solidFill>
            <a:srgbClr val="1B2A3A"/>
          </a:solidFill>
          <a:ln/>
        </p:spPr>
        <p:txBody>
          <a:bodyPr wrap="square" lIns="0" tIns="0" rIns="0" bIns="0" rtlCol="0" anchor="ctr">
            <a:normAutofit/>
          </a:bodyPr>
          <a:lstStyle/>
          <a:p>
            <a:pPr algn="ctr" indent="0" marL="0">
              <a:lnSpc>
                <a:spcPts val="1960"/>
              </a:lnSpc>
              <a:buNone/>
            </a:pPr>
            <a:r>
              <a:rPr lang="en-US" sz="1400" b="1" dirty="0">
                <a:solidFill>
                  <a:srgbClr val="F7F5F0"/>
                </a:solidFill>
                <a:latin typeface="IBM Plex Sans" pitchFamily="34" charset="0"/>
                <a:ea typeface="IBM Plex Sans" pitchFamily="34" charset="-122"/>
                <a:cs typeface="IBM Plex Sans" pitchFamily="34" charset="-120"/>
              </a:rPr>
              <a:t>sep2015</a:t>
            </a:r>
            <a:endParaRPr lang="en-US" sz="1400" dirty="0"/>
          </a:p>
        </p:txBody>
      </p:sp>
      <p:sp>
        <p:nvSpPr>
          <p:cNvPr id="15" name="Text 3"/>
          <p:cNvSpPr/>
          <p:nvPr/>
        </p:nvSpPr>
        <p:spPr>
          <a:xfrm>
            <a:off x="819132" y="2889101"/>
            <a:ext cx="1130300" cy="495300"/>
          </a:xfrm>
          <a:prstGeom prst="roundRect">
            <a:avLst>
              <a:gd name="adj" fmla="val 16667"/>
            </a:avLst>
          </a:prstGeom>
          <a:solidFill>
            <a:srgbClr val="FDFCF9"/>
          </a:solidFill>
          <a:ln w="12700">
            <a:solidFill>
              <a:srgbClr val="9AA8B5"/>
            </a:solidFill>
            <a:prstDash val="solid"/>
          </a:ln>
        </p:spPr>
        <p:txBody>
          <a:bodyPr wrap="square" lIns="0" tIns="0" rIns="0" bIns="0" rtlCol="0" anchor="ctr">
            <a:normAutofit/>
          </a:bodyPr>
          <a:lstStyle/>
          <a:p>
            <a:pPr algn="ctr" indent="0" marL="0">
              <a:lnSpc>
                <a:spcPts val="1960"/>
              </a:lnSpc>
              <a:buNone/>
            </a:pPr>
            <a:r>
              <a:rPr lang="en-US" sz="1400" b="1" dirty="0">
                <a:solidFill>
                  <a:srgbClr val="1B2A3A"/>
                </a:solidFill>
                <a:latin typeface="IBM Plex Sans" pitchFamily="34" charset="0"/>
                <a:ea typeface="IBM Plex Sans" pitchFamily="34" charset="-122"/>
                <a:cs typeface="IBM Plex Sans" pitchFamily="34" charset="-120"/>
              </a:rPr>
              <a:t>jan2016</a:t>
            </a:r>
            <a:endParaRPr lang="en-US" sz="1400" dirty="0"/>
          </a:p>
        </p:txBody>
      </p:sp>
      <p:sp>
        <p:nvSpPr>
          <p:cNvPr id="16" name="Text 4"/>
          <p:cNvSpPr/>
          <p:nvPr/>
        </p:nvSpPr>
        <p:spPr>
          <a:xfrm>
            <a:off x="4502132" y="2889101"/>
            <a:ext cx="1130300" cy="495300"/>
          </a:xfrm>
          <a:prstGeom prst="roundRect">
            <a:avLst>
              <a:gd name="adj" fmla="val 16667"/>
            </a:avLst>
          </a:prstGeom>
          <a:solidFill>
            <a:srgbClr val="FDFCF9"/>
          </a:solidFill>
          <a:ln w="12700">
            <a:solidFill>
              <a:srgbClr val="9AA8B5"/>
            </a:solidFill>
            <a:prstDash val="solid"/>
          </a:ln>
        </p:spPr>
        <p:txBody>
          <a:bodyPr wrap="square" lIns="0" tIns="0" rIns="0" bIns="0" rtlCol="0" anchor="ctr">
            <a:normAutofit/>
          </a:bodyPr>
          <a:lstStyle/>
          <a:p>
            <a:pPr algn="ctr" indent="0" marL="0">
              <a:lnSpc>
                <a:spcPts val="1960"/>
              </a:lnSpc>
              <a:buNone/>
            </a:pPr>
            <a:r>
              <a:rPr lang="en-US" sz="1400" b="1" dirty="0">
                <a:solidFill>
                  <a:srgbClr val="1B2A3A"/>
                </a:solidFill>
                <a:latin typeface="IBM Plex Sans" pitchFamily="34" charset="0"/>
                <a:ea typeface="IBM Plex Sans" pitchFamily="34" charset="-122"/>
                <a:cs typeface="IBM Plex Sans" pitchFamily="34" charset="-120"/>
              </a:rPr>
              <a:t>apr2016</a:t>
            </a:r>
            <a:endParaRPr lang="en-US" sz="1400" dirty="0"/>
          </a:p>
        </p:txBody>
      </p:sp>
      <p:sp>
        <p:nvSpPr>
          <p:cNvPr id="17" name="Text 5"/>
          <p:cNvSpPr/>
          <p:nvPr/>
        </p:nvSpPr>
        <p:spPr>
          <a:xfrm>
            <a:off x="1454132" y="4476601"/>
            <a:ext cx="1257300" cy="495300"/>
          </a:xfrm>
          <a:prstGeom prst="roundRect">
            <a:avLst>
              <a:gd name="adj" fmla="val 16667"/>
            </a:avLst>
          </a:prstGeom>
          <a:solidFill>
            <a:srgbClr val="FDFCF9"/>
          </a:solidFill>
          <a:ln w="12700">
            <a:solidFill>
              <a:srgbClr val="C8641E"/>
            </a:solidFill>
            <a:prstDash val="solid"/>
          </a:ln>
        </p:spPr>
        <p:txBody>
          <a:bodyPr wrap="square" lIns="0" tIns="0" rIns="0" bIns="0" rtlCol="0" anchor="ctr">
            <a:normAutofit/>
          </a:bodyPr>
          <a:lstStyle/>
          <a:p>
            <a:pPr algn="ctr" indent="0" marL="0">
              <a:lnSpc>
                <a:spcPts val="1960"/>
              </a:lnSpc>
              <a:buNone/>
            </a:pPr>
            <a:r>
              <a:rPr lang="en-US" sz="1400" b="1" dirty="0">
                <a:solidFill>
                  <a:srgbClr val="1B2A3A"/>
                </a:solidFill>
                <a:latin typeface="IBM Plex Sans" pitchFamily="34" charset="0"/>
                <a:ea typeface="IBM Plex Sans" pitchFamily="34" charset="-122"/>
                <a:cs typeface="IBM Plex Sans" pitchFamily="34" charset="-120"/>
              </a:rPr>
              <a:t>aug2015</a:t>
            </a:r>
            <a:endParaRPr lang="en-US" sz="1400" dirty="0"/>
          </a:p>
        </p:txBody>
      </p:sp>
      <p:sp>
        <p:nvSpPr>
          <p:cNvPr id="18" name="Text 6"/>
          <p:cNvSpPr/>
          <p:nvPr/>
        </p:nvSpPr>
        <p:spPr>
          <a:xfrm>
            <a:off x="3740132" y="4476601"/>
            <a:ext cx="1257300" cy="495300"/>
          </a:xfrm>
          <a:prstGeom prst="roundRect">
            <a:avLst>
              <a:gd name="adj" fmla="val 16667"/>
            </a:avLst>
          </a:prstGeom>
          <a:solidFill>
            <a:srgbClr val="FDFCF9"/>
          </a:solidFill>
          <a:ln w="12700">
            <a:solidFill>
              <a:srgbClr val="C8641E"/>
            </a:solidFill>
            <a:prstDash val="solid"/>
          </a:ln>
        </p:spPr>
        <p:txBody>
          <a:bodyPr wrap="square" lIns="0" tIns="0" rIns="0" bIns="0" rtlCol="0" anchor="ctr">
            <a:normAutofit/>
          </a:bodyPr>
          <a:lstStyle/>
          <a:p>
            <a:pPr algn="ctr" indent="0" marL="0">
              <a:lnSpc>
                <a:spcPts val="1960"/>
              </a:lnSpc>
              <a:buNone/>
            </a:pPr>
            <a:r>
              <a:rPr lang="en-US" sz="1400" b="1" dirty="0">
                <a:solidFill>
                  <a:srgbClr val="1B2A3A"/>
                </a:solidFill>
                <a:latin typeface="IBM Plex Sans" pitchFamily="34" charset="0"/>
                <a:ea typeface="IBM Plex Sans" pitchFamily="34" charset="-122"/>
                <a:cs typeface="IBM Plex Sans" pitchFamily="34" charset="-120"/>
              </a:rPr>
              <a:t>jul2016</a:t>
            </a:r>
            <a:endParaRPr lang="en-US" sz="1400" dirty="0"/>
          </a:p>
        </p:txBody>
      </p:sp>
      <p:sp>
        <p:nvSpPr>
          <p:cNvPr id="19" name="Text 7"/>
          <p:cNvSpPr/>
          <p:nvPr/>
        </p:nvSpPr>
        <p:spPr>
          <a:xfrm>
            <a:off x="2692382" y="4762314"/>
            <a:ext cx="106680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A9520F"/>
                </a:solidFill>
                <a:latin typeface="IBM Plex Sans" pitchFamily="34" charset="0"/>
                <a:ea typeface="IBM Plex Sans" pitchFamily="34" charset="-122"/>
                <a:cs typeface="IBM Plex Sans" pitchFamily="34" charset="-120"/>
              </a:rPr>
              <a:t>228 anchors</a:t>
            </a:r>
            <a:endParaRPr lang="en-US" sz="1200" dirty="0"/>
          </a:p>
        </p:txBody>
      </p:sp>
      <p:sp>
        <p:nvSpPr>
          <p:cNvPr id="20" name="Text 8"/>
          <p:cNvSpPr/>
          <p:nvPr/>
        </p:nvSpPr>
        <p:spPr>
          <a:xfrm>
            <a:off x="6045173" y="2243733"/>
            <a:ext cx="5494066" cy="1056373"/>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3E4A56"/>
                </a:solidFill>
                <a:latin typeface="IBM Plex Sans" pitchFamily="34" charset="0"/>
                <a:ea typeface="IBM Plex Sans" pitchFamily="34" charset="-122"/>
                <a:cs typeface="IBM Plex Sans" pitchFamily="34" charset="-120"/>
              </a:rPr>
              <a:t>aug2015 has two samples, so the aug2015–jul2016 link is thin (orange). But both batches are tied to the clock through every other batch (blue: via sep2015). Neither can move without breaking those ties.</a:t>
            </a:r>
            <a:endParaRPr lang="en-US" sz="1400" dirty="0"/>
          </a:p>
        </p:txBody>
      </p:sp>
      <p:sp>
        <p:nvSpPr>
          <p:cNvPr id="21" name="Shape 9"/>
          <p:cNvSpPr/>
          <p:nvPr/>
        </p:nvSpPr>
        <p:spPr>
          <a:xfrm>
            <a:off x="6048348" y="3404890"/>
            <a:ext cx="5327695" cy="1129705"/>
          </a:xfrm>
          <a:prstGeom prst="roundRect">
            <a:avLst>
              <a:gd name="adj" fmla="val 8712"/>
            </a:avLst>
          </a:prstGeom>
          <a:solidFill>
            <a:srgbClr val="FDFCF9"/>
          </a:solidFill>
          <a:ln w="6350">
            <a:solidFill>
              <a:srgbClr val="D3DAE0"/>
            </a:solidFill>
            <a:prstDash val="solid"/>
          </a:ln>
        </p:spPr>
      </p:sp>
      <p:sp>
        <p:nvSpPr>
          <p:cNvPr id="22" name="Text 10"/>
          <p:cNvSpPr/>
          <p:nvPr/>
        </p:nvSpPr>
        <p:spPr>
          <a:xfrm>
            <a:off x="6228728" y="3585270"/>
            <a:ext cx="5115944" cy="264788"/>
          </a:xfrm>
          <a:prstGeom prst="rect">
            <a:avLst/>
          </a:prstGeom>
          <a:noFill/>
          <a:ln/>
        </p:spPr>
        <p:txBody>
          <a:bodyPr wrap="square" lIns="0" tIns="0" rIns="0" bIns="0" rtlCol="0" anchor="t">
            <a:normAutofit/>
          </a:bodyPr>
          <a:lstStyle/>
          <a:p>
            <a:pPr algn="l" indent="0" marL="0">
              <a:lnSpc>
                <a:spcPts val="1885"/>
              </a:lnSpc>
              <a:buNone/>
            </a:pPr>
            <a:r>
              <a:rPr lang="en-US" sz="1300" b="1" dirty="0">
                <a:solidFill>
                  <a:srgbClr val="3E4A56"/>
                </a:solidFill>
                <a:latin typeface="IBM Plex Sans" pitchFamily="34" charset="0"/>
                <a:ea typeface="IBM Plex Sans" pitchFamily="34" charset="-122"/>
                <a:cs typeface="IBM Plex Sans" pitchFamily="34" charset="-120"/>
              </a:rPr>
              <a:t>TIC correlation on that pair:</a:t>
            </a:r>
            <a:r>
              <a:rPr lang="en-US" sz="1300" dirty="0">
                <a:solidFill>
                  <a:srgbClr val="3E4A56"/>
                </a:solidFill>
                <a:latin typeface="IBM Plex Sans" pitchFamily="34" charset="0"/>
                <a:ea typeface="IBM Plex Sans" pitchFamily="34" charset="-122"/>
                <a:cs typeface="IBM Plex Sans" pitchFamily="34" charset="-120"/>
              </a:rPr>
              <a:t> pairwise 0.536, joint 0.598.</a:t>
            </a:r>
            <a:endParaRPr lang="en-US" sz="1300" dirty="0"/>
          </a:p>
        </p:txBody>
      </p:sp>
      <p:sp>
        <p:nvSpPr>
          <p:cNvPr id="23" name="Text 11"/>
          <p:cNvSpPr/>
          <p:nvPr/>
        </p:nvSpPr>
        <p:spPr>
          <a:xfrm>
            <a:off x="6228728" y="3875435"/>
            <a:ext cx="5115944" cy="504176"/>
          </a:xfrm>
          <a:prstGeom prst="rect">
            <a:avLst/>
          </a:prstGeom>
          <a:noFill/>
          <a:ln/>
        </p:spPr>
        <p:txBody>
          <a:bodyPr wrap="square" lIns="0" tIns="0" rIns="0" bIns="0" rtlCol="0" anchor="t">
            <a:normAutofit/>
          </a:bodyPr>
          <a:lstStyle/>
          <a:p>
            <a:pPr algn="l" indent="0" marL="0">
              <a:lnSpc>
                <a:spcPts val="1885"/>
              </a:lnSpc>
              <a:buNone/>
            </a:pPr>
            <a:r>
              <a:rPr lang="en-US" sz="1300" b="1" dirty="0">
                <a:solidFill>
                  <a:srgbClr val="3E4A56"/>
                </a:solidFill>
                <a:latin typeface="IBM Plex Sans" pitchFamily="34" charset="0"/>
                <a:ea typeface="IBM Plex Sans" pitchFamily="34" charset="-122"/>
                <a:cs typeface="IBM Plex Sans" pitchFamily="34" charset="-120"/>
              </a:rPr>
              <a:t>Delete a pair’s own anchors and refit:</a:t>
            </a:r>
            <a:r>
              <a:rPr lang="en-US" sz="1300" dirty="0">
                <a:solidFill>
                  <a:srgbClr val="3E4A56"/>
                </a:solidFill>
                <a:latin typeface="IBM Plex Sans" pitchFamily="34" charset="0"/>
                <a:ea typeface="IBM Plex Sans" pitchFamily="34" charset="-122"/>
                <a:cs typeface="IBM Plex Sans" pitchFamily="34" charset="-120"/>
              </a:rPr>
              <a:t> changes ≤ 0.007 on 9 of 10 pairs; sep2015 × jan2016 drops 0.813 → 0.755.</a:t>
            </a:r>
            <a:endParaRPr lang="en-US" sz="1300" dirty="0"/>
          </a:p>
        </p:txBody>
      </p:sp>
      <p:sp>
        <p:nvSpPr>
          <p:cNvPr id="24" name="Text 12"/>
          <p:cNvSpPr/>
          <p:nvPr/>
        </p:nvSpPr>
        <p:spPr>
          <a:xfrm>
            <a:off x="812782" y="6024959"/>
            <a:ext cx="10883382"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682"/>
                </a:solidFill>
                <a:latin typeface="IBM Plex Sans" pitchFamily="34" charset="0"/>
                <a:ea typeface="IBM Plex Sans" pitchFamily="34" charset="-122"/>
                <a:cs typeface="IBM Plex Sans" pitchFamily="34" charset="-120"/>
              </a:rPr>
              <a:t>Caveat: using only each batch’s anchors against sep2015 (a star) stays within 0.016 of the full joint fit on pairs without sep2015. Much of the gain needs just one well-anchored reference.</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ECF0F3"/>
        </a:solidFill>
      </p:bgPr>
    </p:bg>
    <p:spTree>
      <p:nvGrpSpPr>
        <p:cNvPr id="1" name=""/>
        <p:cNvGrpSpPr/>
        <p:nvPr/>
      </p:nvGrpSpPr>
      <p:grpSpPr>
        <a:xfrm>
          <a:off x="0" y="0"/>
          <a:ext cx="0" cy="0"/>
          <a:chOff x="0" y="0"/>
          <a:chExt cx="0" cy="0"/>
        </a:xfrm>
      </p:grpSpPr>
      <p:sp>
        <p:nvSpPr>
          <p:cNvPr id="2" name="Text 0"/>
          <p:cNvSpPr/>
          <p:nvPr/>
        </p:nvSpPr>
        <p:spPr>
          <a:xfrm>
            <a:off x="812782" y="812775"/>
            <a:ext cx="10883429"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2F6FBF"/>
                </a:solidFill>
                <a:latin typeface="IBM Plex Sans" pitchFamily="34" charset="0"/>
                <a:ea typeface="IBM Plex Sans" pitchFamily="34" charset="-122"/>
                <a:cs typeface="IBM Plex Sans" pitchFamily="34" charset="-120"/>
              </a:rPr>
              <a:t>CORRECTIONS · 1 OF 2</a:t>
            </a:r>
            <a:endParaRPr lang="en-US" sz="1200" dirty="0"/>
          </a:p>
        </p:txBody>
      </p:sp>
      <p:sp>
        <p:nvSpPr>
          <p:cNvPr id="3" name="Text 1"/>
          <p:cNvSpPr/>
          <p:nvPr>
            <p:ph type="title"/>
          </p:nvPr>
        </p:nvSpPr>
        <p:spPr>
          <a:xfrm>
            <a:off x="812782" y="1127658"/>
            <a:ext cx="10883429" cy="472426"/>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B2A3A"/>
                </a:solidFill>
                <a:latin typeface="Source Serif 4" pitchFamily="18" charset="0"/>
                <a:ea typeface="Source Serif 4" pitchFamily="18" charset="-122"/>
                <a:cs typeface="Source Serif 4" pitchFamily="18" charset="-120"/>
              </a:rPr>
              <a:t>Where the chat answers were wrong: the fit</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4327" y="1840234"/>
          <a:ext cx="10554890" cy="2591007"/>
        </p:xfrm>
        <a:graphic>
          <a:graphicData uri="http://schemas.openxmlformats.org/drawingml/2006/table">
            <a:tbl>
              <a:tblPr/>
              <a:tblGrid>
                <a:gridCol w="4221956"/>
                <a:gridCol w="6332934"/>
              </a:tblGrid>
              <a:tr h="411532">
                <a:tc>
                  <a:txBody>
                    <a:bodyPr/>
                    <a:lstStyle/>
                    <a:p>
                      <a:pPr indent="0" marL="0">
                        <a:lnSpc>
                          <a:spcPts val="2100"/>
                        </a:lnSpc>
                        <a:buNone/>
                      </a:pPr>
                      <a:r>
                        <a:rPr lang="en-US" sz="1500" b="1" dirty="0">
                          <a:solidFill>
                            <a:srgbClr val="1B2A3A"/>
                          </a:solidFill>
                          <a:latin typeface="IBM Plex Sans" pitchFamily="34" charset="0"/>
                          <a:ea typeface="IBM Plex Sans" pitchFamily="34" charset="-122"/>
                          <a:cs typeface="IBM Plex Sans" pitchFamily="34" charset="-120"/>
                        </a:rPr>
                        <a:t>The chat said</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BCC0C2"/>
                      </a:solidFill>
                      <a:prstDash val="solid"/>
                      <a:round/>
                      <a:headEnd type="none" w="med" len="med"/>
                      <a:tailEnd type="none" w="med" len="med"/>
                    </a:lnL>
                    <a:lnR w="12700" cap="flat" cmpd="sng" algn="ctr">
                      <a:solidFill>
                        <a:srgbClr val="AFB2B4"/>
                      </a:solidFill>
                      <a:prstDash val="solid"/>
                      <a:round/>
                      <a:headEnd type="none" w="med" len="med"/>
                      <a:tailEnd type="none" w="med" len="med"/>
                    </a:lnR>
                    <a:lnT w="12700" cap="flat" cmpd="sng" algn="ctr">
                      <a:solidFill>
                        <a:srgbClr val="BCC0C2"/>
                      </a:solidFill>
                      <a:prstDash val="solid"/>
                      <a:round/>
                      <a:headEnd type="none" w="med" len="med"/>
                      <a:tailEnd type="none" w="med" len="med"/>
                    </a:lnT>
                    <a:lnB w="12700" cap="flat" cmpd="sng" algn="ctr">
                      <a:solidFill>
                        <a:srgbClr val="AFB2B4"/>
                      </a:solidFill>
                      <a:prstDash val="solid"/>
                      <a:round/>
                      <a:headEnd type="none" w="med" len="med"/>
                      <a:tailEnd type="none" w="med" len="med"/>
                    </a:lnB>
                    <a:solidFill>
                      <a:srgbClr val="DBDEE1"/>
                    </a:solidFill>
                  </a:tcPr>
                </a:tc>
                <a:tc>
                  <a:txBody>
                    <a:bodyPr/>
                    <a:lstStyle/>
                    <a:p>
                      <a:pPr indent="0" marL="0">
                        <a:lnSpc>
                          <a:spcPts val="2100"/>
                        </a:lnSpc>
                        <a:buNone/>
                      </a:pPr>
                      <a:r>
                        <a:rPr lang="en-US" sz="1500" b="1" dirty="0">
                          <a:solidFill>
                            <a:srgbClr val="1B2A3A"/>
                          </a:solidFill>
                          <a:latin typeface="IBM Plex Sans" pitchFamily="34" charset="0"/>
                          <a:ea typeface="IBM Plex Sans" pitchFamily="34" charset="-122"/>
                          <a:cs typeface="IBM Plex Sans" pitchFamily="34" charset="-120"/>
                        </a:rPr>
                        <a:t>What holds</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AFB2B4"/>
                      </a:solidFill>
                      <a:prstDash val="solid"/>
                      <a:round/>
                      <a:headEnd type="none" w="med" len="med"/>
                      <a:tailEnd type="none" w="med" len="med"/>
                    </a:lnL>
                    <a:lnR w="12700" cap="flat" cmpd="sng" algn="ctr">
                      <a:solidFill>
                        <a:srgbClr val="AFB2B4"/>
                      </a:solidFill>
                      <a:prstDash val="solid"/>
                      <a:round/>
                      <a:headEnd type="none" w="med" len="med"/>
                      <a:tailEnd type="none" w="med" len="med"/>
                    </a:lnR>
                    <a:lnT w="12700" cap="flat" cmpd="sng" algn="ctr">
                      <a:solidFill>
                        <a:srgbClr val="BCC0C2"/>
                      </a:solidFill>
                      <a:prstDash val="solid"/>
                      <a:round/>
                      <a:headEnd type="none" w="med" len="med"/>
                      <a:tailEnd type="none" w="med" len="med"/>
                    </a:lnT>
                    <a:lnB w="12700" cap="flat" cmpd="sng" algn="ctr">
                      <a:solidFill>
                        <a:srgbClr val="AFB2B4"/>
                      </a:solidFill>
                      <a:prstDash val="solid"/>
                      <a:round/>
                      <a:headEnd type="none" w="med" len="med"/>
                      <a:tailEnd type="none" w="med" len="med"/>
                    </a:lnB>
                    <a:solidFill>
                      <a:srgbClr val="DBDEE1"/>
                    </a:solidFill>
                  </a:tcPr>
                </a:tc>
              </a:tr>
              <a:tr h="678205">
                <a:tc>
                  <a:txBody>
                    <a:bodyPr/>
                    <a:lstStyle/>
                    <a:p>
                      <a:pPr indent="0" marL="0">
                        <a:lnSpc>
                          <a:spcPts val="2100"/>
                        </a:lnSpc>
                        <a:buNone/>
                      </a:pPr>
                      <a:r>
                        <a:rPr lang="en-US" sz="1500" dirty="0">
                          <a:solidFill>
                            <a:srgbClr val="1B2A3A"/>
                          </a:solidFill>
                          <a:latin typeface="IBM Plex Sans" pitchFamily="34" charset="0"/>
                          <a:ea typeface="IBM Plex Sans" pitchFamily="34" charset="-122"/>
                          <a:cs typeface="IBM Plex Sans" pitchFamily="34" charset="-120"/>
                        </a:rPr>
                        <a:t>‖Aθ − y‖² is strictly convex</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BCC0C2"/>
                      </a:solidFill>
                      <a:prstDash val="solid"/>
                      <a:round/>
                      <a:headEnd type="none" w="med" len="med"/>
                      <a:tailEnd type="none" w="med" len="med"/>
                    </a:lnL>
                    <a:lnR w="12700" cap="flat" cmpd="sng" algn="ctr">
                      <a:solidFill>
                        <a:srgbClr val="BCC0C2"/>
                      </a:solidFill>
                      <a:prstDash val="solid"/>
                      <a:round/>
                      <a:headEnd type="none" w="med" len="med"/>
                      <a:tailEnd type="none" w="med" len="med"/>
                    </a:lnR>
                    <a:lnT w="12700" cap="flat" cmpd="sng" algn="ctr">
                      <a:solidFill>
                        <a:srgbClr val="AFB2B4"/>
                      </a:solidFill>
                      <a:prstDash val="solid"/>
                      <a:round/>
                      <a:headEnd type="none" w="med" len="med"/>
                      <a:tailEnd type="none" w="med" len="med"/>
                    </a:lnT>
                    <a:lnB w="12700" cap="flat" cmpd="sng" algn="ctr">
                      <a:solidFill>
                        <a:srgbClr val="BCC0C2"/>
                      </a:solidFill>
                      <a:prstDash val="solid"/>
                      <a:round/>
                      <a:headEnd type="none" w="med" len="med"/>
                      <a:tailEnd type="none" w="med" len="med"/>
                    </a:lnB>
                  </a:tcPr>
                </a:tc>
                <a:tc>
                  <a:txBody>
                    <a:bodyPr/>
                    <a:lstStyle/>
                    <a:p>
                      <a:pPr indent="0" marL="0">
                        <a:lnSpc>
                          <a:spcPts val="2100"/>
                        </a:lnSpc>
                        <a:buNone/>
                      </a:pPr>
                      <a:r>
                        <a:rPr lang="en-US" sz="1500" dirty="0">
                          <a:solidFill>
                            <a:srgbClr val="1B2A3A"/>
                          </a:solidFill>
                          <a:latin typeface="IBM Plex Sans" pitchFamily="34" charset="0"/>
                          <a:ea typeface="IBM Plex Sans" pitchFamily="34" charset="-122"/>
                          <a:cs typeface="IBM Plex Sans" pitchFamily="34" charset="-120"/>
                        </a:rPr>
                        <a:t>Convex only: flat along “add one constant to every drift”. The gauge (and a tiny ridge) make each solve unique.</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BCC0C2"/>
                      </a:solidFill>
                      <a:prstDash val="solid"/>
                      <a:round/>
                      <a:headEnd type="none" w="med" len="med"/>
                      <a:tailEnd type="none" w="med" len="med"/>
                    </a:lnL>
                    <a:lnR w="12700" cap="flat" cmpd="sng" algn="ctr">
                      <a:solidFill>
                        <a:srgbClr val="BCC0C2"/>
                      </a:solidFill>
                      <a:prstDash val="solid"/>
                      <a:round/>
                      <a:headEnd type="none" w="med" len="med"/>
                      <a:tailEnd type="none" w="med" len="med"/>
                    </a:lnR>
                    <a:lnT w="12700" cap="flat" cmpd="sng" algn="ctr">
                      <a:solidFill>
                        <a:srgbClr val="AFB2B4"/>
                      </a:solidFill>
                      <a:prstDash val="solid"/>
                      <a:round/>
                      <a:headEnd type="none" w="med" len="med"/>
                      <a:tailEnd type="none" w="med" len="med"/>
                    </a:lnT>
                    <a:lnB w="12700" cap="flat" cmpd="sng" algn="ctr">
                      <a:solidFill>
                        <a:srgbClr val="BCC0C2"/>
                      </a:solidFill>
                      <a:prstDash val="solid"/>
                      <a:round/>
                      <a:headEnd type="none" w="med" len="med"/>
                      <a:tailEnd type="none" w="med" len="med"/>
                    </a:lnB>
                  </a:tcPr>
                </a:tc>
              </a:tr>
              <a:tr h="411532">
                <a:tc>
                  <a:txBody>
                    <a:bodyPr/>
                    <a:lstStyle/>
                    <a:p>
                      <a:pPr indent="0" marL="0">
                        <a:lnSpc>
                          <a:spcPts val="2100"/>
                        </a:lnSpc>
                        <a:buNone/>
                      </a:pPr>
                      <a:r>
                        <a:rPr lang="en-US" sz="1500" dirty="0">
                          <a:solidFill>
                            <a:srgbClr val="1B2A3A"/>
                          </a:solidFill>
                          <a:latin typeface="IBM Plex Sans" pitchFamily="34" charset="0"/>
                          <a:ea typeface="IBM Plex Sans" pitchFamily="34" charset="-122"/>
                          <a:cs typeface="IBM Plex Sans" pitchFamily="34" charset="-120"/>
                        </a:rPr>
                        <a:t>Huber’s loss is strictly convex</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BCC0C2"/>
                      </a:solidFill>
                      <a:prstDash val="solid"/>
                      <a:round/>
                      <a:headEnd type="none" w="med" len="med"/>
                      <a:tailEnd type="none" w="med" len="med"/>
                    </a:lnL>
                    <a:lnR w="12700" cap="flat" cmpd="sng" algn="ctr">
                      <a:solidFill>
                        <a:srgbClr val="BCC0C2"/>
                      </a:solidFill>
                      <a:prstDash val="solid"/>
                      <a:round/>
                      <a:headEnd type="none" w="med" len="med"/>
                      <a:tailEnd type="none" w="med" len="med"/>
                    </a:lnR>
                    <a:lnT w="12700" cap="flat" cmpd="sng" algn="ctr">
                      <a:solidFill>
                        <a:srgbClr val="BCC0C2"/>
                      </a:solidFill>
                      <a:prstDash val="solid"/>
                      <a:round/>
                      <a:headEnd type="none" w="med" len="med"/>
                      <a:tailEnd type="none" w="med" len="med"/>
                    </a:lnT>
                    <a:lnB w="12700" cap="flat" cmpd="sng" algn="ctr">
                      <a:solidFill>
                        <a:srgbClr val="BCC0C2"/>
                      </a:solidFill>
                      <a:prstDash val="solid"/>
                      <a:round/>
                      <a:headEnd type="none" w="med" len="med"/>
                      <a:tailEnd type="none" w="med" len="med"/>
                    </a:lnB>
                  </a:tcPr>
                </a:tc>
                <a:tc>
                  <a:txBody>
                    <a:bodyPr/>
                    <a:lstStyle/>
                    <a:p>
                      <a:pPr indent="0" marL="0">
                        <a:lnSpc>
                          <a:spcPts val="2100"/>
                        </a:lnSpc>
                        <a:buNone/>
                      </a:pPr>
                      <a:r>
                        <a:rPr lang="en-US" sz="1500" dirty="0">
                          <a:solidFill>
                            <a:srgbClr val="1B2A3A"/>
                          </a:solidFill>
                          <a:latin typeface="IBM Plex Sans" pitchFamily="34" charset="0"/>
                          <a:ea typeface="IBM Plex Sans" pitchFamily="34" charset="-122"/>
                          <a:cs typeface="IBM Plex Sans" pitchFamily="34" charset="-120"/>
                        </a:rPr>
                        <a:t>Convex, not strictly: past the threshold it is a straight line.</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BCC0C2"/>
                      </a:solidFill>
                      <a:prstDash val="solid"/>
                      <a:round/>
                      <a:headEnd type="none" w="med" len="med"/>
                      <a:tailEnd type="none" w="med" len="med"/>
                    </a:lnL>
                    <a:lnR w="12700" cap="flat" cmpd="sng" algn="ctr">
                      <a:solidFill>
                        <a:srgbClr val="BCC0C2"/>
                      </a:solidFill>
                      <a:prstDash val="solid"/>
                      <a:round/>
                      <a:headEnd type="none" w="med" len="med"/>
                      <a:tailEnd type="none" w="med" len="med"/>
                    </a:lnR>
                    <a:lnT w="12700" cap="flat" cmpd="sng" algn="ctr">
                      <a:solidFill>
                        <a:srgbClr val="BCC0C2"/>
                      </a:solidFill>
                      <a:prstDash val="solid"/>
                      <a:round/>
                      <a:headEnd type="none" w="med" len="med"/>
                      <a:tailEnd type="none" w="med" len="med"/>
                    </a:lnT>
                    <a:lnB w="12700" cap="flat" cmpd="sng" algn="ctr">
                      <a:solidFill>
                        <a:srgbClr val="BCC0C2"/>
                      </a:solidFill>
                      <a:prstDash val="solid"/>
                      <a:round/>
                      <a:headEnd type="none" w="med" len="med"/>
                      <a:tailEnd type="none" w="med" len="med"/>
                    </a:lnB>
                  </a:tcPr>
                </a:tc>
              </a:tr>
              <a:tr h="411532">
                <a:tc>
                  <a:txBody>
                    <a:bodyPr/>
                    <a:lstStyle/>
                    <a:p>
                      <a:pPr indent="0" marL="0">
                        <a:lnSpc>
                          <a:spcPts val="2100"/>
                        </a:lnSpc>
                        <a:buNone/>
                      </a:pPr>
                      <a:r>
                        <a:rPr lang="en-US" sz="1500" dirty="0">
                          <a:solidFill>
                            <a:srgbClr val="1B2A3A"/>
                          </a:solidFill>
                          <a:latin typeface="IBM Plex Sans" pitchFamily="34" charset="0"/>
                          <a:ea typeface="IBM Plex Sans" pitchFamily="34" charset="-122"/>
                          <a:cs typeface="IBM Plex Sans" pitchFamily="34" charset="-120"/>
                        </a:rPr>
                        <a:t>IRLS repeats until θ stops changing</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BCC0C2"/>
                      </a:solidFill>
                      <a:prstDash val="solid"/>
                      <a:round/>
                      <a:headEnd type="none" w="med" len="med"/>
                      <a:tailEnd type="none" w="med" len="med"/>
                    </a:lnL>
                    <a:lnR w="12700" cap="flat" cmpd="sng" algn="ctr">
                      <a:solidFill>
                        <a:srgbClr val="BCC0C2"/>
                      </a:solidFill>
                      <a:prstDash val="solid"/>
                      <a:round/>
                      <a:headEnd type="none" w="med" len="med"/>
                      <a:tailEnd type="none" w="med" len="med"/>
                    </a:lnR>
                    <a:lnT w="12700" cap="flat" cmpd="sng" algn="ctr">
                      <a:solidFill>
                        <a:srgbClr val="BCC0C2"/>
                      </a:solidFill>
                      <a:prstDash val="solid"/>
                      <a:round/>
                      <a:headEnd type="none" w="med" len="med"/>
                      <a:tailEnd type="none" w="med" len="med"/>
                    </a:lnT>
                    <a:lnB w="12700" cap="flat" cmpd="sng" algn="ctr">
                      <a:solidFill>
                        <a:srgbClr val="BCC0C2"/>
                      </a:solidFill>
                      <a:prstDash val="solid"/>
                      <a:round/>
                      <a:headEnd type="none" w="med" len="med"/>
                      <a:tailEnd type="none" w="med" len="med"/>
                    </a:lnB>
                  </a:tcPr>
                </a:tc>
                <a:tc>
                  <a:txBody>
                    <a:bodyPr/>
                    <a:lstStyle/>
                    <a:p>
                      <a:pPr indent="0" marL="0">
                        <a:lnSpc>
                          <a:spcPts val="2100"/>
                        </a:lnSpc>
                        <a:buNone/>
                      </a:pPr>
                      <a:r>
                        <a:rPr lang="en-US" sz="1500" dirty="0">
                          <a:solidFill>
                            <a:srgbClr val="1B2A3A"/>
                          </a:solidFill>
                          <a:latin typeface="IBM Plex Sans" pitchFamily="34" charset="0"/>
                          <a:ea typeface="IBM Plex Sans" pitchFamily="34" charset="-122"/>
                          <a:cs typeface="IBM Plex Sans" pitchFamily="34" charset="-120"/>
                        </a:rPr>
                        <a:t>A fixed schedule: 1 plain, 3 Huber and 4 Tukey solves.</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BCC0C2"/>
                      </a:solidFill>
                      <a:prstDash val="solid"/>
                      <a:round/>
                      <a:headEnd type="none" w="med" len="med"/>
                      <a:tailEnd type="none" w="med" len="med"/>
                    </a:lnL>
                    <a:lnR w="12700" cap="flat" cmpd="sng" algn="ctr">
                      <a:solidFill>
                        <a:srgbClr val="BCC0C2"/>
                      </a:solidFill>
                      <a:prstDash val="solid"/>
                      <a:round/>
                      <a:headEnd type="none" w="med" len="med"/>
                      <a:tailEnd type="none" w="med" len="med"/>
                    </a:lnR>
                    <a:lnT w="12700" cap="flat" cmpd="sng" algn="ctr">
                      <a:solidFill>
                        <a:srgbClr val="BCC0C2"/>
                      </a:solidFill>
                      <a:prstDash val="solid"/>
                      <a:round/>
                      <a:headEnd type="none" w="med" len="med"/>
                      <a:tailEnd type="none" w="med" len="med"/>
                    </a:lnT>
                    <a:lnB w="12700" cap="flat" cmpd="sng" algn="ctr">
                      <a:solidFill>
                        <a:srgbClr val="BCC0C2"/>
                      </a:solidFill>
                      <a:prstDash val="solid"/>
                      <a:round/>
                      <a:headEnd type="none" w="med" len="med"/>
                      <a:tailEnd type="none" w="med" len="med"/>
                    </a:lnB>
                  </a:tcPr>
                </a:tc>
              </a:tr>
              <a:tr h="678205">
                <a:tc>
                  <a:txBody>
                    <a:bodyPr/>
                    <a:lstStyle/>
                    <a:p>
                      <a:pPr indent="0" marL="0">
                        <a:lnSpc>
                          <a:spcPts val="2100"/>
                        </a:lnSpc>
                        <a:buNone/>
                      </a:pPr>
                      <a:r>
                        <a:rPr lang="en-US" sz="1500" dirty="0">
                          <a:solidFill>
                            <a:srgbClr val="1B2A3A"/>
                          </a:solidFill>
                          <a:latin typeface="IBM Plex Sans" pitchFamily="34" charset="0"/>
                          <a:ea typeface="IBM Plex Sans" pitchFamily="34" charset="-122"/>
                          <a:cs typeface="IBM Plex Sans" pitchFamily="34" charset="-120"/>
                        </a:rPr>
                        <a:t>With the gauge there is only one solution (your summary)</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BCC0C2"/>
                      </a:solidFill>
                      <a:prstDash val="solid"/>
                      <a:round/>
                      <a:headEnd type="none" w="med" len="med"/>
                      <a:tailEnd type="none" w="med" len="med"/>
                    </a:lnL>
                    <a:lnR w="12700" cap="flat" cmpd="sng" algn="ctr">
                      <a:solidFill>
                        <a:srgbClr val="BCC0C2"/>
                      </a:solidFill>
                      <a:prstDash val="solid"/>
                      <a:round/>
                      <a:headEnd type="none" w="med" len="med"/>
                      <a:tailEnd type="none" w="med" len="med"/>
                    </a:lnR>
                    <a:lnT w="12700" cap="flat" cmpd="sng" algn="ctr">
                      <a:solidFill>
                        <a:srgbClr val="BCC0C2"/>
                      </a:solidFill>
                      <a:prstDash val="solid"/>
                      <a:round/>
                      <a:headEnd type="none" w="med" len="med"/>
                      <a:tailEnd type="none" w="med" len="med"/>
                    </a:lnT>
                    <a:lnB w="12700" cap="flat" cmpd="sng" algn="ctr">
                      <a:solidFill>
                        <a:srgbClr val="BCC0C2"/>
                      </a:solidFill>
                      <a:prstDash val="solid"/>
                      <a:round/>
                      <a:headEnd type="none" w="med" len="med"/>
                      <a:tailEnd type="none" w="med" len="med"/>
                    </a:lnB>
                  </a:tcPr>
                </a:tc>
                <a:tc>
                  <a:txBody>
                    <a:bodyPr/>
                    <a:lstStyle/>
                    <a:p>
                      <a:pPr indent="0" marL="0">
                        <a:lnSpc>
                          <a:spcPts val="2100"/>
                        </a:lnSpc>
                        <a:buNone/>
                      </a:pPr>
                      <a:r>
                        <a:rPr lang="en-US" sz="1500" dirty="0">
                          <a:solidFill>
                            <a:srgbClr val="1B2A3A"/>
                          </a:solidFill>
                          <a:latin typeface="IBM Plex Sans" pitchFamily="34" charset="0"/>
                          <a:ea typeface="IBM Plex Sans" pitchFamily="34" charset="-122"/>
                          <a:cs typeface="IBM Plex Sans" pitchFamily="34" charset="-120"/>
                        </a:rPr>
                        <a:t>Each solve has one. The Tukey stage is not convex, so the final answer depends on where Huber leaves it.</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BCC0C2"/>
                      </a:solidFill>
                      <a:prstDash val="solid"/>
                      <a:round/>
                      <a:headEnd type="none" w="med" len="med"/>
                      <a:tailEnd type="none" w="med" len="med"/>
                    </a:lnL>
                    <a:lnR w="12700" cap="flat" cmpd="sng" algn="ctr">
                      <a:solidFill>
                        <a:srgbClr val="BCC0C2"/>
                      </a:solidFill>
                      <a:prstDash val="solid"/>
                      <a:round/>
                      <a:headEnd type="none" w="med" len="med"/>
                      <a:tailEnd type="none" w="med" len="med"/>
                    </a:lnR>
                    <a:lnT w="12700" cap="flat" cmpd="sng" algn="ctr">
                      <a:solidFill>
                        <a:srgbClr val="BCC0C2"/>
                      </a:solidFill>
                      <a:prstDash val="solid"/>
                      <a:round/>
                      <a:headEnd type="none" w="med" len="med"/>
                      <a:tailEnd type="none" w="med" len="med"/>
                    </a:lnT>
                    <a:lnB w="12700" cap="flat" cmpd="sng" algn="ctr">
                      <a:solidFill>
                        <a:srgbClr val="BCC0C2"/>
                      </a:solidFill>
                      <a:prstDash val="solid"/>
                      <a:round/>
                      <a:headEnd type="none" w="med" len="med"/>
                      <a:tailEnd type="none" w="med" len="med"/>
                    </a:lnB>
                  </a:tcPr>
                </a:tc>
              </a:tr>
            </a:tbl>
          </a:graphicData>
        </a:graphic>
      </p:graphicFrame>
      <p:sp>
        <p:nvSpPr>
          <p:cNvPr id="5" name="Text 2"/>
          <p:cNvSpPr/>
          <p:nvPr/>
        </p:nvSpPr>
        <p:spPr>
          <a:xfrm>
            <a:off x="812782" y="6238280"/>
            <a:ext cx="1088338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682"/>
                </a:solidFill>
                <a:latin typeface="IBM Plex Sans" pitchFamily="34" charset="0"/>
                <a:ea typeface="IBM Plex Sans" pitchFamily="34" charset="-122"/>
                <a:cs typeface="IBM Plex Sans" pitchFamily="34" charset="-120"/>
              </a:rPr>
              <a:t>Checked against the paper’s Method section and fit_joint in src/multibatch.py.</a:t>
            </a:r>
            <a:endParaRPr lang="en-US" sz="1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ECF0F3"/>
        </a:solidFill>
      </p:bgPr>
    </p:bg>
    <p:spTree>
      <p:nvGrpSpPr>
        <p:cNvPr id="1" name=""/>
        <p:cNvGrpSpPr/>
        <p:nvPr/>
      </p:nvGrpSpPr>
      <p:grpSpPr>
        <a:xfrm>
          <a:off x="0" y="0"/>
          <a:ext cx="0" cy="0"/>
          <a:chOff x="0" y="0"/>
          <a:chExt cx="0" cy="0"/>
        </a:xfrm>
      </p:grpSpPr>
      <p:sp>
        <p:nvSpPr>
          <p:cNvPr id="2" name="Text 0"/>
          <p:cNvSpPr/>
          <p:nvPr/>
        </p:nvSpPr>
        <p:spPr>
          <a:xfrm>
            <a:off x="812782" y="812775"/>
            <a:ext cx="10883429"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2F6FBF"/>
                </a:solidFill>
                <a:latin typeface="IBM Plex Sans" pitchFamily="34" charset="0"/>
                <a:ea typeface="IBM Plex Sans" pitchFamily="34" charset="-122"/>
                <a:cs typeface="IBM Plex Sans" pitchFamily="34" charset="-120"/>
              </a:rPr>
              <a:t>CORRECTIONS · 2 OF 2</a:t>
            </a:r>
            <a:endParaRPr lang="en-US" sz="1200" dirty="0"/>
          </a:p>
        </p:txBody>
      </p:sp>
      <p:sp>
        <p:nvSpPr>
          <p:cNvPr id="3" name="Text 1"/>
          <p:cNvSpPr/>
          <p:nvPr>
            <p:ph type="title"/>
          </p:nvPr>
        </p:nvSpPr>
        <p:spPr>
          <a:xfrm>
            <a:off x="812782" y="1127658"/>
            <a:ext cx="10883429" cy="472426"/>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B2A3A"/>
                </a:solidFill>
                <a:latin typeface="Source Serif 4" pitchFamily="18" charset="0"/>
                <a:ea typeface="Source Serif 4" pitchFamily="18" charset="-122"/>
                <a:cs typeface="Source Serif 4" pitchFamily="18" charset="-120"/>
              </a:rPr>
              <a:t>Where the chat answers were wrong: the results</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4327" y="1840234"/>
          <a:ext cx="10554890" cy="3124353"/>
        </p:xfrm>
        <a:graphic>
          <a:graphicData uri="http://schemas.openxmlformats.org/drawingml/2006/table">
            <a:tbl>
              <a:tblPr/>
              <a:tblGrid>
                <a:gridCol w="4221956"/>
                <a:gridCol w="6332934"/>
              </a:tblGrid>
              <a:tr h="411532">
                <a:tc>
                  <a:txBody>
                    <a:bodyPr/>
                    <a:lstStyle/>
                    <a:p>
                      <a:pPr indent="0" marL="0">
                        <a:lnSpc>
                          <a:spcPts val="2100"/>
                        </a:lnSpc>
                        <a:buNone/>
                      </a:pPr>
                      <a:r>
                        <a:rPr lang="en-US" sz="1500" b="1" dirty="0">
                          <a:solidFill>
                            <a:srgbClr val="1B2A3A"/>
                          </a:solidFill>
                          <a:latin typeface="IBM Plex Sans" pitchFamily="34" charset="0"/>
                          <a:ea typeface="IBM Plex Sans" pitchFamily="34" charset="-122"/>
                          <a:cs typeface="IBM Plex Sans" pitchFamily="34" charset="-120"/>
                        </a:rPr>
                        <a:t>The chat said</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BCC0C2"/>
                      </a:solidFill>
                      <a:prstDash val="solid"/>
                      <a:round/>
                      <a:headEnd type="none" w="med" len="med"/>
                      <a:tailEnd type="none" w="med" len="med"/>
                    </a:lnL>
                    <a:lnR w="12700" cap="flat" cmpd="sng" algn="ctr">
                      <a:solidFill>
                        <a:srgbClr val="AFB2B4"/>
                      </a:solidFill>
                      <a:prstDash val="solid"/>
                      <a:round/>
                      <a:headEnd type="none" w="med" len="med"/>
                      <a:tailEnd type="none" w="med" len="med"/>
                    </a:lnR>
                    <a:lnT w="12700" cap="flat" cmpd="sng" algn="ctr">
                      <a:solidFill>
                        <a:srgbClr val="BCC0C2"/>
                      </a:solidFill>
                      <a:prstDash val="solid"/>
                      <a:round/>
                      <a:headEnd type="none" w="med" len="med"/>
                      <a:tailEnd type="none" w="med" len="med"/>
                    </a:lnT>
                    <a:lnB w="12700" cap="flat" cmpd="sng" algn="ctr">
                      <a:solidFill>
                        <a:srgbClr val="AFB2B4"/>
                      </a:solidFill>
                      <a:prstDash val="solid"/>
                      <a:round/>
                      <a:headEnd type="none" w="med" len="med"/>
                      <a:tailEnd type="none" w="med" len="med"/>
                    </a:lnB>
                    <a:solidFill>
                      <a:srgbClr val="DBDEE1"/>
                    </a:solidFill>
                  </a:tcPr>
                </a:tc>
                <a:tc>
                  <a:txBody>
                    <a:bodyPr/>
                    <a:lstStyle/>
                    <a:p>
                      <a:pPr indent="0" marL="0">
                        <a:lnSpc>
                          <a:spcPts val="2100"/>
                        </a:lnSpc>
                        <a:buNone/>
                      </a:pPr>
                      <a:r>
                        <a:rPr lang="en-US" sz="1500" b="1" dirty="0">
                          <a:solidFill>
                            <a:srgbClr val="1B2A3A"/>
                          </a:solidFill>
                          <a:latin typeface="IBM Plex Sans" pitchFamily="34" charset="0"/>
                          <a:ea typeface="IBM Plex Sans" pitchFamily="34" charset="-122"/>
                          <a:cs typeface="IBM Plex Sans" pitchFamily="34" charset="-120"/>
                        </a:rPr>
                        <a:t>What holds</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AFB2B4"/>
                      </a:solidFill>
                      <a:prstDash val="solid"/>
                      <a:round/>
                      <a:headEnd type="none" w="med" len="med"/>
                      <a:tailEnd type="none" w="med" len="med"/>
                    </a:lnL>
                    <a:lnR w="12700" cap="flat" cmpd="sng" algn="ctr">
                      <a:solidFill>
                        <a:srgbClr val="AFB2B4"/>
                      </a:solidFill>
                      <a:prstDash val="solid"/>
                      <a:round/>
                      <a:headEnd type="none" w="med" len="med"/>
                      <a:tailEnd type="none" w="med" len="med"/>
                    </a:lnR>
                    <a:lnT w="12700" cap="flat" cmpd="sng" algn="ctr">
                      <a:solidFill>
                        <a:srgbClr val="BCC0C2"/>
                      </a:solidFill>
                      <a:prstDash val="solid"/>
                      <a:round/>
                      <a:headEnd type="none" w="med" len="med"/>
                      <a:tailEnd type="none" w="med" len="med"/>
                    </a:lnT>
                    <a:lnB w="12700" cap="flat" cmpd="sng" algn="ctr">
                      <a:solidFill>
                        <a:srgbClr val="AFB2B4"/>
                      </a:solidFill>
                      <a:prstDash val="solid"/>
                      <a:round/>
                      <a:headEnd type="none" w="med" len="med"/>
                      <a:tailEnd type="none" w="med" len="med"/>
                    </a:lnB>
                    <a:solidFill>
                      <a:srgbClr val="DBDEE1"/>
                    </a:solidFill>
                  </a:tcPr>
                </a:tc>
              </a:tr>
              <a:tr h="678205">
                <a:tc>
                  <a:txBody>
                    <a:bodyPr/>
                    <a:lstStyle/>
                    <a:p>
                      <a:pPr indent="0" marL="0">
                        <a:lnSpc>
                          <a:spcPts val="2100"/>
                        </a:lnSpc>
                        <a:buNone/>
                      </a:pPr>
                      <a:r>
                        <a:rPr lang="en-US" sz="1500" dirty="0">
                          <a:solidFill>
                            <a:srgbClr val="1B2A3A"/>
                          </a:solidFill>
                          <a:latin typeface="IBM Plex Sans" pitchFamily="34" charset="0"/>
                          <a:ea typeface="IBM Plex Sans" pitchFamily="34" charset="-122"/>
                          <a:cs typeface="IBM Plex Sans" pitchFamily="34" charset="-120"/>
                        </a:rPr>
                        <a:t>A new gauge shifts the clock, which changes the penalty</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BCC0C2"/>
                      </a:solidFill>
                      <a:prstDash val="solid"/>
                      <a:round/>
                      <a:headEnd type="none" w="med" len="med"/>
                      <a:tailEnd type="none" w="med" len="med"/>
                    </a:lnL>
                    <a:lnR w="12700" cap="flat" cmpd="sng" algn="ctr">
                      <a:solidFill>
                        <a:srgbClr val="BCC0C2"/>
                      </a:solidFill>
                      <a:prstDash val="solid"/>
                      <a:round/>
                      <a:headEnd type="none" w="med" len="med"/>
                      <a:tailEnd type="none" w="med" len="med"/>
                    </a:lnR>
                    <a:lnT w="12700" cap="flat" cmpd="sng" algn="ctr">
                      <a:solidFill>
                        <a:srgbClr val="AFB2B4"/>
                      </a:solidFill>
                      <a:prstDash val="solid"/>
                      <a:round/>
                      <a:headEnd type="none" w="med" len="med"/>
                      <a:tailEnd type="none" w="med" len="med"/>
                    </a:lnT>
                    <a:lnB w="12700" cap="flat" cmpd="sng" algn="ctr">
                      <a:solidFill>
                        <a:srgbClr val="BCC0C2"/>
                      </a:solidFill>
                      <a:prstDash val="solid"/>
                      <a:round/>
                      <a:headEnd type="none" w="med" len="med"/>
                      <a:tailEnd type="none" w="med" len="med"/>
                    </a:lnB>
                  </a:tcPr>
                </a:tc>
                <a:tc>
                  <a:txBody>
                    <a:bodyPr/>
                    <a:lstStyle/>
                    <a:p>
                      <a:pPr indent="0" marL="0">
                        <a:lnSpc>
                          <a:spcPts val="2100"/>
                        </a:lnSpc>
                        <a:buNone/>
                      </a:pPr>
                      <a:r>
                        <a:rPr lang="en-US" sz="1500" dirty="0">
                          <a:solidFill>
                            <a:srgbClr val="1B2A3A"/>
                          </a:solidFill>
                          <a:latin typeface="IBM Plex Sans" pitchFamily="34" charset="0"/>
                          <a:ea typeface="IBM Plex Sans" pitchFamily="34" charset="-122"/>
                          <a:cs typeface="IBM Plex Sans" pitchFamily="34" charset="-120"/>
                        </a:rPr>
                        <a:t>A shift changes nothing. Gauges differ in the shape they give the clock, which the penalty does see.</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BCC0C2"/>
                      </a:solidFill>
                      <a:prstDash val="solid"/>
                      <a:round/>
                      <a:headEnd type="none" w="med" len="med"/>
                      <a:tailEnd type="none" w="med" len="med"/>
                    </a:lnL>
                    <a:lnR w="12700" cap="flat" cmpd="sng" algn="ctr">
                      <a:solidFill>
                        <a:srgbClr val="BCC0C2"/>
                      </a:solidFill>
                      <a:prstDash val="solid"/>
                      <a:round/>
                      <a:headEnd type="none" w="med" len="med"/>
                      <a:tailEnd type="none" w="med" len="med"/>
                    </a:lnR>
                    <a:lnT w="12700" cap="flat" cmpd="sng" algn="ctr">
                      <a:solidFill>
                        <a:srgbClr val="AFB2B4"/>
                      </a:solidFill>
                      <a:prstDash val="solid"/>
                      <a:round/>
                      <a:headEnd type="none" w="med" len="med"/>
                      <a:tailEnd type="none" w="med" len="med"/>
                    </a:lnT>
                    <a:lnB w="12700" cap="flat" cmpd="sng" algn="ctr">
                      <a:solidFill>
                        <a:srgbClr val="BCC0C2"/>
                      </a:solidFill>
                      <a:prstDash val="solid"/>
                      <a:round/>
                      <a:headEnd type="none" w="med" len="med"/>
                      <a:tailEnd type="none" w="med" len="med"/>
                    </a:lnB>
                  </a:tcPr>
                </a:tc>
              </a:tr>
              <a:tr h="678205">
                <a:tc>
                  <a:txBody>
                    <a:bodyPr/>
                    <a:lstStyle/>
                    <a:p>
                      <a:pPr indent="0" marL="0">
                        <a:lnSpc>
                          <a:spcPts val="2100"/>
                        </a:lnSpc>
                        <a:buNone/>
                      </a:pPr>
                      <a:r>
                        <a:rPr lang="en-US" sz="1500" dirty="0">
                          <a:solidFill>
                            <a:srgbClr val="1B2A3A"/>
                          </a:solidFill>
                          <a:latin typeface="IBM Plex Sans" pitchFamily="34" charset="0"/>
                          <a:ea typeface="IBM Plex Sans" pitchFamily="34" charset="-122"/>
                          <a:cs typeface="IBM Plex Sans" pitchFamily="34" charset="-120"/>
                        </a:rPr>
                        <a:t>The reference gauge was chosen from the benchmark</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BCC0C2"/>
                      </a:solidFill>
                      <a:prstDash val="solid"/>
                      <a:round/>
                      <a:headEnd type="none" w="med" len="med"/>
                      <a:tailEnd type="none" w="med" len="med"/>
                    </a:lnL>
                    <a:lnR w="12700" cap="flat" cmpd="sng" algn="ctr">
                      <a:solidFill>
                        <a:srgbClr val="BCC0C2"/>
                      </a:solidFill>
                      <a:prstDash val="solid"/>
                      <a:round/>
                      <a:headEnd type="none" w="med" len="med"/>
                      <a:tailEnd type="none" w="med" len="med"/>
                    </a:lnR>
                    <a:lnT w="12700" cap="flat" cmpd="sng" algn="ctr">
                      <a:solidFill>
                        <a:srgbClr val="BCC0C2"/>
                      </a:solidFill>
                      <a:prstDash val="solid"/>
                      <a:round/>
                      <a:headEnd type="none" w="med" len="med"/>
                      <a:tailEnd type="none" w="med" len="med"/>
                    </a:lnT>
                    <a:lnB w="12700" cap="flat" cmpd="sng" algn="ctr">
                      <a:solidFill>
                        <a:srgbClr val="BCC0C2"/>
                      </a:solidFill>
                      <a:prstDash val="solid"/>
                      <a:round/>
                      <a:headEnd type="none" w="med" len="med"/>
                      <a:tailEnd type="none" w="med" len="med"/>
                    </a:lnB>
                  </a:tcPr>
                </a:tc>
                <a:tc>
                  <a:txBody>
                    <a:bodyPr/>
                    <a:lstStyle/>
                    <a:p>
                      <a:pPr indent="0" marL="0">
                        <a:lnSpc>
                          <a:spcPts val="2100"/>
                        </a:lnSpc>
                        <a:buNone/>
                      </a:pPr>
                      <a:r>
                        <a:rPr lang="en-US" sz="1500" dirty="0">
                          <a:solidFill>
                            <a:srgbClr val="1B2A3A"/>
                          </a:solidFill>
                          <a:latin typeface="IBM Plex Sans" pitchFamily="34" charset="0"/>
                          <a:ea typeface="IBM Plex Sans" pitchFamily="34" charset="-122"/>
                          <a:cs typeface="IBM Plex Sans" pitchFamily="34" charset="-120"/>
                        </a:rPr>
                        <a:t>It was fixed by the selection rule; the comparison is a trade-off and the paper leaves it open.</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BCC0C2"/>
                      </a:solidFill>
                      <a:prstDash val="solid"/>
                      <a:round/>
                      <a:headEnd type="none" w="med" len="med"/>
                      <a:tailEnd type="none" w="med" len="med"/>
                    </a:lnL>
                    <a:lnR w="12700" cap="flat" cmpd="sng" algn="ctr">
                      <a:solidFill>
                        <a:srgbClr val="BCC0C2"/>
                      </a:solidFill>
                      <a:prstDash val="solid"/>
                      <a:round/>
                      <a:headEnd type="none" w="med" len="med"/>
                      <a:tailEnd type="none" w="med" len="med"/>
                    </a:lnR>
                    <a:lnT w="12700" cap="flat" cmpd="sng" algn="ctr">
                      <a:solidFill>
                        <a:srgbClr val="BCC0C2"/>
                      </a:solidFill>
                      <a:prstDash val="solid"/>
                      <a:round/>
                      <a:headEnd type="none" w="med" len="med"/>
                      <a:tailEnd type="none" w="med" len="med"/>
                    </a:lnT>
                    <a:lnB w="12700" cap="flat" cmpd="sng" algn="ctr">
                      <a:solidFill>
                        <a:srgbClr val="BCC0C2"/>
                      </a:solidFill>
                      <a:prstDash val="solid"/>
                      <a:round/>
                      <a:headEnd type="none" w="med" len="med"/>
                      <a:tailEnd type="none" w="med" len="med"/>
                    </a:lnB>
                  </a:tcPr>
                </a:tc>
              </a:tr>
              <a:tr h="678205">
                <a:tc>
                  <a:txBody>
                    <a:bodyPr/>
                    <a:lstStyle/>
                    <a:p>
                      <a:pPr indent="0" marL="0">
                        <a:lnSpc>
                          <a:spcPts val="2100"/>
                        </a:lnSpc>
                        <a:buNone/>
                      </a:pPr>
                      <a:r>
                        <a:rPr lang="en-US" sz="1500" dirty="0">
                          <a:solidFill>
                            <a:srgbClr val="1B2A3A"/>
                          </a:solidFill>
                          <a:latin typeface="IBM Plex Sans" pitchFamily="34" charset="0"/>
                          <a:ea typeface="IBM Plex Sans" pitchFamily="34" charset="-122"/>
                          <a:cs typeface="IBM Plex Sans" pitchFamily="34" charset="-120"/>
                        </a:rPr>
                        <a:t>Deleting a pair’s anchors gives virtually zero shift</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BCC0C2"/>
                      </a:solidFill>
                      <a:prstDash val="solid"/>
                      <a:round/>
                      <a:headEnd type="none" w="med" len="med"/>
                      <a:tailEnd type="none" w="med" len="med"/>
                    </a:lnL>
                    <a:lnR w="12700" cap="flat" cmpd="sng" algn="ctr">
                      <a:solidFill>
                        <a:srgbClr val="BCC0C2"/>
                      </a:solidFill>
                      <a:prstDash val="solid"/>
                      <a:round/>
                      <a:headEnd type="none" w="med" len="med"/>
                      <a:tailEnd type="none" w="med" len="med"/>
                    </a:lnR>
                    <a:lnT w="12700" cap="flat" cmpd="sng" algn="ctr">
                      <a:solidFill>
                        <a:srgbClr val="BCC0C2"/>
                      </a:solidFill>
                      <a:prstDash val="solid"/>
                      <a:round/>
                      <a:headEnd type="none" w="med" len="med"/>
                      <a:tailEnd type="none" w="med" len="med"/>
                    </a:lnT>
                    <a:lnB w="12700" cap="flat" cmpd="sng" algn="ctr">
                      <a:solidFill>
                        <a:srgbClr val="BCC0C2"/>
                      </a:solidFill>
                      <a:prstDash val="solid"/>
                      <a:round/>
                      <a:headEnd type="none" w="med" len="med"/>
                      <a:tailEnd type="none" w="med" len="med"/>
                    </a:lnB>
                  </a:tcPr>
                </a:tc>
                <a:tc>
                  <a:txBody>
                    <a:bodyPr/>
                    <a:lstStyle/>
                    <a:p>
                      <a:pPr indent="0" marL="0">
                        <a:lnSpc>
                          <a:spcPts val="2100"/>
                        </a:lnSpc>
                        <a:buNone/>
                      </a:pPr>
                      <a:r>
                        <a:rPr lang="en-US" sz="1500" dirty="0">
                          <a:solidFill>
                            <a:srgbClr val="1B2A3A"/>
                          </a:solidFill>
                          <a:latin typeface="IBM Plex Sans" pitchFamily="34" charset="0"/>
                          <a:ea typeface="IBM Plex Sans" pitchFamily="34" charset="-122"/>
                          <a:cs typeface="IBM Plex Sans" pitchFamily="34" charset="-120"/>
                        </a:rPr>
                        <a:t>≤ 0.007 on 9 of 10 pairs; sep2015 × jan2016 fell from 0.813 to 0.755.</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BCC0C2"/>
                      </a:solidFill>
                      <a:prstDash val="solid"/>
                      <a:round/>
                      <a:headEnd type="none" w="med" len="med"/>
                      <a:tailEnd type="none" w="med" len="med"/>
                    </a:lnL>
                    <a:lnR w="12700" cap="flat" cmpd="sng" algn="ctr">
                      <a:solidFill>
                        <a:srgbClr val="BCC0C2"/>
                      </a:solidFill>
                      <a:prstDash val="solid"/>
                      <a:round/>
                      <a:headEnd type="none" w="med" len="med"/>
                      <a:tailEnd type="none" w="med" len="med"/>
                    </a:lnR>
                    <a:lnT w="12700" cap="flat" cmpd="sng" algn="ctr">
                      <a:solidFill>
                        <a:srgbClr val="BCC0C2"/>
                      </a:solidFill>
                      <a:prstDash val="solid"/>
                      <a:round/>
                      <a:headEnd type="none" w="med" len="med"/>
                      <a:tailEnd type="none" w="med" len="med"/>
                    </a:lnT>
                    <a:lnB w="12700" cap="flat" cmpd="sng" algn="ctr">
                      <a:solidFill>
                        <a:srgbClr val="BCC0C2"/>
                      </a:solidFill>
                      <a:prstDash val="solid"/>
                      <a:round/>
                      <a:headEnd type="none" w="med" len="med"/>
                      <a:tailEnd type="none" w="med" len="med"/>
                    </a:lnB>
                  </a:tcPr>
                </a:tc>
              </a:tr>
              <a:tr h="678205">
                <a:tc>
                  <a:txBody>
                    <a:bodyPr/>
                    <a:lstStyle/>
                    <a:p>
                      <a:pPr indent="0" marL="0">
                        <a:lnSpc>
                          <a:spcPts val="2100"/>
                        </a:lnSpc>
                        <a:buNone/>
                      </a:pPr>
                      <a:r>
                        <a:rPr lang="en-US" sz="1500" dirty="0">
                          <a:solidFill>
                            <a:srgbClr val="1B2A3A"/>
                          </a:solidFill>
                          <a:latin typeface="IBM Plex Sans" pitchFamily="34" charset="0"/>
                          <a:ea typeface="IBM Plex Sans" pitchFamily="34" charset="-122"/>
                          <a:cs typeface="IBM Plex Sans" pitchFamily="34" charset="-120"/>
                        </a:rPr>
                        <a:t>Intervals under-cover because of smoothing bias</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BCC0C2"/>
                      </a:solidFill>
                      <a:prstDash val="solid"/>
                      <a:round/>
                      <a:headEnd type="none" w="med" len="med"/>
                      <a:tailEnd type="none" w="med" len="med"/>
                    </a:lnL>
                    <a:lnR w="12700" cap="flat" cmpd="sng" algn="ctr">
                      <a:solidFill>
                        <a:srgbClr val="BCC0C2"/>
                      </a:solidFill>
                      <a:prstDash val="solid"/>
                      <a:round/>
                      <a:headEnd type="none" w="med" len="med"/>
                      <a:tailEnd type="none" w="med" len="med"/>
                    </a:lnR>
                    <a:lnT w="12700" cap="flat" cmpd="sng" algn="ctr">
                      <a:solidFill>
                        <a:srgbClr val="BCC0C2"/>
                      </a:solidFill>
                      <a:prstDash val="solid"/>
                      <a:round/>
                      <a:headEnd type="none" w="med" len="med"/>
                      <a:tailEnd type="none" w="med" len="med"/>
                    </a:lnT>
                    <a:lnB w="12700" cap="flat" cmpd="sng" algn="ctr">
                      <a:solidFill>
                        <a:srgbClr val="BCC0C2"/>
                      </a:solidFill>
                      <a:prstDash val="solid"/>
                      <a:round/>
                      <a:headEnd type="none" w="med" len="med"/>
                      <a:tailEnd type="none" w="med" len="med"/>
                    </a:lnB>
                  </a:tcPr>
                </a:tc>
                <a:tc>
                  <a:txBody>
                    <a:bodyPr/>
                    <a:lstStyle/>
                    <a:p>
                      <a:pPr indent="0" marL="0">
                        <a:lnSpc>
                          <a:spcPts val="2100"/>
                        </a:lnSpc>
                        <a:buNone/>
                      </a:pPr>
                      <a:r>
                        <a:rPr lang="en-US" sz="1500" dirty="0">
                          <a:solidFill>
                            <a:srgbClr val="1B2A3A"/>
                          </a:solidFill>
                          <a:latin typeface="IBM Plex Sans" pitchFamily="34" charset="0"/>
                          <a:ea typeface="IBM Plex Sans" pitchFamily="34" charset="-122"/>
                          <a:cs typeface="IBM Plex Sans" pitchFamily="34" charset="-120"/>
                        </a:rPr>
                        <a:t>The paper’s “likely reason”, not a tested cause.</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BCC0C2"/>
                      </a:solidFill>
                      <a:prstDash val="solid"/>
                      <a:round/>
                      <a:headEnd type="none" w="med" len="med"/>
                      <a:tailEnd type="none" w="med" len="med"/>
                    </a:lnL>
                    <a:lnR w="12700" cap="flat" cmpd="sng" algn="ctr">
                      <a:solidFill>
                        <a:srgbClr val="BCC0C2"/>
                      </a:solidFill>
                      <a:prstDash val="solid"/>
                      <a:round/>
                      <a:headEnd type="none" w="med" len="med"/>
                      <a:tailEnd type="none" w="med" len="med"/>
                    </a:lnR>
                    <a:lnT w="12700" cap="flat" cmpd="sng" algn="ctr">
                      <a:solidFill>
                        <a:srgbClr val="BCC0C2"/>
                      </a:solidFill>
                      <a:prstDash val="solid"/>
                      <a:round/>
                      <a:headEnd type="none" w="med" len="med"/>
                      <a:tailEnd type="none" w="med" len="med"/>
                    </a:lnT>
                    <a:lnB w="12700" cap="flat" cmpd="sng" algn="ctr">
                      <a:solidFill>
                        <a:srgbClr val="BCC0C2"/>
                      </a:solidFill>
                      <a:prstDash val="solid"/>
                      <a:round/>
                      <a:headEnd type="none" w="med" len="med"/>
                      <a:tailEnd type="none" w="med" len="med"/>
                    </a:lnB>
                  </a:tcPr>
                </a:tc>
              </a:tr>
            </a:tbl>
          </a:graphicData>
        </a:graphic>
      </p:graphicFrame>
      <p:sp>
        <p:nvSpPr>
          <p:cNvPr id="5" name="Text 2"/>
          <p:cNvSpPr/>
          <p:nvPr/>
        </p:nvSpPr>
        <p:spPr>
          <a:xfrm>
            <a:off x="812782" y="6238280"/>
            <a:ext cx="1088338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682"/>
                </a:solidFill>
                <a:latin typeface="IBM Plex Sans" pitchFamily="34" charset="0"/>
                <a:ea typeface="IBM Plex Sans" pitchFamily="34" charset="-122"/>
                <a:cs typeface="IBM Plex Sans" pitchFamily="34" charset="-120"/>
              </a:rPr>
              <a:t>Checked against the paper’s results and discussion. The numbers the chat quoted (0.116, 0.277, 0.0023, 81%, 15%, λ = 10) all match the paper.</a:t>
            </a:r>
            <a:endParaRPr lang="en-US" sz="1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1B2A3A"/>
        </a:solidFill>
      </p:bgPr>
    </p:bg>
    <p:spTree>
      <p:nvGrpSpPr>
        <p:cNvPr id="1" name=""/>
        <p:cNvGrpSpPr/>
        <p:nvPr/>
      </p:nvGrpSpPr>
      <p:grpSpPr>
        <a:xfrm>
          <a:off x="0" y="0"/>
          <a:ext cx="0" cy="0"/>
          <a:chOff x="0" y="0"/>
          <a:chExt cx="0" cy="0"/>
        </a:xfrm>
      </p:grpSpPr>
      <p:sp>
        <p:nvSpPr>
          <p:cNvPr id="2" name="Text 0"/>
          <p:cNvSpPr/>
          <p:nvPr/>
        </p:nvSpPr>
        <p:spPr>
          <a:xfrm>
            <a:off x="812782" y="812775"/>
            <a:ext cx="10883429"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8FB4E6"/>
                </a:solidFill>
                <a:latin typeface="IBM Plex Sans" pitchFamily="34" charset="0"/>
                <a:ea typeface="IBM Plex Sans" pitchFamily="34" charset="-122"/>
                <a:cs typeface="IBM Plex Sans" pitchFamily="34" charset="-120"/>
              </a:rPr>
              <a:t>THE WHOLE METHOD</a:t>
            </a:r>
            <a:endParaRPr lang="en-US" sz="1200" dirty="0"/>
          </a:p>
        </p:txBody>
      </p:sp>
      <p:sp>
        <p:nvSpPr>
          <p:cNvPr id="3" name="Text 1"/>
          <p:cNvSpPr/>
          <p:nvPr>
            <p:ph type="title"/>
          </p:nvPr>
        </p:nvSpPr>
        <p:spPr>
          <a:xfrm>
            <a:off x="812782" y="1127658"/>
            <a:ext cx="10883429" cy="472426"/>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F7F5F0"/>
                </a:solidFill>
                <a:latin typeface="Source Serif 4" pitchFamily="18" charset="0"/>
                <a:ea typeface="Source Serif 4" pitchFamily="18" charset="-122"/>
                <a:cs typeface="Source Serif 4" pitchFamily="18" charset="-120"/>
              </a:rPr>
              <a:t>Six ideas, each answering one of your questions</a:t>
            </a:r>
            <a:endParaRPr lang="en-US" sz="3200" dirty="0"/>
          </a:p>
        </p:txBody>
      </p:sp>
      <p:sp>
        <p:nvSpPr>
          <p:cNvPr id="4" name="Shape 2"/>
          <p:cNvSpPr/>
          <p:nvPr/>
        </p:nvSpPr>
        <p:spPr>
          <a:xfrm>
            <a:off x="812782" y="1879464"/>
            <a:ext cx="3403609" cy="1192474"/>
          </a:xfrm>
          <a:prstGeom prst="roundRect">
            <a:avLst>
              <a:gd name="adj" fmla="val 8520"/>
            </a:avLst>
          </a:prstGeom>
          <a:solidFill>
            <a:srgbClr val="24374B"/>
          </a:solidFill>
          <a:ln/>
        </p:spPr>
      </p:sp>
      <p:sp>
        <p:nvSpPr>
          <p:cNvPr id="5" name="Text 3"/>
          <p:cNvSpPr/>
          <p:nvPr/>
        </p:nvSpPr>
        <p:spPr>
          <a:xfrm>
            <a:off x="1015955" y="2082639"/>
            <a:ext cx="3087181" cy="269253"/>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7F5F0"/>
                </a:solidFill>
                <a:latin typeface="IBM Plex Sans" pitchFamily="34" charset="0"/>
                <a:ea typeface="IBM Plex Sans" pitchFamily="34" charset="-122"/>
                <a:cs typeface="IBM Plex Sans" pitchFamily="34" charset="-120"/>
              </a:rPr>
              <a:t>1 · One clock</a:t>
            </a:r>
            <a:endParaRPr lang="en-US" sz="1600" dirty="0"/>
          </a:p>
        </p:txBody>
      </p:sp>
      <p:sp>
        <p:nvSpPr>
          <p:cNvPr id="6" name="Text 4"/>
          <p:cNvSpPr/>
          <p:nvPr/>
        </p:nvSpPr>
        <p:spPr>
          <a:xfrm>
            <a:off x="1015955" y="2389994"/>
            <a:ext cx="3087181" cy="504176"/>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C9D3DC"/>
                </a:solidFill>
                <a:latin typeface="IBM Plex Sans" pitchFamily="34" charset="0"/>
                <a:ea typeface="IBM Plex Sans" pitchFamily="34" charset="-122"/>
                <a:cs typeface="IBM Plex Sans" pitchFamily="34" charset="-120"/>
              </a:rPr>
              <a:t>One warp per batch; maps go via the clock, so every path agrees.</a:t>
            </a:r>
            <a:endParaRPr lang="en-US" sz="1300" dirty="0"/>
          </a:p>
        </p:txBody>
      </p:sp>
      <p:sp>
        <p:nvSpPr>
          <p:cNvPr id="7" name="Shape 5"/>
          <p:cNvSpPr/>
          <p:nvPr/>
        </p:nvSpPr>
        <p:spPr>
          <a:xfrm>
            <a:off x="4394173" y="1879464"/>
            <a:ext cx="3403609" cy="1192474"/>
          </a:xfrm>
          <a:prstGeom prst="roundRect">
            <a:avLst>
              <a:gd name="adj" fmla="val 8520"/>
            </a:avLst>
          </a:prstGeom>
          <a:solidFill>
            <a:srgbClr val="24374B"/>
          </a:solidFill>
          <a:ln/>
        </p:spPr>
      </p:sp>
      <p:sp>
        <p:nvSpPr>
          <p:cNvPr id="8" name="Text 6"/>
          <p:cNvSpPr/>
          <p:nvPr/>
        </p:nvSpPr>
        <p:spPr>
          <a:xfrm>
            <a:off x="4597346" y="2082639"/>
            <a:ext cx="3087181" cy="269253"/>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7F5F0"/>
                </a:solidFill>
                <a:latin typeface="IBM Plex Sans" pitchFamily="34" charset="0"/>
                <a:ea typeface="IBM Plex Sans" pitchFamily="34" charset="-122"/>
                <a:cs typeface="IBM Plex Sans" pitchFamily="34" charset="-120"/>
              </a:rPr>
              <a:t>2 · Linear misses</a:t>
            </a:r>
            <a:endParaRPr lang="en-US" sz="1600" dirty="0"/>
          </a:p>
        </p:txBody>
      </p:sp>
      <p:sp>
        <p:nvSpPr>
          <p:cNvPr id="9" name="Text 7"/>
          <p:cNvSpPr/>
          <p:nvPr/>
        </p:nvSpPr>
        <p:spPr>
          <a:xfrm>
            <a:off x="4597346" y="2389994"/>
            <a:ext cx="3087181" cy="504176"/>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C9D3DC"/>
                </a:solidFill>
                <a:latin typeface="IBM Plex Sans" pitchFamily="34" charset="0"/>
                <a:ea typeface="IBM Plex Sans" pitchFamily="34" charset="-122"/>
                <a:cs typeface="IBM Plex Sans" pitchFamily="34" charset="-120"/>
              </a:rPr>
              <a:t>Warp forward, hat basis, increments: each anchor is one row of A.</a:t>
            </a:r>
            <a:endParaRPr lang="en-US" sz="1300" dirty="0"/>
          </a:p>
        </p:txBody>
      </p:sp>
      <p:sp>
        <p:nvSpPr>
          <p:cNvPr id="10" name="Shape 8"/>
          <p:cNvSpPr/>
          <p:nvPr/>
        </p:nvSpPr>
        <p:spPr>
          <a:xfrm>
            <a:off x="7975564" y="1879464"/>
            <a:ext cx="3403654" cy="1192474"/>
          </a:xfrm>
          <a:prstGeom prst="roundRect">
            <a:avLst>
              <a:gd name="adj" fmla="val 8520"/>
            </a:avLst>
          </a:prstGeom>
          <a:solidFill>
            <a:srgbClr val="24374B"/>
          </a:solidFill>
          <a:ln/>
        </p:spPr>
      </p:sp>
      <p:sp>
        <p:nvSpPr>
          <p:cNvPr id="11" name="Text 9"/>
          <p:cNvSpPr/>
          <p:nvPr/>
        </p:nvSpPr>
        <p:spPr>
          <a:xfrm>
            <a:off x="8178736" y="2082639"/>
            <a:ext cx="3087227" cy="269253"/>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7F5F0"/>
                </a:solidFill>
                <a:latin typeface="IBM Plex Sans" pitchFamily="34" charset="0"/>
                <a:ea typeface="IBM Plex Sans" pitchFamily="34" charset="-122"/>
                <a:cs typeface="IBM Plex Sans" pitchFamily="34" charset="-120"/>
              </a:rPr>
              <a:t>3 · A box</a:t>
            </a:r>
            <a:endParaRPr lang="en-US" sz="1600" dirty="0"/>
          </a:p>
        </p:txBody>
      </p:sp>
      <p:sp>
        <p:nvSpPr>
          <p:cNvPr id="12" name="Text 10"/>
          <p:cNvSpPr/>
          <p:nvPr/>
        </p:nvSpPr>
        <p:spPr>
          <a:xfrm>
            <a:off x="8178736" y="2389994"/>
            <a:ext cx="3087227" cy="504176"/>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C9D3DC"/>
                </a:solidFill>
                <a:latin typeface="IBM Plex Sans" pitchFamily="34" charset="0"/>
                <a:ea typeface="IBM Plex Sans" pitchFamily="34" charset="-122"/>
                <a:cs typeface="IBM Plex Sans" pitchFamily="34" charset="-120"/>
              </a:rPr>
              <a:t>Slope in [0.5, 2] becomes bounds on each δ: bounded least squares.</a:t>
            </a:r>
            <a:endParaRPr lang="en-US" sz="1300" dirty="0"/>
          </a:p>
        </p:txBody>
      </p:sp>
      <p:sp>
        <p:nvSpPr>
          <p:cNvPr id="13" name="Shape 11"/>
          <p:cNvSpPr/>
          <p:nvPr/>
        </p:nvSpPr>
        <p:spPr>
          <a:xfrm>
            <a:off x="812782" y="3249724"/>
            <a:ext cx="3403609" cy="1192474"/>
          </a:xfrm>
          <a:prstGeom prst="roundRect">
            <a:avLst>
              <a:gd name="adj" fmla="val 8520"/>
            </a:avLst>
          </a:prstGeom>
          <a:solidFill>
            <a:srgbClr val="24374B"/>
          </a:solidFill>
          <a:ln/>
        </p:spPr>
      </p:sp>
      <p:sp>
        <p:nvSpPr>
          <p:cNvPr id="14" name="Text 12"/>
          <p:cNvSpPr/>
          <p:nvPr/>
        </p:nvSpPr>
        <p:spPr>
          <a:xfrm>
            <a:off x="1015955" y="3452899"/>
            <a:ext cx="3087181" cy="269253"/>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7F5F0"/>
                </a:solidFill>
                <a:latin typeface="IBM Plex Sans" pitchFamily="34" charset="0"/>
                <a:ea typeface="IBM Plex Sans" pitchFamily="34" charset="-122"/>
                <a:cs typeface="IBM Plex Sans" pitchFamily="34" charset="-120"/>
              </a:rPr>
              <a:t>4 · A gauge</a:t>
            </a:r>
            <a:endParaRPr lang="en-US" sz="1600" dirty="0"/>
          </a:p>
        </p:txBody>
      </p:sp>
      <p:sp>
        <p:nvSpPr>
          <p:cNvPr id="15" name="Text 13"/>
          <p:cNvSpPr/>
          <p:nvPr/>
        </p:nvSpPr>
        <p:spPr>
          <a:xfrm>
            <a:off x="1015955" y="3760254"/>
            <a:ext cx="3087181" cy="504176"/>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C9D3DC"/>
                </a:solidFill>
                <a:latin typeface="IBM Plex Sans" pitchFamily="34" charset="0"/>
                <a:ea typeface="IBM Plex Sans" pitchFamily="34" charset="-122"/>
                <a:cs typeface="IBM Plex Sans" pitchFamily="34" charset="-120"/>
              </a:rPr>
              <a:t>Pins the clock so each solve has one answer; its choice is open.</a:t>
            </a:r>
            <a:endParaRPr lang="en-US" sz="1300" dirty="0"/>
          </a:p>
        </p:txBody>
      </p:sp>
      <p:sp>
        <p:nvSpPr>
          <p:cNvPr id="16" name="Shape 14"/>
          <p:cNvSpPr/>
          <p:nvPr/>
        </p:nvSpPr>
        <p:spPr>
          <a:xfrm>
            <a:off x="4394173" y="3249724"/>
            <a:ext cx="3403609" cy="1192474"/>
          </a:xfrm>
          <a:prstGeom prst="roundRect">
            <a:avLst>
              <a:gd name="adj" fmla="val 8520"/>
            </a:avLst>
          </a:prstGeom>
          <a:solidFill>
            <a:srgbClr val="24374B"/>
          </a:solidFill>
          <a:ln/>
        </p:spPr>
      </p:sp>
      <p:sp>
        <p:nvSpPr>
          <p:cNvPr id="17" name="Text 15"/>
          <p:cNvSpPr/>
          <p:nvPr/>
        </p:nvSpPr>
        <p:spPr>
          <a:xfrm>
            <a:off x="4597346" y="3452899"/>
            <a:ext cx="3087181" cy="269253"/>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7F5F0"/>
                </a:solidFill>
                <a:latin typeface="IBM Plex Sans" pitchFamily="34" charset="0"/>
                <a:ea typeface="IBM Plex Sans" pitchFamily="34" charset="-122"/>
                <a:cs typeface="IBM Plex Sans" pitchFamily="34" charset="-120"/>
              </a:rPr>
              <a:t>5 · Robust, then tuned</a:t>
            </a:r>
            <a:endParaRPr lang="en-US" sz="1600" dirty="0"/>
          </a:p>
        </p:txBody>
      </p:sp>
      <p:sp>
        <p:nvSpPr>
          <p:cNvPr id="18" name="Text 16"/>
          <p:cNvSpPr/>
          <p:nvPr/>
        </p:nvSpPr>
        <p:spPr>
          <a:xfrm>
            <a:off x="4597346" y="3760254"/>
            <a:ext cx="3087181" cy="504176"/>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C9D3DC"/>
                </a:solidFill>
                <a:latin typeface="IBM Plex Sans" pitchFamily="34" charset="0"/>
                <a:ea typeface="IBM Plex Sans" pitchFamily="34" charset="-122"/>
                <a:cs typeface="IBM Plex Sans" pitchFamily="34" charset="-120"/>
              </a:rPr>
              <a:t>Huber then Tukey weights; λ = 10 from time-blocked folds.</a:t>
            </a:r>
            <a:endParaRPr lang="en-US" sz="1300" dirty="0"/>
          </a:p>
        </p:txBody>
      </p:sp>
      <p:sp>
        <p:nvSpPr>
          <p:cNvPr id="19" name="Shape 17"/>
          <p:cNvSpPr/>
          <p:nvPr/>
        </p:nvSpPr>
        <p:spPr>
          <a:xfrm>
            <a:off x="7975564" y="3249724"/>
            <a:ext cx="3403654" cy="1192474"/>
          </a:xfrm>
          <a:prstGeom prst="roundRect">
            <a:avLst>
              <a:gd name="adj" fmla="val 8520"/>
            </a:avLst>
          </a:prstGeom>
          <a:solidFill>
            <a:srgbClr val="24374B"/>
          </a:solidFill>
          <a:ln/>
        </p:spPr>
      </p:sp>
      <p:sp>
        <p:nvSpPr>
          <p:cNvPr id="20" name="Text 18"/>
          <p:cNvSpPr/>
          <p:nvPr/>
        </p:nvSpPr>
        <p:spPr>
          <a:xfrm>
            <a:off x="8178736" y="3452899"/>
            <a:ext cx="3087227" cy="269253"/>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7F5F0"/>
                </a:solidFill>
                <a:latin typeface="IBM Plex Sans" pitchFamily="34" charset="0"/>
                <a:ea typeface="IBM Plex Sans" pitchFamily="34" charset="-122"/>
                <a:cs typeface="IBM Plex Sans" pitchFamily="34" charset="-120"/>
              </a:rPr>
              <a:t>6 · Honest uncertainty</a:t>
            </a:r>
            <a:endParaRPr lang="en-US" sz="1600" dirty="0"/>
          </a:p>
        </p:txBody>
      </p:sp>
      <p:sp>
        <p:nvSpPr>
          <p:cNvPr id="21" name="Text 19"/>
          <p:cNvSpPr/>
          <p:nvPr/>
        </p:nvSpPr>
        <p:spPr>
          <a:xfrm>
            <a:off x="8178736" y="3760254"/>
            <a:ext cx="3087227" cy="504176"/>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C9D3DC"/>
                </a:solidFill>
                <a:latin typeface="IBM Plex Sans" pitchFamily="34" charset="0"/>
                <a:ea typeface="IBM Plex Sans" pitchFamily="34" charset="-122"/>
                <a:cs typeface="IBM Plex Sans" pitchFamily="34" charset="-120"/>
              </a:rPr>
              <a:t>Bootstrap bands and intervals: 81% for 90%, so calibrate first.</a:t>
            </a:r>
            <a:endParaRPr lang="en-US" sz="1300" dirty="0"/>
          </a:p>
        </p:txBody>
      </p:sp>
      <p:sp>
        <p:nvSpPr>
          <p:cNvPr id="22" name="Text 20"/>
          <p:cNvSpPr/>
          <p:nvPr/>
        </p:nvSpPr>
        <p:spPr>
          <a:xfrm>
            <a:off x="812782" y="6238280"/>
            <a:ext cx="1088338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AA8B5"/>
                </a:solidFill>
                <a:latin typeface="IBM Plex Sans" pitchFamily="34" charset="0"/>
                <a:ea typeface="IBM Plex Sans" pitchFamily="34" charset="-122"/>
                <a:cs typeface="IBM Plex Sans" pitchFamily="34" charset="-120"/>
              </a:rPr>
              <a:t>Borrowing strength comes free from idea 1: a thin pair is held by every path through the other batches.</a:t>
            </a:r>
            <a:endParaRPr lang="en-US" sz="1200" dirty="0"/>
          </a:p>
        </p:txBody>
      </p:sp>
    </p:spTree>
  </p:cSld>
  <p:clrMapOvr>
    <a:masterClrMapping/>
  </p:clrMapOvr>
</p:sld>
</file>

<file path=ppt/theme/theme1.xml><?xml version="1.0" encoding="utf-8"?>
<a:theme xmlns:a="http://schemas.openxmlformats.org/drawingml/2006/main" name="Joint Alignment, Question by Question">
  <a:themeElements>
    <a:clrScheme name="Joint Alignment, Question by Question">
      <a:dk1>
        <a:srgbClr val="1B2A3A"/>
      </a:dk1>
      <a:lt1>
        <a:srgbClr val="F7F5F0"/>
      </a:lt1>
      <a:dk2>
        <a:srgbClr val="525D68"/>
      </a:dk2>
      <a:lt2>
        <a:srgbClr val="E1E1DE"/>
      </a:lt2>
      <a:accent1>
        <a:srgbClr val="2F6FBF"/>
      </a:accent1>
      <a:accent2>
        <a:srgbClr val="8FB4E6"/>
      </a:accent2>
      <a:accent3>
        <a:srgbClr val="F0B184"/>
      </a:accent3>
      <a:accent4>
        <a:srgbClr val="C8641E"/>
      </a:accent4>
      <a:accent5>
        <a:srgbClr val="A9520F"/>
      </a:accent5>
      <a:accent6>
        <a:srgbClr val="3E4A56"/>
      </a:accent6>
      <a:hlink>
        <a:srgbClr val="0563C1"/>
      </a:hlink>
      <a:folHlink>
        <a:srgbClr val="954F72"/>
      </a:folHlink>
    </a:clrScheme>
    <a:fontScheme name="Joint Alignment, Question by Question">
      <a:majorFont>
        <a:latin typeface="IBM Plex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25</Slides>
  <Notes>25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25</vt:i4>
      </vt:variant>
    </vt:vector>
  </HeadingPairs>
  <TitlesOfParts>
    <vt:vector size="2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Joint Alignment, Question by Question</dc:title>
  <dc:subject/>
  <dc:creator/>
  <cp:lastModifiedBy/>
  <cp:revision>1</cp:revision>
  <dcterms:created xsi:type="dcterms:W3CDTF">2026-10-16T03:50:47Z</dcterms:created>
  <dcterms:modified xsi:type="dcterms:W3CDTF">2026-10-16T03:50:47Z</dcterms:modified>
</cp:coreProperties>
</file>