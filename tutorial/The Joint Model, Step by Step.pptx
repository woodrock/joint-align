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follow the tutorial notebook section by section. The notebook calls the method MBA; the paper now calls it the joint model, so the slides do too. Each slide's footer names the notebook section it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 is a table of retention-time bins by m/z channels. Between batches the column ages and conditions change, so compounds elute at different times. The shift is not constant: it can grow or shrink along the run, which is why we need a whole function, not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method in one picture. K batches need only K warps, not one per pair. The rest of the deck is about how to describe a warp with a few numbers, and how to choose those numbers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joint model is built from this one operation. A row of weights times a vector of unknowns gives one number; many rows give many numbers at once. Keep this example in mind: the next slides reuse the same vector (0, 2, 1,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Monotone just means never going down. If compound X elutes before Y in a batch, it must still come first on the shared clock. The 0.5 to 2 range is the paper's Eq.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knot's weight is 1 minus its distance from t divided by the knot spacing (10 here): at t = 22, knot 2 is 2 away, so 1 − 0.2 = 0.8, and knot 3 is 8 away, so 1 − 0.8 = 0.2. B(t) has at most two non-zero entries, and they always add to 1: the two knots either side of t share the weight, the nearer one getting more. d(22) = 0.8 times 1 plus 0.2 times 3 = 1.4. Stacking B(t) for many times gives a matrix, so evaluating the drift anywhere is one matrix-vector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bound: δ = −5 gives slope 1 − 5/10 = 0.5, and δ = 10 gives 1 + 10/10 = 2. Written on the knot values instead, the same rule would tie each value to its neighbour, which is harder to solve. Same drift, better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miss is a residual: what the model predicts minus what we saw. Least squares picks the unknowns with the smallest sum of squared residuals. XᵀX is a small square matrix (2 by 2 here); solving it gives the answer in one step. With a fourth point (3, 7) the slope rises to 1.9, as the notebook's exercise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 + c must equal 3, then (1, 2), (3, 0) and (−5, 8) all fit the data equally well. Least squares has no reason to prefer one. Fixing that needs extra information that is not in the data, which we add as a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 tile numbers come from? B(50) = (0.5, 0.5, 0), then multiplying by L adds from the right: (1, 0.5, 0). B(150) = (0, 0.5, 0.5) becomes (1, 1, 0.5), with a minus sign because batch 1 is on the other side of the equals sign. Row times θ gives d0(50) − d1(150); subtract the target and you get the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gauge is added as a very strong penalty rather than an exact rule, so the reference drift is pinned only approximately. Why do the two gauges differ at all? Each drift is smoothed in its own batch's time. Moving the shared clock by anything other than a pure shift changes which warps count as smooth, so the two settle on slightly different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extra rows work: a row √λ times D with target 0 has miss √λ times D theta, and squaring it gives λ times (D theta) squared, exactly the penalty. The penalty also settles knots that no anchor touches, such as the very start and end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BVLS stands for bounded-variable least squares. The real fit_joint first forms the normal matrix and its Cholesky factor, then calls the same bounded solver. Both routes minimise the same quantity, and the notebook checks they agree to about 10 to the minus 13 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iteratively reweighted least squares, or IRLS. Huber goes first because it gives a stable starting fit; Tukey then removes what is clearly wrong. Note that Tukey also trims good misses of 3 and 4 a little: only misses near zero keep a weight near 1. In the real code, 7 reweighting rounds are followed by one final solve. On the fish data 3.9 percent of anchors end with weight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inverse of a function undoes it: if f adds 2, its inverse subtracts 2. A monotone warp always has an inverse, which is one more reason the bounds matter. Near the ends of the run the computed inverse holds the end value, so maps clamp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trade-off the paper reports on the fish data: the joint model gains most on pairs with few samples, such as those involving the two-sample aug2015 batch, while dense interpolation wins two pairs with thousands of direct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this point the notebook uses perfect anchors from the true compound positions, so the maths can be checked against the truth. Real anchors are noisier: a neighbouring compound shifts a peak top slightly, and the fingerprint averages three bins. A few are outright mismatches, which is what robust reweighting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 is the block covering bins 12b to 12b plus 11, so t = 30 sits in block 2 and t = 70 in block 5; 5 mod 5 is 0. Hiding whole windows measures how well the fit interpolates across gaps between compounds, which is exactly where a too-wiggly drift goes wrong. The notebook shows sample folds barely penalise the smallest λ, while blocked folds penalise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Weighting anchors by sample counts is the same as copying samples, but cheaper: no anchors need re-harvesting. 1.645 is the point that leaves 5 percent in each tail of a normal distribution, which is what makes a 90 percent interval. The notebook's exercise refits with less smoothing so you can test the bias explanation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formula left to right: fit the anchors, weighting out the bad ones; prefer straight drifts; fix where the shared clock sits; never let a clock run backwards. Everything else in the notebook is how to build each piece and how to check it. The CODE_MAP file links each symbol here to its line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3E4A5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3E4A5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782" y="1894943"/>
            <a:ext cx="10883429" cy="274259"/>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FB4E6"/>
                </a:solidFill>
                <a:latin typeface="IBM Plex Sans" pitchFamily="34" charset="0"/>
                <a:ea typeface="IBM Plex Sans" pitchFamily="34" charset="-122"/>
                <a:cs typeface="IBM Plex Sans" pitchFamily="34" charset="-120"/>
              </a:rPr>
              <a:t>COMPANION SLIDES · TUTORIAL/MBA_FROM_SCRATCH.IPYNB</a:t>
            </a:r>
            <a:endParaRPr lang="en-US" sz="1400" dirty="0"/>
          </a:p>
        </p:txBody>
      </p:sp>
      <p:sp>
        <p:nvSpPr>
          <p:cNvPr id="3" name="Text 1"/>
          <p:cNvSpPr/>
          <p:nvPr>
            <p:ph type="title"/>
          </p:nvPr>
        </p:nvSpPr>
        <p:spPr>
          <a:xfrm>
            <a:off x="812782" y="2397801"/>
            <a:ext cx="10883429"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The joint model,</a:t>
            </a:r>
            <a:endParaRPr lang="en-US" sz="6000" dirty="0"/>
          </a:p>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step by step</a:t>
            </a:r>
            <a:endParaRPr lang="en-US" sz="6000" dirty="0"/>
          </a:p>
        </p:txBody>
      </p:sp>
      <p:sp>
        <p:nvSpPr>
          <p:cNvPr id="4" name="Text 2"/>
          <p:cNvSpPr/>
          <p:nvPr/>
        </p:nvSpPr>
        <p:spPr>
          <a:xfrm>
            <a:off x="812782" y="4251929"/>
            <a:ext cx="8502650" cy="736528"/>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DC"/>
                </a:solidFill>
                <a:latin typeface="IBM Plex Sans" pitchFamily="34" charset="0"/>
                <a:ea typeface="IBM Plex Sans" pitchFamily="34" charset="-122"/>
                <a:cs typeface="IBM Plex Sans" pitchFamily="34" charset="-120"/>
              </a:rPr>
              <a:t>How we line up retention times across many GC–MS batches, explained from the linear algebra up, with a refresher wherever one helps.</a:t>
            </a:r>
            <a:endParaRPr lang="en-US" sz="2000" dirty="0"/>
          </a:p>
        </p:txBody>
      </p:sp>
      <p:sp>
        <p:nvSpPr>
          <p:cNvPr id="5" name="Text 3"/>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Every example uses the same small numbers as the notebook, so you can check each one by hand.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 · THE PROBLEM</a:t>
            </a:r>
            <a:endParaRPr lang="en-US" sz="1200" dirty="0"/>
          </a:p>
        </p:txBody>
      </p:sp>
      <p:sp>
        <p:nvSpPr>
          <p:cNvPr id="3" name="Text 1"/>
          <p:cNvSpPr/>
          <p:nvPr>
            <p:ph type="title"/>
          </p:nvPr>
        </p:nvSpPr>
        <p:spPr>
          <a:xfrm>
            <a:off x="812782" y="1127666"/>
            <a:ext cx="10883429"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The same compound comes out at a different time in each batch</a:t>
            </a:r>
            <a:endParaRPr lang="en-US" sz="3200" dirty="0"/>
          </a:p>
        </p:txBody>
      </p:sp>
      <p:sp>
        <p:nvSpPr>
          <p:cNvPr id="4" name="Text 2"/>
          <p:cNvSpPr/>
          <p:nvPr/>
        </p:nvSpPr>
        <p:spPr>
          <a:xfrm>
            <a:off x="812782" y="2539819"/>
            <a:ext cx="14478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Batch A</a:t>
            </a:r>
            <a:endParaRPr lang="en-US" sz="1600" dirty="0"/>
          </a:p>
        </p:txBody>
      </p:sp>
      <p:sp>
        <p:nvSpPr>
          <p:cNvPr id="5" name="Shape 3"/>
          <p:cNvSpPr/>
          <p:nvPr/>
        </p:nvSpPr>
        <p:spPr>
          <a:xfrm>
            <a:off x="2412955" y="2377281"/>
            <a:ext cx="7874000" cy="609564"/>
          </a:xfrm>
          <a:prstGeom prst="roundRect">
            <a:avLst>
              <a:gd name="adj" fmla="val 12501"/>
            </a:avLst>
          </a:prstGeom>
          <a:solidFill>
            <a:srgbClr val="ECF0F3"/>
          </a:solidFill>
          <a:ln/>
        </p:spPr>
      </p:sp>
      <p:sp>
        <p:nvSpPr>
          <p:cNvPr id="6" name="Shape 4"/>
          <p:cNvSpPr/>
          <p:nvPr/>
        </p:nvSpPr>
        <p:spPr>
          <a:xfrm>
            <a:off x="4825955" y="2478845"/>
            <a:ext cx="254000" cy="406391"/>
          </a:xfrm>
          <a:custGeom>
            <a:avLst/>
            <a:gdLst/>
            <a:ahLst/>
            <a:cxnLst/>
            <a:rect l="l" t="t" r="r" b="b"/>
            <a:pathLst>
              <a:path w="254000" h="406391">
                <a:moveTo>
                  <a:pt x="127000" y="0"/>
                </a:moveTo>
                <a:lnTo>
                  <a:pt x="127000" y="0"/>
                </a:lnTo>
                <a:arcTo hR="127000" wR="127000" stAng="16200000" swAng="5400000"/>
                <a:lnTo>
                  <a:pt x="254000" y="380991"/>
                </a:lnTo>
                <a:arcTo hR="25400" wR="25400" stAng="0" swAng="5400000"/>
                <a:lnTo>
                  <a:pt x="25400" y="406391"/>
                </a:lnTo>
                <a:arcTo hR="25400" wR="25400" stAng="5400000" swAng="5400000"/>
                <a:lnTo>
                  <a:pt x="0" y="127000"/>
                </a:lnTo>
                <a:arcTo hR="127000" wR="127000" stAng="10800000" swAng="5400000"/>
                <a:close/>
              </a:path>
            </a:pathLst>
          </a:custGeom>
          <a:solidFill>
            <a:srgbClr val="2F6FBF"/>
          </a:solidFill>
          <a:ln/>
        </p:spPr>
      </p:sp>
      <p:sp>
        <p:nvSpPr>
          <p:cNvPr id="7" name="Text 5"/>
          <p:cNvSpPr/>
          <p:nvPr/>
        </p:nvSpPr>
        <p:spPr>
          <a:xfrm>
            <a:off x="5206955" y="2542345"/>
            <a:ext cx="2354580"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IBM Plex Sans" pitchFamily="34" charset="0"/>
                <a:ea typeface="IBM Plex Sans" pitchFamily="34" charset="-122"/>
                <a:cs typeface="IBM Plex Sans" pitchFamily="34" charset="-120"/>
              </a:rPr>
              <a:t>compound X at bin 50</a:t>
            </a:r>
            <a:endParaRPr lang="en-US" sz="1600" dirty="0"/>
          </a:p>
        </p:txBody>
      </p:sp>
      <p:sp>
        <p:nvSpPr>
          <p:cNvPr id="8" name="Text 6"/>
          <p:cNvSpPr/>
          <p:nvPr/>
        </p:nvSpPr>
        <p:spPr>
          <a:xfrm>
            <a:off x="812782" y="3301774"/>
            <a:ext cx="1447800"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Batch B</a:t>
            </a:r>
            <a:endParaRPr lang="en-US" sz="1600" dirty="0"/>
          </a:p>
        </p:txBody>
      </p:sp>
      <p:sp>
        <p:nvSpPr>
          <p:cNvPr id="9" name="Shape 7"/>
          <p:cNvSpPr/>
          <p:nvPr/>
        </p:nvSpPr>
        <p:spPr>
          <a:xfrm>
            <a:off x="2412955" y="3139236"/>
            <a:ext cx="7874000" cy="609564"/>
          </a:xfrm>
          <a:prstGeom prst="roundRect">
            <a:avLst>
              <a:gd name="adj" fmla="val 12501"/>
            </a:avLst>
          </a:prstGeom>
          <a:solidFill>
            <a:srgbClr val="ECF0F3"/>
          </a:solidFill>
          <a:ln/>
        </p:spPr>
      </p:sp>
      <p:sp>
        <p:nvSpPr>
          <p:cNvPr id="10" name="Shape 8"/>
          <p:cNvSpPr/>
          <p:nvPr/>
        </p:nvSpPr>
        <p:spPr>
          <a:xfrm>
            <a:off x="6349955" y="3240800"/>
            <a:ext cx="254000" cy="406391"/>
          </a:xfrm>
          <a:custGeom>
            <a:avLst/>
            <a:gdLst/>
            <a:ahLst/>
            <a:cxnLst/>
            <a:rect l="l" t="t" r="r" b="b"/>
            <a:pathLst>
              <a:path w="254000" h="406391">
                <a:moveTo>
                  <a:pt x="127000" y="0"/>
                </a:moveTo>
                <a:lnTo>
                  <a:pt x="127000" y="0"/>
                </a:lnTo>
                <a:arcTo hR="127000" wR="127000" stAng="16200000" swAng="5400000"/>
                <a:lnTo>
                  <a:pt x="254000" y="380991"/>
                </a:lnTo>
                <a:arcTo hR="25400" wR="25400" stAng="0" swAng="5400000"/>
                <a:lnTo>
                  <a:pt x="25400" y="406391"/>
                </a:lnTo>
                <a:arcTo hR="25400" wR="25400" stAng="5400000" swAng="5400000"/>
                <a:lnTo>
                  <a:pt x="0" y="127000"/>
                </a:lnTo>
                <a:arcTo hR="127000" wR="127000" stAng="10800000" swAng="5400000"/>
                <a:close/>
              </a:path>
            </a:pathLst>
          </a:custGeom>
          <a:solidFill>
            <a:srgbClr val="C8641E"/>
          </a:solidFill>
          <a:ln/>
        </p:spPr>
      </p:sp>
      <p:sp>
        <p:nvSpPr>
          <p:cNvPr id="11" name="Text 9"/>
          <p:cNvSpPr/>
          <p:nvPr/>
        </p:nvSpPr>
        <p:spPr>
          <a:xfrm>
            <a:off x="6730955" y="3304300"/>
            <a:ext cx="3531870"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IBM Plex Sans" pitchFamily="34" charset="0"/>
                <a:ea typeface="IBM Plex Sans" pitchFamily="34" charset="-122"/>
                <a:cs typeface="IBM Plex Sans" pitchFamily="34" charset="-120"/>
              </a:rPr>
              <a:t>the same compound at bin 56</a:t>
            </a:r>
            <a:endParaRPr lang="en-US" sz="1600" dirty="0"/>
          </a:p>
        </p:txBody>
      </p:sp>
      <p:sp>
        <p:nvSpPr>
          <p:cNvPr id="12" name="Text 10"/>
          <p:cNvSpPr/>
          <p:nvPr/>
        </p:nvSpPr>
        <p:spPr>
          <a:xfrm>
            <a:off x="812782" y="4104363"/>
            <a:ext cx="5284752" cy="90930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Compare bin 50 with bin 50 and you compare the compound in A with </a:t>
            </a:r>
            <a:r>
              <a:rPr lang="en-US" sz="1600" b="1" dirty="0">
                <a:solidFill>
                  <a:srgbClr val="3E4A56"/>
                </a:solidFill>
                <a:latin typeface="IBM Plex Sans" pitchFamily="34" charset="0"/>
                <a:ea typeface="IBM Plex Sans" pitchFamily="34" charset="-122"/>
                <a:cs typeface="IBM Plex Sans" pitchFamily="34" charset="-120"/>
              </a:rPr>
              <a:t>background</a:t>
            </a:r>
            <a:r>
              <a:rPr lang="en-US" sz="1600" dirty="0">
                <a:solidFill>
                  <a:srgbClr val="3E4A56"/>
                </a:solidFill>
                <a:latin typeface="IBM Plex Sans" pitchFamily="34" charset="0"/>
                <a:ea typeface="IBM Plex Sans" pitchFamily="34" charset="-122"/>
                <a:cs typeface="IBM Plex Sans" pitchFamily="34" charset="-120"/>
              </a:rPr>
              <a:t> in B. Every later statistic is then wrong.</a:t>
            </a:r>
            <a:endParaRPr lang="en-US" sz="1600" dirty="0"/>
          </a:p>
        </p:txBody>
      </p:sp>
      <p:sp>
        <p:nvSpPr>
          <p:cNvPr id="13" name="Text 11"/>
          <p:cNvSpPr/>
          <p:nvPr/>
        </p:nvSpPr>
        <p:spPr>
          <a:xfrm>
            <a:off x="6248391" y="4104363"/>
            <a:ext cx="5284752" cy="90930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We need a function that says </a:t>
            </a:r>
            <a:r>
              <a:rPr lang="en-US" sz="1600" b="1" dirty="0">
                <a:solidFill>
                  <a:srgbClr val="3E4A56"/>
                </a:solidFill>
                <a:latin typeface="IBM Plex Sans" pitchFamily="34" charset="0"/>
                <a:ea typeface="IBM Plex Sans" pitchFamily="34" charset="-122"/>
                <a:cs typeface="IBM Plex Sans" pitchFamily="34" charset="-120"/>
              </a:rPr>
              <a:t>“bin 56 in B is bin 50 in A”</a:t>
            </a:r>
            <a:r>
              <a:rPr lang="en-US" sz="1600" dirty="0">
                <a:solidFill>
                  <a:srgbClr val="3E4A56"/>
                </a:solidFill>
                <a:latin typeface="IBM Plex Sans" pitchFamily="34" charset="0"/>
                <a:ea typeface="IBM Plex Sans" pitchFamily="34" charset="-122"/>
                <a:cs typeface="IBM Plex Sans" pitchFamily="34" charset="-120"/>
              </a:rPr>
              <a:t>, at every time in the run. That function is a </a:t>
            </a:r>
            <a:r>
              <a:rPr lang="en-US" sz="1600" b="1" dirty="0">
                <a:solidFill>
                  <a:srgbClr val="3E4A56"/>
                </a:solidFill>
                <a:latin typeface="IBM Plex Sans" pitchFamily="34" charset="0"/>
                <a:ea typeface="IBM Plex Sans" pitchFamily="34" charset="-122"/>
                <a:cs typeface="IBM Plex Sans" pitchFamily="34" charset="-120"/>
              </a:rPr>
              <a:t>warp</a:t>
            </a:r>
            <a:r>
              <a:rPr lang="en-US" sz="1600" dirty="0">
                <a:solidFill>
                  <a:srgbClr val="3E4A56"/>
                </a:solidFill>
                <a:latin typeface="IBM Plex Sans" pitchFamily="34" charset="0"/>
                <a:ea typeface="IBM Plex Sans" pitchFamily="34" charset="-122"/>
                <a:cs typeface="IBM Plex Sans" pitchFamily="34" charset="-120"/>
              </a:rPr>
              <a:t>.</a:t>
            </a:r>
            <a:endParaRPr lang="en-US" sz="1600" dirty="0"/>
          </a:p>
        </p:txBody>
      </p:sp>
      <p:sp>
        <p:nvSpPr>
          <p:cNvPr id="14" name="Text 12"/>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 · One bin is 0.225 min, so this 6-bin shift is 1.35 min. The shift changes along the run: that is drift.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THE BIG IDEA</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Give every batch one warp into a shared clock</a:t>
            </a:r>
            <a:endParaRPr lang="en-US" sz="3200" dirty="0"/>
          </a:p>
        </p:txBody>
      </p:sp>
      <p:sp>
        <p:nvSpPr>
          <p:cNvPr id="4" name="Shape 2"/>
          <p:cNvSpPr/>
          <p:nvPr/>
        </p:nvSpPr>
        <p:spPr>
          <a:xfrm>
            <a:off x="819132" y="2061034"/>
            <a:ext cx="2527300" cy="1071941"/>
          </a:xfrm>
          <a:prstGeom prst="roundRect">
            <a:avLst>
              <a:gd name="adj" fmla="val 8886"/>
            </a:avLst>
          </a:prstGeom>
          <a:solidFill>
            <a:srgbClr val="FDFCF9"/>
          </a:solidFill>
          <a:ln w="12700">
            <a:solidFill>
              <a:srgbClr val="2F6FBF"/>
            </a:solidFill>
            <a:prstDash val="solid"/>
          </a:ln>
        </p:spPr>
      </p:sp>
      <p:sp>
        <p:nvSpPr>
          <p:cNvPr id="5" name="Text 3"/>
          <p:cNvSpPr/>
          <p:nvPr/>
        </p:nvSpPr>
        <p:spPr>
          <a:xfrm>
            <a:off x="1052891" y="2294793"/>
            <a:ext cx="2121575"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Batch k’s clock</a:t>
            </a:r>
            <a:endParaRPr lang="en-US" sz="2000" dirty="0"/>
          </a:p>
        </p:txBody>
      </p:sp>
      <p:sp>
        <p:nvSpPr>
          <p:cNvPr id="6" name="Text 4"/>
          <p:cNvSpPr/>
          <p:nvPr/>
        </p:nvSpPr>
        <p:spPr>
          <a:xfrm>
            <a:off x="1052891" y="2650358"/>
            <a:ext cx="2121575"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a time </a:t>
            </a:r>
            <a:r>
              <a:rPr lang="en-US" sz="1400" i="1" dirty="0">
                <a:solidFill>
                  <a:srgbClr val="3E4A56"/>
                </a:solidFill>
                <a:latin typeface="IBM Plex Sans" pitchFamily="34" charset="0"/>
                <a:ea typeface="IBM Plex Sans" pitchFamily="34" charset="-122"/>
                <a:cs typeface="IBM Plex Sans" pitchFamily="34" charset="-120"/>
              </a:rPr>
              <a:t>t</a:t>
            </a:r>
            <a:r>
              <a:rPr lang="en-US" sz="1400" dirty="0">
                <a:solidFill>
                  <a:srgbClr val="3E4A56"/>
                </a:solidFill>
                <a:latin typeface="IBM Plex Sans" pitchFamily="34" charset="0"/>
                <a:ea typeface="IBM Plex Sans" pitchFamily="34" charset="-122"/>
                <a:cs typeface="IBM Plex Sans" pitchFamily="34" charset="-120"/>
              </a:rPr>
              <a:t> in batch k</a:t>
            </a:r>
            <a:endParaRPr lang="en-US" sz="1400" dirty="0"/>
          </a:p>
        </p:txBody>
      </p:sp>
      <p:sp>
        <p:nvSpPr>
          <p:cNvPr id="7" name="Text 5"/>
          <p:cNvSpPr/>
          <p:nvPr/>
        </p:nvSpPr>
        <p:spPr>
          <a:xfrm>
            <a:off x="3980467" y="2033172"/>
            <a:ext cx="217848" cy="380964"/>
          </a:xfrm>
          <a:prstGeom prst="rect">
            <a:avLst/>
          </a:prstGeom>
          <a:noFill/>
          <a:ln/>
        </p:spPr>
        <p:txBody>
          <a:bodyPr wrap="square" lIns="0" tIns="0" rIns="0" bIns="0" rtlCol="0" anchor="t">
            <a:normAutofit/>
          </a:bodyPr>
          <a:lstStyle/>
          <a:p>
            <a:pPr algn="ctr" indent="0" marL="0">
              <a:lnSpc>
                <a:spcPts val="2800"/>
              </a:lnSpc>
              <a:buNone/>
            </a:pPr>
            <a:r>
              <a:rPr lang="en-US" sz="2000" i="1" dirty="0">
                <a:solidFill>
                  <a:srgbClr val="1B2A3A"/>
                </a:solidFill>
                <a:latin typeface="Source Serif 4" pitchFamily="18" charset="0"/>
                <a:ea typeface="Source Serif 4" pitchFamily="18" charset="-122"/>
                <a:cs typeface="Source Serif 4" pitchFamily="18" charset="-120"/>
              </a:rPr>
              <a:t>f</a:t>
            </a:r>
            <a:r>
              <a:rPr lang="en-US" sz="2000" i="1" dirty="0">
                <a:solidFill>
                  <a:srgbClr val="1B2A3A"/>
                </a:solidFill>
                <a:latin typeface="Source Serif 4" pitchFamily="18" charset="0"/>
                <a:ea typeface="Source Serif 4" pitchFamily="18" charset="-122"/>
                <a:cs typeface="Source Serif 4" pitchFamily="18" charset="-120"/>
              </a:rPr>
              <a:t>ₖ</a:t>
            </a:r>
            <a:endParaRPr lang="en-US" sz="2000" dirty="0"/>
          </a:p>
        </p:txBody>
      </p:sp>
      <p:pic>
        <p:nvPicPr>
          <p:cNvPr id="8" name="Image 0" descr="arrow-right">    </p:cNvPr>
          <p:cNvPicPr>
            <a:picLocks noChangeAspect="1"/>
          </p:cNvPicPr>
          <p:nvPr/>
        </p:nvPicPr>
        <p:blipFill>
          <a:blip r:embed="rId1"/>
          <a:srcRect l="-1" r="-1" t="0" b="0"/>
          <a:stretch/>
        </p:blipFill>
        <p:spPr>
          <a:xfrm>
            <a:off x="3613141" y="2464908"/>
            <a:ext cx="952500" cy="406391"/>
          </a:xfrm>
          <a:prstGeom prst="rect">
            <a:avLst/>
          </a:prstGeom>
        </p:spPr>
      </p:pic>
      <p:sp>
        <p:nvSpPr>
          <p:cNvPr id="9" name="Text 6"/>
          <p:cNvSpPr/>
          <p:nvPr/>
        </p:nvSpPr>
        <p:spPr>
          <a:xfrm>
            <a:off x="3894074" y="2947473"/>
            <a:ext cx="3906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go in</a:t>
            </a:r>
            <a:endParaRPr lang="en-US" sz="1200" dirty="0"/>
          </a:p>
        </p:txBody>
      </p:sp>
      <p:sp>
        <p:nvSpPr>
          <p:cNvPr id="10" name="Shape 7"/>
          <p:cNvSpPr/>
          <p:nvPr/>
        </p:nvSpPr>
        <p:spPr>
          <a:xfrm>
            <a:off x="4826000" y="1941801"/>
            <a:ext cx="2540000" cy="1310409"/>
          </a:xfrm>
          <a:prstGeom prst="roundRect">
            <a:avLst>
              <a:gd name="adj" fmla="val 7753"/>
            </a:avLst>
          </a:prstGeom>
          <a:solidFill>
            <a:srgbClr val="1B2A3A"/>
          </a:solidFill>
          <a:ln/>
        </p:spPr>
      </p:sp>
      <p:sp>
        <p:nvSpPr>
          <p:cNvPr id="11" name="Text 8"/>
          <p:cNvSpPr/>
          <p:nvPr/>
        </p:nvSpPr>
        <p:spPr>
          <a:xfrm>
            <a:off x="5054564" y="2170365"/>
            <a:ext cx="2145358"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5F0"/>
                </a:solidFill>
                <a:latin typeface="IBM Plex Sans" pitchFamily="34" charset="0"/>
                <a:ea typeface="IBM Plex Sans" pitchFamily="34" charset="-122"/>
                <a:cs typeface="IBM Plex Sans" pitchFamily="34" charset="-120"/>
              </a:rPr>
              <a:t>Shared clock</a:t>
            </a:r>
            <a:endParaRPr lang="en-US" sz="2000" dirty="0"/>
          </a:p>
        </p:txBody>
      </p:sp>
      <p:sp>
        <p:nvSpPr>
          <p:cNvPr id="12" name="Text 9"/>
          <p:cNvSpPr/>
          <p:nvPr/>
        </p:nvSpPr>
        <p:spPr>
          <a:xfrm>
            <a:off x="5054564" y="2525928"/>
            <a:ext cx="2145358"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IBM Plex Sans" pitchFamily="34" charset="0"/>
                <a:ea typeface="IBM Plex Sans" pitchFamily="34" charset="-122"/>
                <a:cs typeface="IBM Plex Sans" pitchFamily="34" charset="-120"/>
              </a:rPr>
              <a:t>one time axis for everyone</a:t>
            </a:r>
            <a:endParaRPr lang="en-US" sz="1400" dirty="0"/>
          </a:p>
        </p:txBody>
      </p:sp>
      <p:sp>
        <p:nvSpPr>
          <p:cNvPr id="13" name="Text 10"/>
          <p:cNvSpPr/>
          <p:nvPr/>
        </p:nvSpPr>
        <p:spPr>
          <a:xfrm>
            <a:off x="7925585" y="2033172"/>
            <a:ext cx="354049" cy="380964"/>
          </a:xfrm>
          <a:prstGeom prst="rect">
            <a:avLst/>
          </a:prstGeom>
          <a:noFill/>
          <a:ln/>
        </p:spPr>
        <p:txBody>
          <a:bodyPr wrap="square" lIns="0" tIns="0" rIns="0" bIns="0" rtlCol="0" anchor="t">
            <a:normAutofit/>
          </a:bodyPr>
          <a:lstStyle/>
          <a:p>
            <a:pPr algn="ctr" indent="0" marL="0">
              <a:lnSpc>
                <a:spcPts val="2800"/>
              </a:lnSpc>
              <a:buNone/>
            </a:pPr>
            <a:r>
              <a:rPr lang="en-US" sz="2000" i="1" dirty="0">
                <a:solidFill>
                  <a:srgbClr val="1B2A3A"/>
                </a:solidFill>
                <a:latin typeface="Source Serif 4" pitchFamily="18" charset="0"/>
                <a:ea typeface="Source Serif 4" pitchFamily="18" charset="-122"/>
                <a:cs typeface="Source Serif 4" pitchFamily="18" charset="-120"/>
              </a:rPr>
              <a:t>fₗ⁻¹</a:t>
            </a:r>
            <a:endParaRPr lang="en-US" sz="2000" dirty="0"/>
          </a:p>
        </p:txBody>
      </p:sp>
      <p:pic>
        <p:nvPicPr>
          <p:cNvPr id="14" name="Image 1" descr="arrow-right">    </p:cNvPr>
          <p:cNvPicPr>
            <a:picLocks noChangeAspect="1"/>
          </p:cNvPicPr>
          <p:nvPr/>
        </p:nvPicPr>
        <p:blipFill>
          <a:blip r:embed="rId2"/>
          <a:srcRect l="-1" r="-1" t="0" b="0"/>
          <a:stretch/>
        </p:blipFill>
        <p:spPr>
          <a:xfrm>
            <a:off x="7626359" y="2464908"/>
            <a:ext cx="952500" cy="406391"/>
          </a:xfrm>
          <a:prstGeom prst="rect">
            <a:avLst/>
          </a:prstGeom>
        </p:spPr>
      </p:pic>
      <p:sp>
        <p:nvSpPr>
          <p:cNvPr id="15" name="Text 11"/>
          <p:cNvSpPr/>
          <p:nvPr/>
        </p:nvSpPr>
        <p:spPr>
          <a:xfrm>
            <a:off x="7719070" y="2947473"/>
            <a:ext cx="7670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come out</a:t>
            </a:r>
            <a:endParaRPr lang="en-US" sz="1200" dirty="0"/>
          </a:p>
        </p:txBody>
      </p:sp>
      <p:sp>
        <p:nvSpPr>
          <p:cNvPr id="16" name="Shape 12"/>
          <p:cNvSpPr/>
          <p:nvPr/>
        </p:nvSpPr>
        <p:spPr>
          <a:xfrm>
            <a:off x="8845568" y="1936606"/>
            <a:ext cx="2527300" cy="1320800"/>
          </a:xfrm>
          <a:prstGeom prst="roundRect">
            <a:avLst>
              <a:gd name="adj" fmla="val 7212"/>
            </a:avLst>
          </a:prstGeom>
          <a:solidFill>
            <a:srgbClr val="FDFCF9"/>
          </a:solidFill>
          <a:ln w="12700">
            <a:solidFill>
              <a:srgbClr val="C8641E"/>
            </a:solidFill>
            <a:prstDash val="solid"/>
          </a:ln>
        </p:spPr>
      </p:sp>
      <p:sp>
        <p:nvSpPr>
          <p:cNvPr id="17" name="Text 13"/>
          <p:cNvSpPr/>
          <p:nvPr/>
        </p:nvSpPr>
        <p:spPr>
          <a:xfrm>
            <a:off x="9079327" y="2170365"/>
            <a:ext cx="2121575"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Batch l’s clock</a:t>
            </a:r>
            <a:endParaRPr lang="en-US" sz="2000" dirty="0"/>
          </a:p>
        </p:txBody>
      </p:sp>
      <p:sp>
        <p:nvSpPr>
          <p:cNvPr id="18" name="Text 14"/>
          <p:cNvSpPr/>
          <p:nvPr/>
        </p:nvSpPr>
        <p:spPr>
          <a:xfrm>
            <a:off x="9079327" y="2525928"/>
            <a:ext cx="2121575"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the same compound’s time in batch l</a:t>
            </a:r>
            <a:endParaRPr lang="en-US" sz="1400" dirty="0"/>
          </a:p>
        </p:txBody>
      </p:sp>
      <p:sp>
        <p:nvSpPr>
          <p:cNvPr id="19" name="Text 15"/>
          <p:cNvSpPr/>
          <p:nvPr/>
        </p:nvSpPr>
        <p:spPr>
          <a:xfrm>
            <a:off x="812782" y="3619319"/>
            <a:ext cx="5284752" cy="90930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The map from batch k to batch l is </a:t>
            </a:r>
            <a:r>
              <a:rPr lang="en-US" sz="1600" b="1" dirty="0">
                <a:solidFill>
                  <a:srgbClr val="1B2A3A"/>
                </a:solidFill>
                <a:latin typeface="IBM Plex Sans" pitchFamily="34" charset="0"/>
                <a:ea typeface="IBM Plex Sans" pitchFamily="34" charset="-122"/>
                <a:cs typeface="IBM Plex Sans" pitchFamily="34" charset="-120"/>
              </a:rPr>
              <a:t>g(k→l) = fₗ⁻¹( fₖ(t) )</a:t>
            </a:r>
            <a:r>
              <a:rPr lang="en-US" sz="1600" dirty="0">
                <a:solidFill>
                  <a:srgbClr val="3E4A56"/>
                </a:solidFill>
                <a:latin typeface="IBM Plex Sans" pitchFamily="34" charset="0"/>
                <a:ea typeface="IBM Plex Sans" pitchFamily="34" charset="-122"/>
                <a:cs typeface="IBM Plex Sans" pitchFamily="34" charset="-120"/>
              </a:rPr>
              <a:t>: go into the shared clock, then undo batch l’s warp.</a:t>
            </a:r>
            <a:endParaRPr lang="en-US" sz="1600" dirty="0"/>
          </a:p>
        </p:txBody>
      </p:sp>
      <p:sp>
        <p:nvSpPr>
          <p:cNvPr id="20" name="Text 16"/>
          <p:cNvSpPr/>
          <p:nvPr/>
        </p:nvSpPr>
        <p:spPr>
          <a:xfrm>
            <a:off x="6248391" y="3619319"/>
            <a:ext cx="5284752" cy="90930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Every route passes through the same clock, so </a:t>
            </a:r>
            <a:r>
              <a:rPr lang="en-US" sz="1600" b="1" dirty="0">
                <a:solidFill>
                  <a:srgbClr val="3E4A56"/>
                </a:solidFill>
                <a:latin typeface="IBM Plex Sans" pitchFamily="34" charset="0"/>
                <a:ea typeface="IBM Plex Sans" pitchFamily="34" charset="-122"/>
                <a:cs typeface="IBM Plex Sans" pitchFamily="34" charset="-120"/>
              </a:rPr>
              <a:t>two routes between the same batches can never disagree</a:t>
            </a:r>
            <a:r>
              <a:rPr lang="en-US" sz="1600" dirty="0">
                <a:solidFill>
                  <a:srgbClr val="3E4A56"/>
                </a:solidFill>
                <a:latin typeface="IBM Plex Sans" pitchFamily="34" charset="0"/>
                <a:ea typeface="IBM Plex Sans" pitchFamily="34" charset="-122"/>
                <a:cs typeface="IBM Plex Sans" pitchFamily="34" charset="-120"/>
              </a:rPr>
              <a:t>. Fitting each pair separately has no such guarantee.</a:t>
            </a:r>
            <a:endParaRPr lang="en-US" sz="1600" dirty="0"/>
          </a:p>
        </p:txBody>
      </p:sp>
      <p:sp>
        <p:nvSpPr>
          <p:cNvPr id="21" name="Text 17"/>
          <p:cNvSpPr/>
          <p:nvPr/>
        </p:nvSpPr>
        <p:spPr>
          <a:xfrm>
            <a:off x="812782" y="6238287"/>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2 and § 12 · fₗ⁻¹ is the inverse: the function that undoes fₗ.</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20F"/>
                </a:solidFill>
                <a:latin typeface="IBM Plex Sans" pitchFamily="34" charset="0"/>
                <a:ea typeface="IBM Plex Sans" pitchFamily="34" charset="-122"/>
                <a:cs typeface="IBM Plex Sans" pitchFamily="34" charset="-120"/>
              </a:rPr>
              <a:t>REFRESHER</a:t>
            </a:r>
            <a:endParaRPr lang="en-US" sz="1200" dirty="0"/>
          </a:p>
        </p:txBody>
      </p:sp>
      <p:sp>
        <p:nvSpPr>
          <p:cNvPr id="3" name="Text 1"/>
          <p:cNvSpPr/>
          <p:nvPr>
            <p:ph type="title"/>
          </p:nvPr>
        </p:nvSpPr>
        <p:spPr>
          <a:xfrm>
            <a:off x="812782" y="1127666"/>
            <a:ext cx="11379218"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Vectors, matrices and the one multiplication we need</a:t>
            </a:r>
            <a:endParaRPr lang="en-US" sz="3200" dirty="0"/>
          </a:p>
        </p:txBody>
      </p:sp>
      <p:sp>
        <p:nvSpPr>
          <p:cNvPr id="4" name="Shape 2"/>
          <p:cNvSpPr/>
          <p:nvPr/>
        </p:nvSpPr>
        <p:spPr>
          <a:xfrm>
            <a:off x="815957" y="1933429"/>
            <a:ext cx="3380347" cy="1773003"/>
          </a:xfrm>
          <a:prstGeom prst="roundRect">
            <a:avLst>
              <a:gd name="adj" fmla="val 5551"/>
            </a:avLst>
          </a:prstGeom>
          <a:solidFill>
            <a:srgbClr val="FDFCF9"/>
          </a:solidFill>
          <a:ln w="6350">
            <a:solidFill>
              <a:srgbClr val="D3DAE0"/>
            </a:solidFill>
            <a:prstDash val="solid"/>
          </a:ln>
        </p:spPr>
      </p:sp>
      <p:sp>
        <p:nvSpPr>
          <p:cNvPr id="5" name="Text 3"/>
          <p:cNvSpPr/>
          <p:nvPr/>
        </p:nvSpPr>
        <p:spPr>
          <a:xfrm>
            <a:off x="1072555" y="2190028"/>
            <a:ext cx="2953166"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Vector</a:t>
            </a:r>
            <a:endParaRPr lang="en-US" sz="2000" dirty="0"/>
          </a:p>
        </p:txBody>
      </p:sp>
      <p:sp>
        <p:nvSpPr>
          <p:cNvPr id="6" name="Text 4"/>
          <p:cNvSpPr/>
          <p:nvPr/>
        </p:nvSpPr>
        <p:spPr>
          <a:xfrm>
            <a:off x="1072555" y="2596373"/>
            <a:ext cx="2953166"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6"/>
                </a:solidFill>
                <a:latin typeface="IBM Plex Sans" pitchFamily="34" charset="0"/>
                <a:ea typeface="IBM Plex Sans" pitchFamily="34" charset="-122"/>
                <a:cs typeface="IBM Plex Sans" pitchFamily="34" charset="-120"/>
              </a:rPr>
              <a:t>A list of numbers.</a:t>
            </a:r>
            <a:endParaRPr lang="en-US" sz="1600" dirty="0"/>
          </a:p>
        </p:txBody>
      </p:sp>
      <p:sp>
        <p:nvSpPr>
          <p:cNvPr id="7" name="Text 5"/>
          <p:cNvSpPr/>
          <p:nvPr/>
        </p:nvSpPr>
        <p:spPr>
          <a:xfrm>
            <a:off x="1072555" y="2982424"/>
            <a:ext cx="2953166"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v = (0, 2, 1, 3)</a:t>
            </a:r>
            <a:endParaRPr lang="en-US" sz="1600" dirty="0"/>
          </a:p>
        </p:txBody>
      </p:sp>
      <p:sp>
        <p:nvSpPr>
          <p:cNvPr id="8" name="Shape 6"/>
          <p:cNvSpPr/>
          <p:nvPr/>
        </p:nvSpPr>
        <p:spPr>
          <a:xfrm>
            <a:off x="4405826" y="1933429"/>
            <a:ext cx="3380347" cy="1773003"/>
          </a:xfrm>
          <a:prstGeom prst="roundRect">
            <a:avLst>
              <a:gd name="adj" fmla="val 5551"/>
            </a:avLst>
          </a:prstGeom>
          <a:solidFill>
            <a:srgbClr val="FDFCF9"/>
          </a:solidFill>
          <a:ln w="6350">
            <a:solidFill>
              <a:srgbClr val="D3DAE0"/>
            </a:solidFill>
            <a:prstDash val="solid"/>
          </a:ln>
        </p:spPr>
      </p:sp>
      <p:sp>
        <p:nvSpPr>
          <p:cNvPr id="9" name="Text 7"/>
          <p:cNvSpPr/>
          <p:nvPr/>
        </p:nvSpPr>
        <p:spPr>
          <a:xfrm>
            <a:off x="4662424" y="2190028"/>
            <a:ext cx="2953166"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Matrix</a:t>
            </a:r>
            <a:endParaRPr lang="en-US" sz="2000" dirty="0"/>
          </a:p>
        </p:txBody>
      </p:sp>
      <p:sp>
        <p:nvSpPr>
          <p:cNvPr id="10" name="Text 8"/>
          <p:cNvSpPr/>
          <p:nvPr/>
        </p:nvSpPr>
        <p:spPr>
          <a:xfrm>
            <a:off x="4662424" y="2596373"/>
            <a:ext cx="2953166" cy="878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6"/>
                </a:solidFill>
                <a:latin typeface="IBM Plex Sans" pitchFamily="34" charset="0"/>
                <a:ea typeface="IBM Plex Sans" pitchFamily="34" charset="-122"/>
                <a:cs typeface="IBM Plex Sans" pitchFamily="34" charset="-120"/>
              </a:rPr>
              <a:t>A table of numbers: rows and columns. We will stack one row per equation.</a:t>
            </a:r>
            <a:endParaRPr lang="en-US" sz="1600" dirty="0"/>
          </a:p>
        </p:txBody>
      </p:sp>
      <p:sp>
        <p:nvSpPr>
          <p:cNvPr id="11" name="Shape 9"/>
          <p:cNvSpPr/>
          <p:nvPr/>
        </p:nvSpPr>
        <p:spPr>
          <a:xfrm>
            <a:off x="7995696" y="1933429"/>
            <a:ext cx="3380347" cy="1773003"/>
          </a:xfrm>
          <a:prstGeom prst="roundRect">
            <a:avLst>
              <a:gd name="adj" fmla="val 5551"/>
            </a:avLst>
          </a:prstGeom>
          <a:solidFill>
            <a:srgbClr val="FDFCF9"/>
          </a:solidFill>
          <a:ln w="6350">
            <a:solidFill>
              <a:srgbClr val="D3DAE0"/>
            </a:solidFill>
            <a:prstDash val="solid"/>
          </a:ln>
        </p:spPr>
      </p:sp>
      <p:sp>
        <p:nvSpPr>
          <p:cNvPr id="12" name="Text 10"/>
          <p:cNvSpPr/>
          <p:nvPr/>
        </p:nvSpPr>
        <p:spPr>
          <a:xfrm>
            <a:off x="8252294" y="2190028"/>
            <a:ext cx="2953166" cy="33018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Matrix × vector</a:t>
            </a:r>
            <a:endParaRPr lang="en-US" sz="2000" dirty="0"/>
          </a:p>
        </p:txBody>
      </p:sp>
      <p:sp>
        <p:nvSpPr>
          <p:cNvPr id="13" name="Text 11"/>
          <p:cNvSpPr/>
          <p:nvPr/>
        </p:nvSpPr>
        <p:spPr>
          <a:xfrm>
            <a:off x="8252294" y="2596373"/>
            <a:ext cx="2953166" cy="878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6"/>
                </a:solidFill>
                <a:latin typeface="IBM Plex Sans" pitchFamily="34" charset="0"/>
                <a:ea typeface="IBM Plex Sans" pitchFamily="34" charset="-122"/>
                <a:cs typeface="IBM Plex Sans" pitchFamily="34" charset="-120"/>
              </a:rPr>
              <a:t>Take each row, multiply it by the vector entry by entry, and add up. One number per row.</a:t>
            </a:r>
            <a:endParaRPr lang="en-US" sz="1600" dirty="0"/>
          </a:p>
        </p:txBody>
      </p:sp>
      <p:sp>
        <p:nvSpPr>
          <p:cNvPr id="14" name="Shape 12"/>
          <p:cNvSpPr/>
          <p:nvPr/>
        </p:nvSpPr>
        <p:spPr>
          <a:xfrm>
            <a:off x="812782" y="4065172"/>
            <a:ext cx="10566436" cy="1201313"/>
          </a:xfrm>
          <a:prstGeom prst="roundRect">
            <a:avLst>
              <a:gd name="adj" fmla="val 8457"/>
            </a:avLst>
          </a:prstGeom>
          <a:solidFill>
            <a:srgbClr val="1B2A3A"/>
          </a:solidFill>
          <a:ln/>
        </p:spPr>
      </p:sp>
      <p:sp>
        <p:nvSpPr>
          <p:cNvPr id="15" name="Text 13"/>
          <p:cNvSpPr/>
          <p:nvPr/>
        </p:nvSpPr>
        <p:spPr>
          <a:xfrm>
            <a:off x="1066782" y="4319172"/>
            <a:ext cx="1036018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IBM Plex Sans" pitchFamily="34" charset="0"/>
                <a:ea typeface="IBM Plex Sans" pitchFamily="34" charset="-122"/>
                <a:cs typeface="IBM Plex Sans" pitchFamily="34" charset="-120"/>
              </a:rPr>
              <a:t>Worked example: one row times v</a:t>
            </a:r>
            <a:endParaRPr lang="en-US" sz="1400" dirty="0"/>
          </a:p>
        </p:txBody>
      </p:sp>
      <p:sp>
        <p:nvSpPr>
          <p:cNvPr id="16" name="Text 14"/>
          <p:cNvSpPr/>
          <p:nvPr/>
        </p:nvSpPr>
        <p:spPr>
          <a:xfrm>
            <a:off x="1066782" y="4669594"/>
            <a:ext cx="10360189" cy="368291"/>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F7F5F0"/>
                </a:solidFill>
                <a:latin typeface="JetBrains Mono" pitchFamily="49" charset="0"/>
                <a:ea typeface="JetBrains Mono" pitchFamily="49" charset="-122"/>
                <a:cs typeface="JetBrains Mono" pitchFamily="49" charset="-120"/>
              </a:rPr>
              <a:t>(0, ½, ½, 0) · (0, 2, 1, 3) = 0·0 + ½·2 + ½·1 + 0·3 = </a:t>
            </a:r>
            <a:r>
              <a:rPr lang="en-US" sz="1800" dirty="0">
                <a:solidFill>
                  <a:srgbClr val="8FB4E6"/>
                </a:solidFill>
                <a:latin typeface="JetBrains Mono" pitchFamily="49" charset="0"/>
                <a:ea typeface="JetBrains Mono" pitchFamily="49" charset="-122"/>
                <a:cs typeface="JetBrains Mono" pitchFamily="49" charset="-120"/>
              </a:rPr>
              <a:t>1.5</a:t>
            </a:r>
            <a:endParaRPr lang="en-US" sz="1800" dirty="0"/>
          </a:p>
        </p:txBody>
      </p:sp>
      <p:sp>
        <p:nvSpPr>
          <p:cNvPr id="17" name="Text 15"/>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3 · In NumPy, matrix × vector is written B @ 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2 · A WARP IS JUST A FUNCTION</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warp is the identity plus a small drift</a:t>
            </a:r>
            <a:endParaRPr lang="en-US" sz="3200" dirty="0"/>
          </a:p>
        </p:txBody>
      </p:sp>
      <p:sp>
        <p:nvSpPr>
          <p:cNvPr id="4" name="Text 2"/>
          <p:cNvSpPr/>
          <p:nvPr/>
        </p:nvSpPr>
        <p:spPr>
          <a:xfrm>
            <a:off x="812782" y="1879473"/>
            <a:ext cx="4055110" cy="665496"/>
          </a:xfrm>
          <a:prstGeom prst="rect">
            <a:avLst/>
          </a:prstGeom>
          <a:noFill/>
          <a:ln/>
        </p:spPr>
        <p:txBody>
          <a:bodyPr wrap="square" lIns="0" tIns="0" rIns="0" bIns="0" rtlCol="0" anchor="t">
            <a:normAutofit/>
          </a:bodyPr>
          <a:lstStyle/>
          <a:p>
            <a:pPr algn="l" indent="0" marL="0">
              <a:lnSpc>
                <a:spcPts val="5040"/>
              </a:lnSpc>
              <a:buNone/>
            </a:pPr>
            <a:r>
              <a:rPr lang="en-US" sz="3600" i="1" dirty="0">
                <a:solidFill>
                  <a:srgbClr val="1B2A3A"/>
                </a:solidFill>
                <a:latin typeface="Source Serif 4" pitchFamily="18" charset="0"/>
                <a:ea typeface="Source Serif 4" pitchFamily="18" charset="-122"/>
                <a:cs typeface="Source Serif 4" pitchFamily="18" charset="-120"/>
              </a:rPr>
              <a:t>f(t) = t + d(t)</a:t>
            </a:r>
            <a:endParaRPr lang="en-US" sz="3600" dirty="0"/>
          </a:p>
        </p:txBody>
      </p:sp>
      <p:sp>
        <p:nvSpPr>
          <p:cNvPr id="5" name="Text 3"/>
          <p:cNvSpPr/>
          <p:nvPr/>
        </p:nvSpPr>
        <p:spPr>
          <a:xfrm>
            <a:off x="5054564" y="1904864"/>
            <a:ext cx="6514393"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The drift </a:t>
            </a:r>
            <a:r>
              <a:rPr lang="en-US" sz="1600" i="1" dirty="0">
                <a:solidFill>
                  <a:srgbClr val="3E4A56"/>
                </a:solidFill>
                <a:latin typeface="IBM Plex Sans" pitchFamily="34" charset="0"/>
                <a:ea typeface="IBM Plex Sans" pitchFamily="34" charset="-122"/>
                <a:cs typeface="IBM Plex Sans" pitchFamily="34" charset="-120"/>
              </a:rPr>
              <a:t>d</a:t>
            </a:r>
            <a:r>
              <a:rPr lang="en-US" sz="1600" dirty="0">
                <a:solidFill>
                  <a:srgbClr val="3E4A56"/>
                </a:solidFill>
                <a:latin typeface="IBM Plex Sans" pitchFamily="34" charset="0"/>
                <a:ea typeface="IBM Plex Sans" pitchFamily="34" charset="-122"/>
                <a:cs typeface="IBM Plex Sans" pitchFamily="34" charset="-120"/>
              </a:rPr>
              <a:t> is how far the batch’s clock is from the shared clock. No drift means </a:t>
            </a:r>
            <a:r>
              <a:rPr lang="en-US" sz="1600" i="1" dirty="0">
                <a:solidFill>
                  <a:srgbClr val="3E4A56"/>
                </a:solidFill>
                <a:latin typeface="IBM Plex Sans" pitchFamily="34" charset="0"/>
                <a:ea typeface="IBM Plex Sans" pitchFamily="34" charset="-122"/>
                <a:cs typeface="IBM Plex Sans" pitchFamily="34" charset="-120"/>
              </a:rPr>
              <a:t>d</a:t>
            </a:r>
            <a:r>
              <a:rPr lang="en-US" sz="1600" dirty="0">
                <a:solidFill>
                  <a:srgbClr val="3E4A56"/>
                </a:solidFill>
                <a:latin typeface="IBM Plex Sans" pitchFamily="34" charset="0"/>
                <a:ea typeface="IBM Plex Sans" pitchFamily="34" charset="-122"/>
                <a:cs typeface="IBM Plex Sans" pitchFamily="34" charset="-120"/>
              </a:rPr>
              <a:t> = 0, and small drifts are small numbers.</a:t>
            </a:r>
            <a:endParaRPr lang="en-US" sz="1600" dirty="0"/>
          </a:p>
        </p:txBody>
      </p:sp>
      <p:sp>
        <p:nvSpPr>
          <p:cNvPr id="6" name="Shape 4"/>
          <p:cNvSpPr/>
          <p:nvPr/>
        </p:nvSpPr>
        <p:spPr>
          <a:xfrm>
            <a:off x="819132" y="2830702"/>
            <a:ext cx="5168909" cy="1421236"/>
          </a:xfrm>
          <a:prstGeom prst="roundRect">
            <a:avLst>
              <a:gd name="adj" fmla="val 6702"/>
            </a:avLst>
          </a:prstGeom>
          <a:solidFill>
            <a:srgbClr val="FDFCF9"/>
          </a:solidFill>
          <a:ln w="12700">
            <a:solidFill>
              <a:srgbClr val="2F6FBF"/>
            </a:solidFill>
            <a:prstDash val="solid"/>
          </a:ln>
        </p:spPr>
      </p:sp>
      <p:sp>
        <p:nvSpPr>
          <p:cNvPr id="7" name="Text 5"/>
          <p:cNvSpPr/>
          <p:nvPr/>
        </p:nvSpPr>
        <p:spPr>
          <a:xfrm>
            <a:off x="1078327" y="3089895"/>
            <a:ext cx="4790034"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Allowed: d(t) = 2 + 0.1t</a:t>
            </a:r>
            <a:endParaRPr lang="en-US" sz="1800" dirty="0"/>
          </a:p>
        </p:txBody>
      </p:sp>
      <p:sp>
        <p:nvSpPr>
          <p:cNvPr id="8" name="Text 6"/>
          <p:cNvSpPr/>
          <p:nvPr/>
        </p:nvSpPr>
        <p:spPr>
          <a:xfrm>
            <a:off x="1078327" y="3440364"/>
            <a:ext cx="4790034"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f(10) = 10 + 3 = 13, f(20) = 20 + 4 = 24. The slope is 1.1, so later stays later.</a:t>
            </a:r>
            <a:endParaRPr lang="en-US" sz="1500" dirty="0"/>
          </a:p>
        </p:txBody>
      </p:sp>
      <p:sp>
        <p:nvSpPr>
          <p:cNvPr id="9" name="Shape 7"/>
          <p:cNvSpPr/>
          <p:nvPr/>
        </p:nvSpPr>
        <p:spPr>
          <a:xfrm>
            <a:off x="6203914" y="2830702"/>
            <a:ext cx="5168954" cy="1421236"/>
          </a:xfrm>
          <a:prstGeom prst="roundRect">
            <a:avLst>
              <a:gd name="adj" fmla="val 6702"/>
            </a:avLst>
          </a:prstGeom>
          <a:solidFill>
            <a:srgbClr val="FDFCF9"/>
          </a:solidFill>
          <a:ln w="12700">
            <a:solidFill>
              <a:srgbClr val="C8641E"/>
            </a:solidFill>
            <a:prstDash val="solid"/>
          </a:ln>
        </p:spPr>
      </p:sp>
      <p:sp>
        <p:nvSpPr>
          <p:cNvPr id="10" name="Text 8"/>
          <p:cNvSpPr/>
          <p:nvPr/>
        </p:nvSpPr>
        <p:spPr>
          <a:xfrm>
            <a:off x="6463109" y="3089895"/>
            <a:ext cx="4790080"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Not allowed: d(t) = −1.5t</a:t>
            </a:r>
            <a:endParaRPr lang="en-US" sz="1800" dirty="0"/>
          </a:p>
        </p:txBody>
      </p:sp>
      <p:sp>
        <p:nvSpPr>
          <p:cNvPr id="11" name="Text 9"/>
          <p:cNvSpPr/>
          <p:nvPr/>
        </p:nvSpPr>
        <p:spPr>
          <a:xfrm>
            <a:off x="6463109" y="3440364"/>
            <a:ext cx="4790080"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The slope is 1 − 1.5 = −0.5. Time runs backwards, so two compounds would swap order.</a:t>
            </a:r>
            <a:endParaRPr lang="en-US" sz="1500" dirty="0"/>
          </a:p>
        </p:txBody>
      </p:sp>
      <p:sp>
        <p:nvSpPr>
          <p:cNvPr id="12" name="Text 10"/>
          <p:cNvSpPr/>
          <p:nvPr/>
        </p:nvSpPr>
        <p:spPr>
          <a:xfrm>
            <a:off x="812782" y="4563070"/>
            <a:ext cx="10883429"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The rule we will enforce: the </a:t>
            </a:r>
            <a:r>
              <a:rPr lang="en-US" sz="1600" b="1" dirty="0">
                <a:solidFill>
                  <a:srgbClr val="3E4A56"/>
                </a:solidFill>
                <a:latin typeface="IBM Plex Sans" pitchFamily="34" charset="0"/>
                <a:ea typeface="IBM Plex Sans" pitchFamily="34" charset="-122"/>
                <a:cs typeface="IBM Plex Sans" pitchFamily="34" charset="-120"/>
              </a:rPr>
              <a:t>slope stays between 0.5 and 2</a:t>
            </a:r>
            <a:r>
              <a:rPr lang="en-US" sz="1600" dirty="0">
                <a:solidFill>
                  <a:srgbClr val="3E4A56"/>
                </a:solidFill>
                <a:latin typeface="IBM Plex Sans" pitchFamily="34" charset="0"/>
                <a:ea typeface="IBM Plex Sans" pitchFamily="34" charset="-122"/>
                <a:cs typeface="IBM Plex Sans" pitchFamily="34" charset="-120"/>
              </a:rPr>
              <a:t>. No batch runs more than twice as fast, or twice as slow, as the shared clock.</a:t>
            </a:r>
            <a:endParaRPr lang="en-US" sz="1600" dirty="0"/>
          </a:p>
        </p:txBody>
      </p:sp>
      <p:sp>
        <p:nvSpPr>
          <p:cNvPr id="13" name="Text 11"/>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2 · Slope = how much f rises per bin. Positive everywhere = “monotone”: order is preserved.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7593"/>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2F6FBF"/>
                </a:solidFill>
                <a:latin typeface="IBM Plex Sans" pitchFamily="34" charset="0"/>
                <a:ea typeface="IBM Plex Sans" pitchFamily="34" charset="-122"/>
                <a:cs typeface="IBM Plex Sans" pitchFamily="34" charset="-120"/>
              </a:rPr>
              <a:t>3 · KNOTS AND THE HAT BASIS</a:t>
            </a:r>
            <a:endParaRPr lang="en-US" sz="1196" dirty="0"/>
          </a:p>
        </p:txBody>
      </p:sp>
      <p:sp>
        <p:nvSpPr>
          <p:cNvPr id="3" name="Text 1"/>
          <p:cNvSpPr/>
          <p:nvPr>
            <p:ph type="title"/>
          </p:nvPr>
        </p:nvSpPr>
        <p:spPr>
          <a:xfrm>
            <a:off x="812782" y="1126539"/>
            <a:ext cx="10883429" cy="47012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Describe the drift by its values at a few knots</a:t>
            </a:r>
            <a:endParaRPr lang="en-US" sz="3200" dirty="0"/>
          </a:p>
        </p:txBody>
      </p:sp>
      <p:pic>
        <p:nvPicPr>
          <p:cNvPr id="4" name="Image 0" descr="Four triangular hat functions over knots at t = 0, 10, 20 and 30, with dashed markers at t = 15 and t = 22">    </p:cNvPr>
          <p:cNvPicPr>
            <a:picLocks noChangeAspect="1"/>
          </p:cNvPicPr>
          <p:nvPr/>
        </p:nvPicPr>
        <p:blipFill>
          <a:blip r:embed="rId1"/>
          <a:srcRect l="0" r="0" t="0" b="0"/>
          <a:stretch/>
        </p:blipFill>
        <p:spPr>
          <a:xfrm>
            <a:off x="812782" y="1889305"/>
            <a:ext cx="4826000" cy="2540000"/>
          </a:xfrm>
          <a:prstGeom prst="rect">
            <a:avLst/>
          </a:prstGeom>
        </p:spPr>
      </p:pic>
      <p:sp>
        <p:nvSpPr>
          <p:cNvPr id="5" name="Text 2"/>
          <p:cNvSpPr/>
          <p:nvPr/>
        </p:nvSpPr>
        <p:spPr>
          <a:xfrm>
            <a:off x="812782" y="4530868"/>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Each coloured “hat” is one knot’s weight (height 1 at its own knot). Knots at t = 0, 10, 20, 30; dashed lines at t = 15 and t = 22.</a:t>
            </a:r>
            <a:endParaRPr lang="en-US" sz="1200" dirty="0"/>
          </a:p>
        </p:txBody>
      </p:sp>
      <p:sp>
        <p:nvSpPr>
          <p:cNvPr id="6" name="Text 3"/>
          <p:cNvSpPr/>
          <p:nvPr/>
        </p:nvSpPr>
        <p:spPr>
          <a:xfrm>
            <a:off x="5994346" y="1869008"/>
            <a:ext cx="5546418" cy="5943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6"/>
                </a:solidFill>
                <a:latin typeface="IBM Plex Sans" pitchFamily="34" charset="0"/>
                <a:ea typeface="IBM Plex Sans" pitchFamily="34" charset="-122"/>
                <a:cs typeface="IBM Plex Sans" pitchFamily="34" charset="-120"/>
              </a:rPr>
              <a:t>Drift at the knots: </a:t>
            </a:r>
            <a:r>
              <a:rPr lang="en-US" sz="1600" b="1" dirty="0">
                <a:solidFill>
                  <a:srgbClr val="3E4A56"/>
                </a:solidFill>
                <a:latin typeface="IBM Plex Sans" pitchFamily="34" charset="0"/>
                <a:ea typeface="IBM Plex Sans" pitchFamily="34" charset="-122"/>
                <a:cs typeface="IBM Plex Sans" pitchFamily="34" charset="-120"/>
              </a:rPr>
              <a:t>d = (0, 2, 1, 3)</a:t>
            </a:r>
            <a:r>
              <a:rPr lang="en-US" sz="1600" dirty="0">
                <a:solidFill>
                  <a:srgbClr val="3E4A56"/>
                </a:solidFill>
                <a:latin typeface="IBM Plex Sans" pitchFamily="34" charset="0"/>
                <a:ea typeface="IBM Plex Sans" pitchFamily="34" charset="-122"/>
                <a:cs typeface="IBM Plex Sans" pitchFamily="34" charset="-120"/>
              </a:rPr>
              <a:t>. Between knots, join the dots with straight lines.</a:t>
            </a:r>
            <a:endParaRPr lang="en-US" sz="1600" dirty="0"/>
          </a:p>
        </p:txBody>
      </p:sp>
      <p:sp>
        <p:nvSpPr>
          <p:cNvPr id="7" name="Shape 4"/>
          <p:cNvSpPr/>
          <p:nvPr/>
        </p:nvSpPr>
        <p:spPr>
          <a:xfrm>
            <a:off x="5997521" y="2593550"/>
            <a:ext cx="5378522" cy="977855"/>
          </a:xfrm>
          <a:prstGeom prst="roundRect">
            <a:avLst>
              <a:gd name="adj" fmla="val 10065"/>
            </a:avLst>
          </a:prstGeom>
          <a:solidFill>
            <a:srgbClr val="FDFCF9"/>
          </a:solidFill>
          <a:ln w="6350">
            <a:solidFill>
              <a:srgbClr val="D3DAE0"/>
            </a:solidFill>
            <a:prstDash val="solid"/>
          </a:ln>
        </p:spPr>
      </p:sp>
      <p:sp>
        <p:nvSpPr>
          <p:cNvPr id="8" name="Text 5"/>
          <p:cNvSpPr/>
          <p:nvPr/>
        </p:nvSpPr>
        <p:spPr>
          <a:xfrm>
            <a:off x="6203292" y="2799321"/>
            <a:ext cx="511599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E4A56"/>
                </a:solidFill>
                <a:latin typeface="IBM Plex Sans" pitchFamily="34" charset="0"/>
                <a:ea typeface="IBM Plex Sans" pitchFamily="34" charset="-122"/>
                <a:cs typeface="IBM Plex Sans" pitchFamily="34" charset="-120"/>
              </a:rPr>
              <a:t>t = 15</a:t>
            </a:r>
            <a:r>
              <a:rPr lang="en-US" sz="1500" dirty="0">
                <a:solidFill>
                  <a:srgbClr val="3E4A56"/>
                </a:solidFill>
                <a:latin typeface="IBM Plex Sans" pitchFamily="34" charset="0"/>
                <a:ea typeface="IBM Plex Sans" pitchFamily="34" charset="-122"/>
                <a:cs typeface="IBM Plex Sans" pitchFamily="34" charset="-120"/>
              </a:rPr>
              <a:t> is halfway between knots 1 and 2:</a:t>
            </a:r>
            <a:endParaRPr lang="en-US" sz="1500" dirty="0"/>
          </a:p>
        </p:txBody>
      </p:sp>
      <p:sp>
        <p:nvSpPr>
          <p:cNvPr id="9" name="Text 6"/>
          <p:cNvSpPr/>
          <p:nvPr/>
        </p:nvSpPr>
        <p:spPr>
          <a:xfrm>
            <a:off x="6203292" y="3116774"/>
            <a:ext cx="511599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JetBrains Mono" pitchFamily="49" charset="0"/>
                <a:ea typeface="JetBrains Mono" pitchFamily="49" charset="-122"/>
                <a:cs typeface="JetBrains Mono" pitchFamily="49" charset="-120"/>
              </a:rPr>
              <a:t>B(15) = (0, ½, ½, 0) → d(15) = 1.5</a:t>
            </a:r>
            <a:endParaRPr lang="en-US" sz="1400" dirty="0"/>
          </a:p>
        </p:txBody>
      </p:sp>
      <p:sp>
        <p:nvSpPr>
          <p:cNvPr id="10" name="Shape 7"/>
          <p:cNvSpPr/>
          <p:nvPr/>
        </p:nvSpPr>
        <p:spPr>
          <a:xfrm>
            <a:off x="5997521" y="3730144"/>
            <a:ext cx="5378522" cy="1244528"/>
          </a:xfrm>
          <a:prstGeom prst="roundRect">
            <a:avLst>
              <a:gd name="adj" fmla="val 7909"/>
            </a:avLst>
          </a:prstGeom>
          <a:solidFill>
            <a:srgbClr val="FDFCF9"/>
          </a:solidFill>
          <a:ln w="6350">
            <a:solidFill>
              <a:srgbClr val="D3DAE0"/>
            </a:solidFill>
            <a:prstDash val="solid"/>
          </a:ln>
        </p:spPr>
      </p:sp>
      <p:sp>
        <p:nvSpPr>
          <p:cNvPr id="11" name="Text 8"/>
          <p:cNvSpPr/>
          <p:nvPr/>
        </p:nvSpPr>
        <p:spPr>
          <a:xfrm>
            <a:off x="6203292" y="3935915"/>
            <a:ext cx="5115990" cy="558746"/>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E4A56"/>
                </a:solidFill>
                <a:latin typeface="IBM Plex Sans" pitchFamily="34" charset="0"/>
                <a:ea typeface="IBM Plex Sans" pitchFamily="34" charset="-122"/>
                <a:cs typeface="IBM Plex Sans" pitchFamily="34" charset="-120"/>
              </a:rPr>
              <a:t>t = 22</a:t>
            </a:r>
            <a:r>
              <a:rPr lang="en-US" sz="1500" dirty="0">
                <a:solidFill>
                  <a:srgbClr val="3E4A56"/>
                </a:solidFill>
                <a:latin typeface="IBM Plex Sans" pitchFamily="34" charset="0"/>
                <a:ea typeface="IBM Plex Sans" pitchFamily="34" charset="-122"/>
                <a:cs typeface="IBM Plex Sans" pitchFamily="34" charset="-120"/>
              </a:rPr>
              <a:t> is 2 bins from knot 2 and 8 from knot 3. The nearer knot gets more weight:</a:t>
            </a:r>
            <a:endParaRPr lang="en-US" sz="1500" dirty="0"/>
          </a:p>
        </p:txBody>
      </p:sp>
      <p:sp>
        <p:nvSpPr>
          <p:cNvPr id="12" name="Text 9"/>
          <p:cNvSpPr/>
          <p:nvPr/>
        </p:nvSpPr>
        <p:spPr>
          <a:xfrm>
            <a:off x="6203292" y="4520043"/>
            <a:ext cx="511599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JetBrains Mono" pitchFamily="49" charset="0"/>
                <a:ea typeface="JetBrains Mono" pitchFamily="49" charset="-122"/>
                <a:cs typeface="JetBrains Mono" pitchFamily="49" charset="-120"/>
              </a:rPr>
              <a:t>B(22) = (0, 0, 0.8, 0.2) → d(22) = 1.4</a:t>
            </a:r>
            <a:endParaRPr lang="en-US" sz="1400" dirty="0"/>
          </a:p>
        </p:txBody>
      </p:sp>
      <p:sp>
        <p:nvSpPr>
          <p:cNvPr id="13" name="Text 10"/>
          <p:cNvSpPr/>
          <p:nvPr/>
        </p:nvSpPr>
        <p:spPr>
          <a:xfrm>
            <a:off x="812782" y="5275594"/>
            <a:ext cx="10883429" cy="591804"/>
          </a:xfrm>
          <a:prstGeom prst="rect">
            <a:avLst/>
          </a:prstGeom>
          <a:noFill/>
          <a:ln/>
        </p:spPr>
        <p:txBody>
          <a:bodyPr wrap="square" lIns="0" tIns="0" rIns="0" bIns="0" rtlCol="0" anchor="t">
            <a:normAutofit/>
          </a:bodyPr>
          <a:lstStyle/>
          <a:p>
            <a:pPr algn="l" indent="0" marL="0">
              <a:lnSpc>
                <a:spcPts val="2233"/>
              </a:lnSpc>
              <a:buNone/>
            </a:pPr>
            <a:r>
              <a:rPr lang="en-US" sz="1595" b="1" dirty="0">
                <a:solidFill>
                  <a:srgbClr val="1B2A3A"/>
                </a:solidFill>
                <a:latin typeface="IBM Plex Sans" pitchFamily="34" charset="0"/>
                <a:ea typeface="IBM Plex Sans" pitchFamily="34" charset="-122"/>
                <a:cs typeface="IBM Plex Sans" pitchFamily="34" charset="-120"/>
              </a:rPr>
              <a:t>Interpolation is a row of weights times the knot values</a:t>
            </a:r>
            <a:r>
              <a:rPr lang="en-US" sz="1595" dirty="0">
                <a:solidFill>
                  <a:srgbClr val="1B2A3A"/>
                </a:solidFill>
                <a:latin typeface="IBM Plex Sans" pitchFamily="34" charset="0"/>
                <a:ea typeface="IBM Plex Sans" pitchFamily="34" charset="-122"/>
                <a:cs typeface="IBM Plex Sans" pitchFamily="34" charset="-120"/>
              </a:rPr>
              <a:t>, the multiplication from the refresher. That is what keeps the whole fit linear.</a:t>
            </a:r>
            <a:endParaRPr lang="en-US" sz="1595" dirty="0"/>
          </a:p>
        </p:txBody>
      </p:sp>
      <p:sp>
        <p:nvSpPr>
          <p:cNvPr id="14" name="Text 11"/>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3 · The real model uses 41 knots, about 1.1 min apart. Code: _hat_basis(t, knots).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27130"/>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F6FBF"/>
                </a:solidFill>
                <a:latin typeface="IBM Plex Sans" pitchFamily="34" charset="0"/>
                <a:ea typeface="IBM Plex Sans" pitchFamily="34" charset="-122"/>
                <a:cs typeface="IBM Plex Sans" pitchFamily="34" charset="-120"/>
              </a:rPr>
              <a:t>4 · PARAMETERISING BY INCREMENTS</a:t>
            </a:r>
            <a:endParaRPr lang="en-US" sz="1159" dirty="0"/>
          </a:p>
        </p:txBody>
      </p:sp>
      <p:sp>
        <p:nvSpPr>
          <p:cNvPr id="3" name="Text 1"/>
          <p:cNvSpPr/>
          <p:nvPr>
            <p:ph type="title"/>
          </p:nvPr>
        </p:nvSpPr>
        <p:spPr>
          <a:xfrm>
            <a:off x="812782" y="1116075"/>
            <a:ext cx="10883429" cy="448117"/>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B2A3A"/>
                </a:solidFill>
                <a:latin typeface="Source Serif 4" pitchFamily="18" charset="0"/>
                <a:ea typeface="Source Serif 4" pitchFamily="18" charset="-122"/>
                <a:cs typeface="Source Serif 4" pitchFamily="18" charset="-120"/>
              </a:rPr>
              <a:t>Store the first value and the steps, not every value</a:t>
            </a:r>
            <a:endParaRPr lang="en-US" sz="3060" dirty="0"/>
          </a:p>
        </p:txBody>
      </p:sp>
      <p:sp>
        <p:nvSpPr>
          <p:cNvPr id="4" name="Text 2"/>
          <p:cNvSpPr/>
          <p:nvPr/>
        </p:nvSpPr>
        <p:spPr>
          <a:xfrm>
            <a:off x="812782" y="1767356"/>
            <a:ext cx="7116138"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Keep </a:t>
            </a:r>
            <a:r>
              <a:rPr lang="en-US" sz="1600" b="1" dirty="0">
                <a:solidFill>
                  <a:srgbClr val="3E4A56"/>
                </a:solidFill>
                <a:latin typeface="IBM Plex Sans" pitchFamily="34" charset="0"/>
                <a:ea typeface="IBM Plex Sans" pitchFamily="34" charset="-122"/>
                <a:cs typeface="IBM Plex Sans" pitchFamily="34" charset="-120"/>
              </a:rPr>
              <a:t>c</a:t>
            </a:r>
            <a:r>
              <a:rPr lang="en-US" sz="1600" dirty="0">
                <a:solidFill>
                  <a:srgbClr val="3E4A56"/>
                </a:solidFill>
                <a:latin typeface="IBM Plex Sans" pitchFamily="34" charset="0"/>
                <a:ea typeface="IBM Plex Sans" pitchFamily="34" charset="-122"/>
                <a:cs typeface="IBM Plex Sans" pitchFamily="34" charset="-120"/>
              </a:rPr>
              <a:t>, the drift at the first knot, and the </a:t>
            </a:r>
            <a:r>
              <a:rPr lang="en-US" sz="1600" b="1" dirty="0">
                <a:solidFill>
                  <a:srgbClr val="3E4A56"/>
                </a:solidFill>
                <a:latin typeface="IBM Plex Sans" pitchFamily="34" charset="0"/>
                <a:ea typeface="IBM Plex Sans" pitchFamily="34" charset="-122"/>
                <a:cs typeface="IBM Plex Sans" pitchFamily="34" charset="-120"/>
              </a:rPr>
              <a:t>steps δ</a:t>
            </a:r>
            <a:r>
              <a:rPr lang="en-US" sz="1600" dirty="0">
                <a:solidFill>
                  <a:srgbClr val="3E4A56"/>
                </a:solidFill>
                <a:latin typeface="IBM Plex Sans" pitchFamily="34" charset="0"/>
                <a:ea typeface="IBM Plex Sans" pitchFamily="34" charset="-122"/>
                <a:cs typeface="IBM Plex Sans" pitchFamily="34" charset="-120"/>
              </a:rPr>
              <a:t> between neighbouring knots. Adding up the steps gives back every knot value.</a:t>
            </a:r>
            <a:endParaRPr lang="en-US" sz="1600" dirty="0"/>
          </a:p>
        </p:txBody>
      </p:sp>
      <p:sp>
        <p:nvSpPr>
          <p:cNvPr id="5" name="Text 3"/>
          <p:cNvSpPr/>
          <p:nvPr/>
        </p:nvSpPr>
        <p:spPr>
          <a:xfrm>
            <a:off x="812782" y="2509016"/>
            <a:ext cx="7116138" cy="634964"/>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θ = (c, δ₁, δ₂, δ₃) = (0, 2, −1, 2)</a:t>
            </a:r>
            <a:endParaRPr lang="en-US" sz="1500" dirty="0"/>
          </a:p>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running sums → d = (0, 2, 1, 3)</a:t>
            </a:r>
            <a:endParaRPr lang="en-US" sz="1500" dirty="0"/>
          </a:p>
        </p:txBody>
      </p:sp>
      <p:sp>
        <p:nvSpPr>
          <p:cNvPr id="6" name="Text 4"/>
          <p:cNvSpPr/>
          <p:nvPr/>
        </p:nvSpPr>
        <p:spPr>
          <a:xfrm>
            <a:off x="812782" y="3270969"/>
            <a:ext cx="7116138"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E4A56"/>
                </a:solidFill>
                <a:latin typeface="IBM Plex Sans" pitchFamily="34" charset="0"/>
                <a:ea typeface="IBM Plex Sans" pitchFamily="34" charset="-122"/>
                <a:cs typeface="IBM Plex Sans" pitchFamily="34" charset="-120"/>
              </a:rPr>
              <a:t>“Running sums” is a matrix too: </a:t>
            </a:r>
            <a:r>
              <a:rPr lang="en-US" sz="1600" b="1" dirty="0">
                <a:solidFill>
                  <a:srgbClr val="3E4A56"/>
                </a:solidFill>
                <a:latin typeface="IBM Plex Sans" pitchFamily="34" charset="0"/>
                <a:ea typeface="IBM Plex Sans" pitchFamily="34" charset="-122"/>
                <a:cs typeface="IBM Plex Sans" pitchFamily="34" charset="-120"/>
              </a:rPr>
              <a:t>L</a:t>
            </a:r>
            <a:r>
              <a:rPr lang="en-US" sz="1600" dirty="0">
                <a:solidFill>
                  <a:srgbClr val="3E4A56"/>
                </a:solidFill>
                <a:latin typeface="IBM Plex Sans" pitchFamily="34" charset="0"/>
                <a:ea typeface="IBM Plex Sans" pitchFamily="34" charset="-122"/>
                <a:cs typeface="IBM Plex Sans" pitchFamily="34" charset="-120"/>
              </a:rPr>
              <a:t>, with ones on and below the diagonal. So d = Lθ.</a:t>
            </a:r>
            <a:endParaRPr lang="en-US" sz="1600" dirty="0"/>
          </a:p>
        </p:txBody>
      </p:sp>
      <p:sp>
        <p:nvSpPr>
          <p:cNvPr id="7" name="Shape 5"/>
          <p:cNvSpPr/>
          <p:nvPr/>
        </p:nvSpPr>
        <p:spPr>
          <a:xfrm>
            <a:off x="8080393" y="1770531"/>
            <a:ext cx="3295650" cy="2770196"/>
          </a:xfrm>
          <a:prstGeom prst="roundRect">
            <a:avLst>
              <a:gd name="adj" fmla="val 3553"/>
            </a:avLst>
          </a:prstGeom>
          <a:solidFill>
            <a:srgbClr val="FDFCF9"/>
          </a:solidFill>
          <a:ln w="6350">
            <a:solidFill>
              <a:srgbClr val="D3DAE0"/>
            </a:solidFill>
            <a:prstDash val="solid"/>
          </a:ln>
        </p:spPr>
      </p:sp>
      <p:sp>
        <p:nvSpPr>
          <p:cNvPr id="8" name="Text 6"/>
          <p:cNvSpPr/>
          <p:nvPr/>
        </p:nvSpPr>
        <p:spPr>
          <a:xfrm>
            <a:off x="8336990" y="2027129"/>
            <a:ext cx="2865928" cy="225281"/>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6A7682"/>
                </a:solidFill>
                <a:latin typeface="IBM Plex Sans" pitchFamily="34" charset="0"/>
                <a:ea typeface="IBM Plex Sans" pitchFamily="34" charset="-122"/>
                <a:cs typeface="IBM Plex Sans" pitchFamily="34" charset="-120"/>
              </a:rPr>
              <a:t>L for 4 knots</a:t>
            </a:r>
            <a:endParaRPr lang="en-US" sz="1125"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348536" y="2340116"/>
          <a:ext cx="2770909" cy="1642521"/>
        </p:xfrm>
        <a:graphic>
          <a:graphicData uri="http://schemas.openxmlformats.org/drawingml/2006/table">
            <a:tbl>
              <a:tblPr/>
              <a:tblGrid>
                <a:gridCol w="692727"/>
                <a:gridCol w="692727"/>
                <a:gridCol w="692727"/>
                <a:gridCol w="692727"/>
              </a:tblGrid>
              <a:tr h="410630">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410630">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410630">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0</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410630">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algn="ctr" indent="0" marL="0">
                        <a:lnSpc>
                          <a:spcPts val="2093"/>
                        </a:lnSpc>
                        <a:buNone/>
                      </a:pPr>
                      <a:r>
                        <a:rPr lang="en-US" sz="1495" dirty="0">
                          <a:solidFill>
                            <a:srgbClr val="1B2A3A"/>
                          </a:solidFill>
                          <a:latin typeface="JetBrains Mono" pitchFamily="49" charset="0"/>
                          <a:ea typeface="JetBrains Mono" pitchFamily="49" charset="-122"/>
                          <a:cs typeface="JetBrains Mono" pitchFamily="49" charset="-120"/>
                        </a:rPr>
                        <a:t>1</a:t>
                      </a:r>
                      <a:endParaRPr lang="en-US" sz="1495" dirty="0">
                        <a:latin typeface="JetBrains Mono" charset="0"/>
                        <a:ea typeface="JetBrains Mono" charset="0"/>
                        <a:cs typeface="JetBrains Mono" charset="0"/>
                      </a:endParaRPr>
                    </a:p>
                  </a:txBody>
                  <a:tcPr marL="66453" marR="66453" marT="66453" marB="6645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0" name="Text 7"/>
          <p:cNvSpPr/>
          <p:nvPr/>
        </p:nvSpPr>
        <p:spPr>
          <a:xfrm>
            <a:off x="8336990" y="4084203"/>
            <a:ext cx="2865928" cy="225326"/>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6A7682"/>
                </a:solidFill>
                <a:latin typeface="IBM Plex Sans" pitchFamily="34" charset="0"/>
                <a:ea typeface="IBM Plex Sans" pitchFamily="34" charset="-122"/>
                <a:cs typeface="IBM Plex Sans" pitchFamily="34" charset="-120"/>
              </a:rPr>
              <a:t>Row 3 · θ = 0 + 2 − 1 + 0 = 1</a:t>
            </a:r>
            <a:endParaRPr lang="en-US" sz="1125" dirty="0"/>
          </a:p>
        </p:txBody>
      </p:sp>
      <p:sp>
        <p:nvSpPr>
          <p:cNvPr id="11" name="Text 8"/>
          <p:cNvSpPr/>
          <p:nvPr/>
        </p:nvSpPr>
        <p:spPr>
          <a:xfrm>
            <a:off x="812782" y="4772465"/>
            <a:ext cx="10566436" cy="1069533"/>
          </a:xfrm>
          <a:prstGeom prst="roundRect">
            <a:avLst>
              <a:gd name="adj" fmla="val 9499"/>
            </a:avLst>
          </a:prstGeom>
          <a:solidFill>
            <a:srgbClr val="1B2A3A"/>
          </a:solidFill>
          <a:ln/>
        </p:spPr>
        <p:txBody>
          <a:bodyPr wrap="square" lIns="224242" tIns="224242" rIns="0" bIns="198842" rtlCol="0" anchor="t">
            <a:normAutofit/>
          </a:bodyPr>
          <a:lstStyle/>
          <a:p>
            <a:pPr algn="l" indent="0" marL="0">
              <a:lnSpc>
                <a:spcPts val="2211"/>
              </a:lnSpc>
              <a:buNone/>
            </a:pPr>
            <a:r>
              <a:rPr lang="en-US" sz="1525" b="1" dirty="0">
                <a:solidFill>
                  <a:srgbClr val="F2EFE8"/>
                </a:solidFill>
                <a:latin typeface="IBM Plex Sans" pitchFamily="34" charset="0"/>
                <a:ea typeface="IBM Plex Sans" pitchFamily="34" charset="-122"/>
                <a:cs typeface="IBM Plex Sans" pitchFamily="34" charset="-120"/>
              </a:rPr>
              <a:t>Why bother?</a:t>
            </a:r>
            <a:r>
              <a:rPr lang="en-US" sz="1525" dirty="0">
                <a:solidFill>
                  <a:srgbClr val="F2EFE8"/>
                </a:solidFill>
                <a:latin typeface="IBM Plex Sans" pitchFamily="34" charset="0"/>
                <a:ea typeface="IBM Plex Sans" pitchFamily="34" charset="-122"/>
                <a:cs typeface="IBM Plex Sans" pitchFamily="34" charset="-120"/>
              </a:rPr>
              <a:t> The slope between two knots is 1 + δ / Δu. With knots Δu = 10 apart, “slope between 0.5 and 2” becomes </a:t>
            </a:r>
            <a:r>
              <a:rPr lang="en-US" sz="1525" b="1" dirty="0">
                <a:solidFill>
                  <a:srgbClr val="8FB4E6"/>
                </a:solidFill>
                <a:latin typeface="IBM Plex Sans" pitchFamily="34" charset="0"/>
                <a:ea typeface="IBM Plex Sans" pitchFamily="34" charset="-122"/>
                <a:cs typeface="IBM Plex Sans" pitchFamily="34" charset="-120"/>
              </a:rPr>
              <a:t>−5 ≤ δ ≤ 10</a:t>
            </a:r>
            <a:r>
              <a:rPr lang="en-US" sz="1525" dirty="0">
                <a:solidFill>
                  <a:srgbClr val="F2EFE8"/>
                </a:solidFill>
                <a:latin typeface="IBM Plex Sans" pitchFamily="34" charset="0"/>
                <a:ea typeface="IBM Plex Sans" pitchFamily="34" charset="-122"/>
                <a:cs typeface="IBM Plex Sans" pitchFamily="34" charset="-120"/>
              </a:rPr>
              <a:t>: a limit on one number at a time, which the solver handles easily.</a:t>
            </a:r>
            <a:endParaRPr lang="en-US" sz="1525" dirty="0"/>
          </a:p>
        </p:txBody>
      </p:sp>
      <p:sp>
        <p:nvSpPr>
          <p:cNvPr id="12" name="Text 9"/>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4 · Code: Lcum = np.tril(np.ones((M, M))); bounds lb, ub. c itself has no limit.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20F"/>
                </a:solidFill>
                <a:latin typeface="IBM Plex Sans" pitchFamily="34" charset="0"/>
                <a:ea typeface="IBM Plex Sans" pitchFamily="34" charset="-122"/>
                <a:cs typeface="IBM Plex Sans" pitchFamily="34" charset="-120"/>
              </a:rPr>
              <a:t>REFRESHER · 5 · LEAST SQUARES</a:t>
            </a:r>
            <a:endParaRPr lang="en-US" sz="1200" dirty="0"/>
          </a:p>
        </p:txBody>
      </p:sp>
      <p:sp>
        <p:nvSpPr>
          <p:cNvPr id="3" name="Text 1"/>
          <p:cNvSpPr/>
          <p:nvPr>
            <p:ph type="title"/>
          </p:nvPr>
        </p:nvSpPr>
        <p:spPr>
          <a:xfrm>
            <a:off x="812782" y="1127668"/>
            <a:ext cx="10883429"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More equations than unknowns? Minimise the squared misses</a:t>
            </a:r>
            <a:endParaRPr lang="en-US" sz="3200" dirty="0"/>
          </a:p>
        </p:txBody>
      </p:sp>
      <p:pic>
        <p:nvPicPr>
          <p:cNvPr id="4" name="Image 0" descr="Three points at (0,1), (1,3), (2,4) and the least-squares line y = 1.5x + 1.17, with dashed vertical misses">    </p:cNvPr>
          <p:cNvPicPr>
            <a:picLocks noChangeAspect="1"/>
          </p:cNvPicPr>
          <p:nvPr/>
        </p:nvPicPr>
        <p:blipFill>
          <a:blip r:embed="rId1"/>
          <a:srcRect l="0" r="0" t="0" b="0"/>
          <a:stretch/>
        </p:blipFill>
        <p:spPr>
          <a:xfrm>
            <a:off x="812782" y="2275718"/>
            <a:ext cx="3429000" cy="2286000"/>
          </a:xfrm>
          <a:prstGeom prst="rect">
            <a:avLst/>
          </a:prstGeom>
        </p:spPr>
      </p:pic>
      <p:sp>
        <p:nvSpPr>
          <p:cNvPr id="5" name="Text 2"/>
          <p:cNvSpPr/>
          <p:nvPr/>
        </p:nvSpPr>
        <p:spPr>
          <a:xfrm>
            <a:off x="812782" y="4637891"/>
            <a:ext cx="35318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Points (0, 1), (1, 3), (2, 4). No line passes through all three. Orange dashes: the misses we square and add up.</a:t>
            </a:r>
            <a:endParaRPr lang="en-US" sz="1200" dirty="0"/>
          </a:p>
        </p:txBody>
      </p:sp>
      <p:sp>
        <p:nvSpPr>
          <p:cNvPr id="6" name="Text 3"/>
          <p:cNvSpPr/>
          <p:nvPr/>
        </p:nvSpPr>
        <p:spPr>
          <a:xfrm>
            <a:off x="4597346" y="2841535"/>
            <a:ext cx="6985328"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Model </a:t>
            </a:r>
            <a:r>
              <a:rPr lang="en-US" sz="1400" i="1" dirty="0">
                <a:solidFill>
                  <a:srgbClr val="3E4A56"/>
                </a:solidFill>
                <a:latin typeface="IBM Plex Sans" pitchFamily="34" charset="0"/>
                <a:ea typeface="IBM Plex Sans" pitchFamily="34" charset="-122"/>
                <a:cs typeface="IBM Plex Sans" pitchFamily="34" charset="-120"/>
              </a:rPr>
              <a:t>y = m·x + c</a:t>
            </a:r>
            <a:r>
              <a:rPr lang="en-US" sz="1400" dirty="0">
                <a:solidFill>
                  <a:srgbClr val="3E4A56"/>
                </a:solidFill>
                <a:latin typeface="IBM Plex Sans" pitchFamily="34" charset="0"/>
                <a:ea typeface="IBM Plex Sans" pitchFamily="34" charset="-122"/>
                <a:cs typeface="IBM Plex Sans" pitchFamily="34" charset="-120"/>
              </a:rPr>
              <a:t>. One row per point, written </a:t>
            </a:r>
            <a:r>
              <a:rPr lang="en-US" sz="1400" b="1" dirty="0">
                <a:solidFill>
                  <a:srgbClr val="3E4A56"/>
                </a:solidFill>
                <a:latin typeface="IBM Plex Sans" pitchFamily="34" charset="0"/>
                <a:ea typeface="IBM Plex Sans" pitchFamily="34" charset="-122"/>
                <a:cs typeface="IBM Plex Sans" pitchFamily="34" charset="-120"/>
              </a:rPr>
              <a:t>Xβ ≈ y</a:t>
            </a:r>
            <a:r>
              <a:rPr lang="en-US" sz="1400" dirty="0">
                <a:solidFill>
                  <a:srgbClr val="3E4A56"/>
                </a:solidFill>
                <a:latin typeface="IBM Plex Sans" pitchFamily="34" charset="0"/>
                <a:ea typeface="IBM Plex Sans" pitchFamily="34" charset="-122"/>
                <a:cs typeface="IBM Plex Sans" pitchFamily="34" charset="-120"/>
              </a:rPr>
              <a:t>:</a:t>
            </a:r>
            <a:endParaRPr lang="en-US" sz="1400" dirty="0"/>
          </a:p>
        </p:txBody>
      </p:sp>
      <p:sp>
        <p:nvSpPr>
          <p:cNvPr id="7" name="Text 4"/>
          <p:cNvSpPr/>
          <p:nvPr/>
        </p:nvSpPr>
        <p:spPr>
          <a:xfrm>
            <a:off x="4597346" y="3217394"/>
            <a:ext cx="6985328" cy="273041"/>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A3A"/>
                </a:solidFill>
                <a:latin typeface="JetBrains Mono" pitchFamily="49" charset="0"/>
                <a:ea typeface="JetBrains Mono" pitchFamily="49" charset="-122"/>
                <a:cs typeface="JetBrains Mono" pitchFamily="49" charset="-120"/>
              </a:rPr>
              <a:t>X = [[0, 1], [1, 1], [2, 1]] β = (m, c) y = (1, 3, 4)</a:t>
            </a:r>
            <a:endParaRPr lang="en-US" sz="1300" dirty="0"/>
          </a:p>
        </p:txBody>
      </p:sp>
      <p:sp>
        <p:nvSpPr>
          <p:cNvPr id="8" name="Text 5"/>
          <p:cNvSpPr/>
          <p:nvPr/>
        </p:nvSpPr>
        <p:spPr>
          <a:xfrm>
            <a:off x="4597346" y="3592035"/>
            <a:ext cx="6985328"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The best β solves the </a:t>
            </a:r>
            <a:r>
              <a:rPr lang="en-US" sz="1400" b="1" dirty="0">
                <a:solidFill>
                  <a:srgbClr val="3E4A56"/>
                </a:solidFill>
                <a:latin typeface="IBM Plex Sans" pitchFamily="34" charset="0"/>
                <a:ea typeface="IBM Plex Sans" pitchFamily="34" charset="-122"/>
                <a:cs typeface="IBM Plex Sans" pitchFamily="34" charset="-120"/>
              </a:rPr>
              <a:t>normal equations</a:t>
            </a:r>
            <a:r>
              <a:rPr lang="en-US" sz="1400" dirty="0">
                <a:solidFill>
                  <a:srgbClr val="3E4A56"/>
                </a:solidFill>
                <a:latin typeface="IBM Plex Sans" pitchFamily="34" charset="0"/>
                <a:ea typeface="IBM Plex Sans" pitchFamily="34" charset="-122"/>
                <a:cs typeface="IBM Plex Sans" pitchFamily="34" charset="-120"/>
              </a:rPr>
              <a:t> XᵀXβ = Xᵀy. (Xᵀ, the </a:t>
            </a:r>
            <a:r>
              <a:rPr lang="en-US" sz="1400" i="1" dirty="0">
                <a:solidFill>
                  <a:srgbClr val="3E4A56"/>
                </a:solidFill>
                <a:latin typeface="IBM Plex Sans" pitchFamily="34" charset="0"/>
                <a:ea typeface="IBM Plex Sans" pitchFamily="34" charset="-122"/>
                <a:cs typeface="IBM Plex Sans" pitchFamily="34" charset="-120"/>
              </a:rPr>
              <a:t>transpose</a:t>
            </a:r>
            <a:r>
              <a:rPr lang="en-US" sz="1400" dirty="0">
                <a:solidFill>
                  <a:srgbClr val="3E4A56"/>
                </a:solidFill>
                <a:latin typeface="IBM Plex Sans" pitchFamily="34" charset="0"/>
                <a:ea typeface="IBM Plex Sans" pitchFamily="34" charset="-122"/>
                <a:cs typeface="IBM Plex Sans" pitchFamily="34" charset="-120"/>
              </a:rPr>
              <a:t>, swaps rows and columns.)</a:t>
            </a:r>
            <a:endParaRPr lang="en-US" sz="1400" dirty="0"/>
          </a:p>
        </p:txBody>
      </p:sp>
      <p:sp>
        <p:nvSpPr>
          <p:cNvPr id="9" name="Text 6"/>
          <p:cNvSpPr/>
          <p:nvPr/>
        </p:nvSpPr>
        <p:spPr>
          <a:xfrm>
            <a:off x="4597346" y="4216750"/>
            <a:ext cx="6985328" cy="52068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B2A3A"/>
                </a:solidFill>
                <a:latin typeface="JetBrains Mono" pitchFamily="49" charset="0"/>
                <a:ea typeface="JetBrains Mono" pitchFamily="49" charset="-122"/>
                <a:cs typeface="JetBrains Mono" pitchFamily="49" charset="-120"/>
              </a:rPr>
              <a:t>5m + 3c = 11</a:t>
            </a:r>
            <a:endParaRPr lang="en-US" sz="1300" dirty="0"/>
          </a:p>
          <a:p>
            <a:pPr algn="l" indent="0" marL="0">
              <a:lnSpc>
                <a:spcPts val="1950"/>
              </a:lnSpc>
              <a:buNone/>
            </a:pPr>
            <a:r>
              <a:rPr lang="en-US" sz="1300" dirty="0">
                <a:solidFill>
                  <a:srgbClr val="1B2A3A"/>
                </a:solidFill>
                <a:latin typeface="JetBrains Mono" pitchFamily="49" charset="0"/>
                <a:ea typeface="JetBrains Mono" pitchFamily="49" charset="-122"/>
                <a:cs typeface="JetBrains Mono" pitchFamily="49" charset="-120"/>
              </a:rPr>
              <a:t>3m + 3c = 8 → m = 1.5, c ≈ 1.17</a:t>
            </a:r>
            <a:endParaRPr lang="en-US" sz="1300" dirty="0"/>
          </a:p>
        </p:txBody>
      </p:sp>
      <p:sp>
        <p:nvSpPr>
          <p:cNvPr id="10" name="Text 7"/>
          <p:cNvSpPr/>
          <p:nvPr/>
        </p:nvSpPr>
        <p:spPr>
          <a:xfrm>
            <a:off x="812782" y="5531851"/>
            <a:ext cx="10883429" cy="30988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The joint model is this same calculation</a:t>
            </a:r>
            <a:r>
              <a:rPr lang="en-US" sz="1600" dirty="0">
                <a:solidFill>
                  <a:srgbClr val="1B2A3A"/>
                </a:solidFill>
                <a:latin typeface="IBM Plex Sans" pitchFamily="34" charset="0"/>
                <a:ea typeface="IBM Plex Sans" pitchFamily="34" charset="-122"/>
                <a:cs typeface="IBM Plex Sans" pitchFamily="34" charset="-120"/>
              </a:rPr>
              <a:t>, with thousands of rows (anchors).</a:t>
            </a:r>
            <a:endParaRPr lang="en-US" sz="1600" dirty="0"/>
          </a:p>
        </p:txBody>
      </p:sp>
      <p:sp>
        <p:nvSpPr>
          <p:cNvPr id="11" name="Text 8"/>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5 · Subtract the two equations: 2m = 3. In NumPy: np.linalg.lstsq(X, 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20F"/>
                </a:solidFill>
                <a:latin typeface="IBM Plex Sans" pitchFamily="34" charset="0"/>
                <a:ea typeface="IBM Plex Sans" pitchFamily="34" charset="-122"/>
                <a:cs typeface="IBM Plex Sans" pitchFamily="34" charset="-120"/>
              </a:rPr>
              <a:t>REFRESHER · 5 · SINGULAR MATRICES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Sometimes there is no single best answer</a:t>
            </a:r>
            <a:endParaRPr lang="en-US" sz="3200" dirty="0"/>
          </a:p>
        </p:txBody>
      </p:sp>
      <p:sp>
        <p:nvSpPr>
          <p:cNvPr id="4" name="Shape 2"/>
          <p:cNvSpPr/>
          <p:nvPr/>
        </p:nvSpPr>
        <p:spPr>
          <a:xfrm>
            <a:off x="815957" y="1882645"/>
            <a:ext cx="5175259" cy="2152560"/>
          </a:xfrm>
          <a:prstGeom prst="roundRect">
            <a:avLst>
              <a:gd name="adj" fmla="val 4572"/>
            </a:avLst>
          </a:prstGeom>
          <a:solidFill>
            <a:srgbClr val="FDFCF9"/>
          </a:solidFill>
          <a:ln w="6350">
            <a:solidFill>
              <a:srgbClr val="D3DAE0"/>
            </a:solidFill>
            <a:prstDash val="solid"/>
          </a:ln>
        </p:spPr>
      </p:sp>
      <p:sp>
        <p:nvSpPr>
          <p:cNvPr id="5" name="Text 3"/>
          <p:cNvSpPr/>
          <p:nvPr/>
        </p:nvSpPr>
        <p:spPr>
          <a:xfrm>
            <a:off x="1072555" y="2139243"/>
            <a:ext cx="4801925"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Two columns say the same thing</a:t>
            </a:r>
            <a:endParaRPr lang="en-US" sz="1800" dirty="0"/>
          </a:p>
        </p:txBody>
      </p:sp>
      <p:sp>
        <p:nvSpPr>
          <p:cNvPr id="6" name="Text 4"/>
          <p:cNvSpPr/>
          <p:nvPr/>
        </p:nvSpPr>
        <p:spPr>
          <a:xfrm>
            <a:off x="1072555" y="2515102"/>
            <a:ext cx="4801925" cy="634964"/>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X = [[1, 1], [2, 2]]</a:t>
            </a:r>
            <a:endParaRPr lang="en-US" sz="1500" dirty="0"/>
          </a:p>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XᵀX = [[5, 5], [5, 5]]</a:t>
            </a:r>
            <a:endParaRPr lang="en-US" sz="1500" dirty="0"/>
          </a:p>
        </p:txBody>
      </p:sp>
      <p:sp>
        <p:nvSpPr>
          <p:cNvPr id="7" name="Text 5"/>
          <p:cNvSpPr/>
          <p:nvPr/>
        </p:nvSpPr>
        <p:spPr>
          <a:xfrm>
            <a:off x="1072555" y="3226228"/>
            <a:ext cx="4801925"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The model is really y = (m + c)·x. The data pin down the </a:t>
            </a:r>
            <a:r>
              <a:rPr lang="en-US" sz="1500" b="1" dirty="0">
                <a:solidFill>
                  <a:srgbClr val="3E4A56"/>
                </a:solidFill>
                <a:latin typeface="IBM Plex Sans" pitchFamily="34" charset="0"/>
                <a:ea typeface="IBM Plex Sans" pitchFamily="34" charset="-122"/>
                <a:cs typeface="IBM Plex Sans" pitchFamily="34" charset="-120"/>
              </a:rPr>
              <a:t>sum</a:t>
            </a:r>
            <a:r>
              <a:rPr lang="en-US" sz="1500" dirty="0">
                <a:solidFill>
                  <a:srgbClr val="3E4A56"/>
                </a:solidFill>
                <a:latin typeface="IBM Plex Sans" pitchFamily="34" charset="0"/>
                <a:ea typeface="IBM Plex Sans" pitchFamily="34" charset="-122"/>
                <a:cs typeface="IBM Plex Sans" pitchFamily="34" charset="-120"/>
              </a:rPr>
              <a:t> m + c, never m and c apart.</a:t>
            </a:r>
            <a:endParaRPr lang="en-US" sz="1500" dirty="0"/>
          </a:p>
        </p:txBody>
      </p:sp>
      <p:sp>
        <p:nvSpPr>
          <p:cNvPr id="8" name="Shape 6"/>
          <p:cNvSpPr/>
          <p:nvPr/>
        </p:nvSpPr>
        <p:spPr>
          <a:xfrm>
            <a:off x="6200739" y="1882645"/>
            <a:ext cx="5175304" cy="2152560"/>
          </a:xfrm>
          <a:prstGeom prst="roundRect">
            <a:avLst>
              <a:gd name="adj" fmla="val 4572"/>
            </a:avLst>
          </a:prstGeom>
          <a:solidFill>
            <a:srgbClr val="FDFCF9"/>
          </a:solidFill>
          <a:ln w="6350">
            <a:solidFill>
              <a:srgbClr val="D3DAE0"/>
            </a:solidFill>
            <a:prstDash val="solid"/>
          </a:ln>
        </p:spPr>
      </p:sp>
      <p:sp>
        <p:nvSpPr>
          <p:cNvPr id="9" name="Text 7"/>
          <p:cNvSpPr/>
          <p:nvPr/>
        </p:nvSpPr>
        <p:spPr>
          <a:xfrm>
            <a:off x="6457336" y="2139243"/>
            <a:ext cx="4801972"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The test: the determinant</a:t>
            </a:r>
            <a:endParaRPr lang="en-US" sz="1800" dirty="0"/>
          </a:p>
        </p:txBody>
      </p:sp>
      <p:sp>
        <p:nvSpPr>
          <p:cNvPr id="10" name="Text 8"/>
          <p:cNvSpPr/>
          <p:nvPr/>
        </p:nvSpPr>
        <p:spPr>
          <a:xfrm>
            <a:off x="6457336" y="2515102"/>
            <a:ext cx="4801972"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For a 2 × 2 matrix [[a, b], [c, d]] it is </a:t>
            </a:r>
            <a:r>
              <a:rPr lang="en-US" sz="1500" b="1" dirty="0">
                <a:solidFill>
                  <a:srgbClr val="3E4A56"/>
                </a:solidFill>
                <a:latin typeface="IBM Plex Sans" pitchFamily="34" charset="0"/>
                <a:ea typeface="IBM Plex Sans" pitchFamily="34" charset="-122"/>
                <a:cs typeface="IBM Plex Sans" pitchFamily="34" charset="-120"/>
              </a:rPr>
              <a:t>ad − bc</a:t>
            </a:r>
            <a:r>
              <a:rPr lang="en-US" sz="1500" dirty="0">
                <a:solidFill>
                  <a:srgbClr val="3E4A56"/>
                </a:solidFill>
                <a:latin typeface="IBM Plex Sans" pitchFamily="34" charset="0"/>
                <a:ea typeface="IBM Plex Sans" pitchFamily="34" charset="-122"/>
                <a:cs typeface="IBM Plex Sans" pitchFamily="34" charset="-120"/>
              </a:rPr>
              <a:t>. Here 5·5 − 5·5 = 0.</a:t>
            </a:r>
            <a:endParaRPr lang="en-US" sz="1500" dirty="0"/>
          </a:p>
        </p:txBody>
      </p:sp>
      <p:sp>
        <p:nvSpPr>
          <p:cNvPr id="11" name="Text 9"/>
          <p:cNvSpPr/>
          <p:nvPr/>
        </p:nvSpPr>
        <p:spPr>
          <a:xfrm>
            <a:off x="6457336" y="3169047"/>
            <a:ext cx="4801972"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Zero means the matrix can’t be inverted (“singular”), so the normal equations have endless solutions.</a:t>
            </a:r>
            <a:endParaRPr lang="en-US" sz="1500" dirty="0"/>
          </a:p>
        </p:txBody>
      </p:sp>
      <p:sp>
        <p:nvSpPr>
          <p:cNvPr id="12" name="Text 10"/>
          <p:cNvSpPr/>
          <p:nvPr/>
        </p:nvSpPr>
        <p:spPr>
          <a:xfrm>
            <a:off x="812782" y="4343164"/>
            <a:ext cx="10566436" cy="1097269"/>
          </a:xfrm>
          <a:prstGeom prst="roundRect">
            <a:avLst>
              <a:gd name="adj" fmla="val 9259"/>
            </a:avLst>
          </a:prstGeom>
          <a:solidFill>
            <a:srgbClr val="1B2A3A"/>
          </a:solidFill>
          <a:ln/>
        </p:spPr>
        <p:txBody>
          <a:bodyPr wrap="square" lIns="224242" tIns="224242" rIns="0" bIns="198842" rtlCol="0" anchor="t">
            <a:normAutofit/>
          </a:bodyPr>
          <a:lstStyle/>
          <a:p>
            <a:pPr algn="l" indent="0" marL="0">
              <a:lnSpc>
                <a:spcPts val="2320"/>
              </a:lnSpc>
              <a:buNone/>
            </a:pPr>
            <a:r>
              <a:rPr lang="en-US" sz="1600" dirty="0">
                <a:solidFill>
                  <a:srgbClr val="F2EFE8"/>
                </a:solidFill>
                <a:latin typeface="IBM Plex Sans" pitchFamily="34" charset="0"/>
                <a:ea typeface="IBM Plex Sans" pitchFamily="34" charset="-122"/>
                <a:cs typeface="IBM Plex Sans" pitchFamily="34" charset="-120"/>
              </a:rPr>
              <a:t>The joint model hits exactly this problem: the data cannot tell where the shared clock </a:t>
            </a:r>
            <a:r>
              <a:rPr lang="en-US" sz="1600" i="1" dirty="0">
                <a:solidFill>
                  <a:srgbClr val="F2EFE8"/>
                </a:solidFill>
                <a:latin typeface="IBM Plex Sans" pitchFamily="34" charset="0"/>
                <a:ea typeface="IBM Plex Sans" pitchFamily="34" charset="-122"/>
                <a:cs typeface="IBM Plex Sans" pitchFamily="34" charset="-120"/>
              </a:rPr>
              <a:t>starts</a:t>
            </a:r>
            <a:r>
              <a:rPr lang="en-US" sz="1600" dirty="0">
                <a:solidFill>
                  <a:srgbClr val="F2EFE8"/>
                </a:solidFill>
                <a:latin typeface="IBM Plex Sans" pitchFamily="34" charset="0"/>
                <a:ea typeface="IBM Plex Sans" pitchFamily="34" charset="-122"/>
                <a:cs typeface="IBM Plex Sans" pitchFamily="34" charset="-120"/>
              </a:rPr>
              <a:t>. Slide “The gauge” shows the fix.</a:t>
            </a:r>
            <a:endParaRPr lang="en-US" sz="1600" dirty="0"/>
          </a:p>
        </p:txBody>
      </p:sp>
      <p:sp>
        <p:nvSpPr>
          <p:cNvPr id="13" name="Text 11"/>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5 · A direction the data ignore is called the null space: Xv = 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6–7 · THE DESIGN MATRIX</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Each anchor becomes one row of one big equation</a:t>
            </a:r>
            <a:endParaRPr lang="en-US" sz="3200" dirty="0"/>
          </a:p>
        </p:txBody>
      </p:sp>
      <p:sp>
        <p:nvSpPr>
          <p:cNvPr id="4" name="Text 2"/>
          <p:cNvSpPr/>
          <p:nvPr/>
        </p:nvSpPr>
        <p:spPr>
          <a:xfrm>
            <a:off x="812782" y="1828688"/>
            <a:ext cx="5284752"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An </a:t>
            </a:r>
            <a:r>
              <a:rPr lang="en-US" sz="1500" b="1" dirty="0">
                <a:solidFill>
                  <a:srgbClr val="3E4A56"/>
                </a:solidFill>
                <a:latin typeface="IBM Plex Sans" pitchFamily="34" charset="0"/>
                <a:ea typeface="IBM Plex Sans" pitchFamily="34" charset="-122"/>
                <a:cs typeface="IBM Plex Sans" pitchFamily="34" charset="-120"/>
              </a:rPr>
              <a:t>anchor</a:t>
            </a:r>
            <a:r>
              <a:rPr lang="en-US" sz="1500" dirty="0">
                <a:solidFill>
                  <a:srgbClr val="3E4A56"/>
                </a:solidFill>
                <a:latin typeface="IBM Plex Sans" pitchFamily="34" charset="0"/>
                <a:ea typeface="IBM Plex Sans" pitchFamily="34" charset="-122"/>
                <a:cs typeface="IBM Plex Sans" pitchFamily="34" charset="-120"/>
              </a:rPr>
              <a:t>: the same compound, matched by its spectrum, at time </a:t>
            </a:r>
            <a:r>
              <a:rPr lang="en-US" sz="1500" i="1" dirty="0">
                <a:solidFill>
                  <a:srgbClr val="3E4A56"/>
                </a:solidFill>
                <a:latin typeface="IBM Plex Sans" pitchFamily="34" charset="0"/>
                <a:ea typeface="IBM Plex Sans" pitchFamily="34" charset="-122"/>
                <a:cs typeface="IBM Plex Sans" pitchFamily="34" charset="-120"/>
              </a:rPr>
              <a:t>a</a:t>
            </a:r>
            <a:r>
              <a:rPr lang="en-US" sz="1500" dirty="0">
                <a:solidFill>
                  <a:srgbClr val="3E4A56"/>
                </a:solidFill>
                <a:latin typeface="IBM Plex Sans" pitchFamily="34" charset="0"/>
                <a:ea typeface="IBM Plex Sans" pitchFamily="34" charset="-122"/>
                <a:cs typeface="IBM Plex Sans" pitchFamily="34" charset="-120"/>
              </a:rPr>
              <a:t> in batch k and </a:t>
            </a:r>
            <a:r>
              <a:rPr lang="en-US" sz="1500" i="1" dirty="0">
                <a:solidFill>
                  <a:srgbClr val="3E4A56"/>
                </a:solidFill>
                <a:latin typeface="IBM Plex Sans" pitchFamily="34" charset="0"/>
                <a:ea typeface="IBM Plex Sans" pitchFamily="34" charset="-122"/>
                <a:cs typeface="IBM Plex Sans" pitchFamily="34" charset="-120"/>
              </a:rPr>
              <a:t>b</a:t>
            </a:r>
            <a:r>
              <a:rPr lang="en-US" sz="1500" dirty="0">
                <a:solidFill>
                  <a:srgbClr val="3E4A56"/>
                </a:solidFill>
                <a:latin typeface="IBM Plex Sans" pitchFamily="34" charset="0"/>
                <a:ea typeface="IBM Plex Sans" pitchFamily="34" charset="-122"/>
                <a:cs typeface="IBM Plex Sans" pitchFamily="34" charset="-120"/>
              </a:rPr>
              <a:t> in batch l. Both must land at the same shared time: </a:t>
            </a:r>
            <a:r>
              <a:rPr lang="en-US" sz="1500" b="1" dirty="0">
                <a:solidFill>
                  <a:srgbClr val="3E4A56"/>
                </a:solidFill>
                <a:latin typeface="IBM Plex Sans" pitchFamily="34" charset="0"/>
                <a:ea typeface="IBM Plex Sans" pitchFamily="34" charset="-122"/>
                <a:cs typeface="IBM Plex Sans" pitchFamily="34" charset="-120"/>
              </a:rPr>
              <a:t>fₖ(a) = fₗ(b)</a:t>
            </a:r>
            <a:r>
              <a:rPr lang="en-US" sz="1500" dirty="0">
                <a:solidFill>
                  <a:srgbClr val="3E4A56"/>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6248391" y="1828688"/>
            <a:ext cx="5284752"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Put every batch’s unknowns in one long vector θ, in </a:t>
            </a:r>
            <a:r>
              <a:rPr lang="en-US" sz="1500" b="1" dirty="0">
                <a:solidFill>
                  <a:srgbClr val="3E4A56"/>
                </a:solidFill>
                <a:latin typeface="IBM Plex Sans" pitchFamily="34" charset="0"/>
                <a:ea typeface="IBM Plex Sans" pitchFamily="34" charset="-122"/>
                <a:cs typeface="IBM Plex Sans" pitchFamily="34" charset="-120"/>
              </a:rPr>
              <a:t>tiles</a:t>
            </a:r>
            <a:r>
              <a:rPr lang="en-US" sz="1500" dirty="0">
                <a:solidFill>
                  <a:srgbClr val="3E4A56"/>
                </a:solidFill>
                <a:latin typeface="IBM Plex Sans" pitchFamily="34" charset="0"/>
                <a:ea typeface="IBM Plex Sans" pitchFamily="34" charset="-122"/>
                <a:cs typeface="IBM Plex Sans" pitchFamily="34" charset="-120"/>
              </a:rPr>
              <a:t>: one tile of knot values per batch. The anchor only touches the tiles of its own two batches.</a:t>
            </a:r>
            <a:endParaRPr lang="en-US" sz="1500" dirty="0"/>
          </a:p>
        </p:txBody>
      </p:sp>
      <p:sp>
        <p:nvSpPr>
          <p:cNvPr id="6" name="Shape 4"/>
          <p:cNvSpPr/>
          <p:nvPr/>
        </p:nvSpPr>
        <p:spPr>
          <a:xfrm>
            <a:off x="815957" y="2914433"/>
            <a:ext cx="10560086" cy="1676310"/>
          </a:xfrm>
          <a:prstGeom prst="roundRect">
            <a:avLst>
              <a:gd name="adj" fmla="val 5872"/>
            </a:avLst>
          </a:prstGeom>
          <a:solidFill>
            <a:srgbClr val="FDFCF9"/>
          </a:solidFill>
          <a:ln w="6350">
            <a:solidFill>
              <a:srgbClr val="D3DAE0"/>
            </a:solidFill>
            <a:prstDash val="solid"/>
          </a:ln>
        </p:spPr>
      </p:sp>
      <p:sp>
        <p:nvSpPr>
          <p:cNvPr id="7" name="Text 5"/>
          <p:cNvSpPr/>
          <p:nvPr/>
        </p:nvSpPr>
        <p:spPr>
          <a:xfrm>
            <a:off x="1072555" y="3171031"/>
            <a:ext cx="10348297"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Example: 2 batches, knots at 0, 100, 200. An anchor at </a:t>
            </a:r>
            <a:r>
              <a:rPr lang="en-US" sz="1400" i="1" dirty="0">
                <a:solidFill>
                  <a:srgbClr val="3E4A56"/>
                </a:solidFill>
                <a:latin typeface="IBM Plex Sans" pitchFamily="34" charset="0"/>
                <a:ea typeface="IBM Plex Sans" pitchFamily="34" charset="-122"/>
                <a:cs typeface="IBM Plex Sans" pitchFamily="34" charset="-120"/>
              </a:rPr>
              <a:t>a</a:t>
            </a:r>
            <a:r>
              <a:rPr lang="en-US" sz="1400" dirty="0">
                <a:solidFill>
                  <a:srgbClr val="3E4A56"/>
                </a:solidFill>
                <a:latin typeface="IBM Plex Sans" pitchFamily="34" charset="0"/>
                <a:ea typeface="IBM Plex Sans" pitchFamily="34" charset="-122"/>
                <a:cs typeface="IBM Plex Sans" pitchFamily="34" charset="-120"/>
              </a:rPr>
              <a:t> = 50 in batch 0 and </a:t>
            </a:r>
            <a:r>
              <a:rPr lang="en-US" sz="1400" i="1" dirty="0">
                <a:solidFill>
                  <a:srgbClr val="3E4A56"/>
                </a:solidFill>
                <a:latin typeface="IBM Plex Sans" pitchFamily="34" charset="0"/>
                <a:ea typeface="IBM Plex Sans" pitchFamily="34" charset="-122"/>
                <a:cs typeface="IBM Plex Sans" pitchFamily="34" charset="-120"/>
              </a:rPr>
              <a:t>b</a:t>
            </a:r>
            <a:r>
              <a:rPr lang="en-US" sz="1400" dirty="0">
                <a:solidFill>
                  <a:srgbClr val="3E4A56"/>
                </a:solidFill>
                <a:latin typeface="IBM Plex Sans" pitchFamily="34" charset="0"/>
                <a:ea typeface="IBM Plex Sans" pitchFamily="34" charset="-122"/>
                <a:cs typeface="IBM Plex Sans" pitchFamily="34" charset="-120"/>
              </a:rPr>
              <a:t> = 150 in batch 1.</a:t>
            </a:r>
            <a:endParaRPr lang="en-US" sz="1400" dirty="0"/>
          </a:p>
        </p:txBody>
      </p:sp>
      <p:sp>
        <p:nvSpPr>
          <p:cNvPr id="8" name="Text 6"/>
          <p:cNvSpPr/>
          <p:nvPr/>
        </p:nvSpPr>
        <p:spPr>
          <a:xfrm>
            <a:off x="1072555" y="3546890"/>
            <a:ext cx="24591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F"/>
                </a:solidFill>
                <a:latin typeface="IBM Plex Sans" pitchFamily="34" charset="0"/>
                <a:ea typeface="IBM Plex Sans" pitchFamily="34" charset="-122"/>
                <a:cs typeface="IBM Plex Sans" pitchFamily="34" charset="-120"/>
              </a:rPr>
              <a:t>batch 0’s tile: +B(50)L</a:t>
            </a:r>
            <a:endParaRPr lang="en-US" sz="1200" dirty="0"/>
          </a:p>
        </p:txBody>
      </p:sp>
      <p:sp>
        <p:nvSpPr>
          <p:cNvPr id="9" name="Text 7"/>
          <p:cNvSpPr/>
          <p:nvPr/>
        </p:nvSpPr>
        <p:spPr>
          <a:xfrm>
            <a:off x="1072555" y="3810992"/>
            <a:ext cx="762000" cy="523153"/>
          </a:xfrm>
          <a:prstGeom prst="roundRect">
            <a:avLst>
              <a:gd name="adj" fmla="val 9710"/>
            </a:avLst>
          </a:prstGeom>
          <a:solidFill>
            <a:srgbClr val="DCE7F6"/>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1</a:t>
            </a:r>
            <a:endParaRPr lang="en-US" sz="1800" dirty="0"/>
          </a:p>
        </p:txBody>
      </p:sp>
      <p:sp>
        <p:nvSpPr>
          <p:cNvPr id="10" name="Text 8"/>
          <p:cNvSpPr/>
          <p:nvPr/>
        </p:nvSpPr>
        <p:spPr>
          <a:xfrm>
            <a:off x="1885337" y="3810992"/>
            <a:ext cx="762000" cy="523153"/>
          </a:xfrm>
          <a:prstGeom prst="roundRect">
            <a:avLst>
              <a:gd name="adj" fmla="val 9710"/>
            </a:avLst>
          </a:prstGeom>
          <a:solidFill>
            <a:srgbClr val="DCE7F6"/>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0.5</a:t>
            </a:r>
            <a:endParaRPr lang="en-US" sz="1800" dirty="0"/>
          </a:p>
        </p:txBody>
      </p:sp>
      <p:sp>
        <p:nvSpPr>
          <p:cNvPr id="11" name="Text 9"/>
          <p:cNvSpPr/>
          <p:nvPr/>
        </p:nvSpPr>
        <p:spPr>
          <a:xfrm>
            <a:off x="2698118" y="3810992"/>
            <a:ext cx="762000" cy="523153"/>
          </a:xfrm>
          <a:prstGeom prst="roundRect">
            <a:avLst>
              <a:gd name="adj" fmla="val 9710"/>
            </a:avLst>
          </a:prstGeom>
          <a:solidFill>
            <a:srgbClr val="DCE7F6"/>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0</a:t>
            </a:r>
            <a:endParaRPr lang="en-US" sz="1800" dirty="0"/>
          </a:p>
        </p:txBody>
      </p:sp>
      <p:sp>
        <p:nvSpPr>
          <p:cNvPr id="12" name="Text 10"/>
          <p:cNvSpPr/>
          <p:nvPr/>
        </p:nvSpPr>
        <p:spPr>
          <a:xfrm>
            <a:off x="3612509" y="3546890"/>
            <a:ext cx="24591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20F"/>
                </a:solidFill>
                <a:latin typeface="IBM Plex Sans" pitchFamily="34" charset="0"/>
                <a:ea typeface="IBM Plex Sans" pitchFamily="34" charset="-122"/>
                <a:cs typeface="IBM Plex Sans" pitchFamily="34" charset="-120"/>
              </a:rPr>
              <a:t>batch 1’s tile: −B(150)L</a:t>
            </a:r>
            <a:endParaRPr lang="en-US" sz="1200" dirty="0"/>
          </a:p>
        </p:txBody>
      </p:sp>
      <p:sp>
        <p:nvSpPr>
          <p:cNvPr id="13" name="Text 11"/>
          <p:cNvSpPr/>
          <p:nvPr/>
        </p:nvSpPr>
        <p:spPr>
          <a:xfrm>
            <a:off x="3612509" y="3810992"/>
            <a:ext cx="762000" cy="523153"/>
          </a:xfrm>
          <a:prstGeom prst="roundRect">
            <a:avLst>
              <a:gd name="adj" fmla="val 9710"/>
            </a:avLst>
          </a:prstGeom>
          <a:solidFill>
            <a:srgbClr val="F5E2D3"/>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−1</a:t>
            </a:r>
            <a:endParaRPr lang="en-US" sz="1800" dirty="0"/>
          </a:p>
        </p:txBody>
      </p:sp>
      <p:sp>
        <p:nvSpPr>
          <p:cNvPr id="14" name="Text 12"/>
          <p:cNvSpPr/>
          <p:nvPr/>
        </p:nvSpPr>
        <p:spPr>
          <a:xfrm>
            <a:off x="4425292" y="3810992"/>
            <a:ext cx="762000" cy="523153"/>
          </a:xfrm>
          <a:prstGeom prst="roundRect">
            <a:avLst>
              <a:gd name="adj" fmla="val 9710"/>
            </a:avLst>
          </a:prstGeom>
          <a:solidFill>
            <a:srgbClr val="F5E2D3"/>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−1</a:t>
            </a:r>
            <a:endParaRPr lang="en-US" sz="1800" dirty="0"/>
          </a:p>
        </p:txBody>
      </p:sp>
      <p:sp>
        <p:nvSpPr>
          <p:cNvPr id="15" name="Text 13"/>
          <p:cNvSpPr/>
          <p:nvPr/>
        </p:nvSpPr>
        <p:spPr>
          <a:xfrm>
            <a:off x="5238073" y="3810992"/>
            <a:ext cx="762000" cy="523153"/>
          </a:xfrm>
          <a:prstGeom prst="roundRect">
            <a:avLst>
              <a:gd name="adj" fmla="val 9710"/>
            </a:avLst>
          </a:prstGeom>
          <a:solidFill>
            <a:srgbClr val="F5E2D3"/>
          </a:solidFill>
          <a:ln/>
        </p:spPr>
        <p:txBody>
          <a:bodyPr wrap="square" lIns="61321" tIns="86721" rIns="61321" bIns="61321" rtlCol="0" anchor="t">
            <a:normAutofit/>
          </a:bodyPr>
          <a:lstStyle/>
          <a:p>
            <a:pPr algn="ctr"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−0.5</a:t>
            </a:r>
            <a:endParaRPr lang="en-US" sz="1800" dirty="0"/>
          </a:p>
        </p:txBody>
      </p:sp>
      <p:sp>
        <p:nvSpPr>
          <p:cNvPr id="16" name="Text 14"/>
          <p:cNvSpPr/>
          <p:nvPr/>
        </p:nvSpPr>
        <p:spPr>
          <a:xfrm>
            <a:off x="6254064" y="3912592"/>
            <a:ext cx="4906694" cy="34535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3A"/>
                </a:solidFill>
                <a:latin typeface="JetBrains Mono" pitchFamily="49" charset="0"/>
                <a:ea typeface="JetBrains Mono" pitchFamily="49" charset="-122"/>
                <a:cs typeface="JetBrains Mono" pitchFamily="49" charset="-120"/>
              </a:rPr>
              <a:t>target y = b − a = 100</a:t>
            </a:r>
            <a:endParaRPr lang="en-US" sz="1800" dirty="0"/>
          </a:p>
        </p:txBody>
      </p:sp>
      <p:sp>
        <p:nvSpPr>
          <p:cNvPr id="17" name="Text 15"/>
          <p:cNvSpPr/>
          <p:nvPr/>
        </p:nvSpPr>
        <p:spPr>
          <a:xfrm>
            <a:off x="812782" y="4847915"/>
            <a:ext cx="10883429"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IBM Plex Sans" pitchFamily="34" charset="0"/>
                <a:ea typeface="IBM Plex Sans" pitchFamily="34" charset="-122"/>
                <a:cs typeface="IBM Plex Sans" pitchFamily="34" charset="-120"/>
              </a:rPr>
              <a:t>Stack one row per anchor into </a:t>
            </a:r>
            <a:r>
              <a:rPr lang="en-US" sz="1600" b="1" dirty="0">
                <a:solidFill>
                  <a:srgbClr val="1B2A3A"/>
                </a:solidFill>
                <a:latin typeface="IBM Plex Sans" pitchFamily="34" charset="0"/>
                <a:ea typeface="IBM Plex Sans" pitchFamily="34" charset="-122"/>
                <a:cs typeface="IBM Plex Sans" pitchFamily="34" charset="-120"/>
              </a:rPr>
              <a:t>X</a:t>
            </a:r>
            <a:r>
              <a:rPr lang="en-US" sz="1600" dirty="0">
                <a:solidFill>
                  <a:srgbClr val="1B2A3A"/>
                </a:solidFill>
                <a:latin typeface="IBM Plex Sans" pitchFamily="34" charset="0"/>
                <a:ea typeface="IBM Plex Sans" pitchFamily="34" charset="-122"/>
                <a:cs typeface="IBM Plex Sans" pitchFamily="34" charset="-120"/>
              </a:rPr>
              <a:t>. The misses are </a:t>
            </a:r>
            <a:r>
              <a:rPr lang="en-US" sz="1600" b="1" dirty="0">
                <a:solidFill>
                  <a:srgbClr val="1B2A3A"/>
                </a:solidFill>
                <a:latin typeface="IBM Plex Sans" pitchFamily="34" charset="0"/>
                <a:ea typeface="IBM Plex Sans" pitchFamily="34" charset="-122"/>
                <a:cs typeface="IBM Plex Sans" pitchFamily="34" charset="-120"/>
              </a:rPr>
              <a:t>r = Xθ − y</a:t>
            </a:r>
            <a:r>
              <a:rPr lang="en-US" sz="1600" dirty="0">
                <a:solidFill>
                  <a:srgbClr val="1B2A3A"/>
                </a:solidFill>
                <a:latin typeface="IBM Plex Sans" pitchFamily="34" charset="0"/>
                <a:ea typeface="IBM Plex Sans" pitchFamily="34" charset="-122"/>
                <a:cs typeface="IBM Plex Sans" pitchFamily="34" charset="-120"/>
              </a:rPr>
              <a:t>: the least-squares problem from the refresher.</a:t>
            </a:r>
            <a:endParaRPr lang="en-US" sz="1600" dirty="0"/>
          </a:p>
        </p:txBody>
      </p:sp>
      <p:sp>
        <p:nvSpPr>
          <p:cNvPr id="18" name="Text 16"/>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6–7 · Each miss is r = a − b + dₖ(a) − dₗ(b) (paper Eq. 3). The fish data give 25,011 rows.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29295"/>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F6FBF"/>
                </a:solidFill>
                <a:latin typeface="IBM Plex Sans" pitchFamily="34" charset="0"/>
                <a:ea typeface="IBM Plex Sans" pitchFamily="34" charset="-122"/>
                <a:cs typeface="IBM Plex Sans" pitchFamily="34" charset="-120"/>
              </a:rPr>
              <a:t>8 · THE GAUGE</a:t>
            </a:r>
            <a:endParaRPr lang="en-US" sz="1159" dirty="0"/>
          </a:p>
        </p:txBody>
      </p:sp>
      <p:sp>
        <p:nvSpPr>
          <p:cNvPr id="3" name="Text 1"/>
          <p:cNvSpPr/>
          <p:nvPr>
            <p:ph type="title"/>
          </p:nvPr>
        </p:nvSpPr>
        <p:spPr>
          <a:xfrm>
            <a:off x="812782" y="1118239"/>
            <a:ext cx="10883429" cy="452672"/>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B2A3A"/>
                </a:solidFill>
                <a:latin typeface="Source Serif 4" pitchFamily="18" charset="0"/>
                <a:ea typeface="Source Serif 4" pitchFamily="18" charset="-122"/>
                <a:cs typeface="Source Serif 4" pitchFamily="18" charset="-120"/>
              </a:rPr>
              <a:t>The data can’t tell where the shared clock starts</a:t>
            </a:r>
            <a:endParaRPr lang="en-US" sz="3060" dirty="0"/>
          </a:p>
        </p:txBody>
      </p:sp>
      <p:sp>
        <p:nvSpPr>
          <p:cNvPr id="4" name="Shape 2"/>
          <p:cNvSpPr/>
          <p:nvPr/>
        </p:nvSpPr>
        <p:spPr>
          <a:xfrm>
            <a:off x="815957" y="1828074"/>
            <a:ext cx="10560086" cy="1378248"/>
          </a:xfrm>
          <a:prstGeom prst="roundRect">
            <a:avLst>
              <a:gd name="adj" fmla="val 7141"/>
            </a:avLst>
          </a:prstGeom>
          <a:solidFill>
            <a:srgbClr val="FDFCF9"/>
          </a:solidFill>
          <a:ln w="6350">
            <a:solidFill>
              <a:srgbClr val="D3DAE0"/>
            </a:solidFill>
            <a:prstDash val="solid"/>
          </a:ln>
        </p:spPr>
      </p:sp>
      <p:sp>
        <p:nvSpPr>
          <p:cNvPr id="5" name="Text 3"/>
          <p:cNvSpPr/>
          <p:nvPr/>
        </p:nvSpPr>
        <p:spPr>
          <a:xfrm>
            <a:off x="1047119" y="2059236"/>
            <a:ext cx="10400696" cy="280933"/>
          </a:xfrm>
          <a:prstGeom prst="rect">
            <a:avLst/>
          </a:prstGeom>
          <a:noFill/>
          <a:ln/>
        </p:spPr>
        <p:txBody>
          <a:bodyPr wrap="square" lIns="0" tIns="0" rIns="0" bIns="0" rtlCol="0" anchor="t">
            <a:normAutofit/>
          </a:bodyPr>
          <a:lstStyle/>
          <a:p>
            <a:pPr algn="l" indent="0" marL="0">
              <a:lnSpc>
                <a:spcPts val="2021"/>
              </a:lnSpc>
              <a:buNone/>
            </a:pPr>
            <a:r>
              <a:rPr lang="en-US" sz="1444" dirty="0">
                <a:solidFill>
                  <a:srgbClr val="3E4A56"/>
                </a:solidFill>
                <a:latin typeface="IBM Plex Sans" pitchFamily="34" charset="0"/>
                <a:ea typeface="IBM Plex Sans" pitchFamily="34" charset="-122"/>
                <a:cs typeface="IBM Plex Sans" pitchFamily="34" charset="-120"/>
              </a:rPr>
              <a:t>Anchor: </a:t>
            </a:r>
            <a:r>
              <a:rPr lang="en-US" sz="1444" i="1" dirty="0">
                <a:solidFill>
                  <a:srgbClr val="3E4A56"/>
                </a:solidFill>
                <a:latin typeface="IBM Plex Sans" pitchFamily="34" charset="0"/>
                <a:ea typeface="IBM Plex Sans" pitchFamily="34" charset="-122"/>
                <a:cs typeface="IBM Plex Sans" pitchFamily="34" charset="-120"/>
              </a:rPr>
              <a:t>a</a:t>
            </a:r>
            <a:r>
              <a:rPr lang="en-US" sz="1444" dirty="0">
                <a:solidFill>
                  <a:srgbClr val="3E4A56"/>
                </a:solidFill>
                <a:latin typeface="IBM Plex Sans" pitchFamily="34" charset="0"/>
                <a:ea typeface="IBM Plex Sans" pitchFamily="34" charset="-122"/>
                <a:cs typeface="IBM Plex Sans" pitchFamily="34" charset="-120"/>
              </a:rPr>
              <a:t> = 50 in batch 0, </a:t>
            </a:r>
            <a:r>
              <a:rPr lang="en-US" sz="1444" i="1" dirty="0">
                <a:solidFill>
                  <a:srgbClr val="3E4A56"/>
                </a:solidFill>
                <a:latin typeface="IBM Plex Sans" pitchFamily="34" charset="0"/>
                <a:ea typeface="IBM Plex Sans" pitchFamily="34" charset="-122"/>
                <a:cs typeface="IBM Plex Sans" pitchFamily="34" charset="-120"/>
              </a:rPr>
              <a:t>b</a:t>
            </a:r>
            <a:r>
              <a:rPr lang="en-US" sz="1444" dirty="0">
                <a:solidFill>
                  <a:srgbClr val="3E4A56"/>
                </a:solidFill>
                <a:latin typeface="IBM Plex Sans" pitchFamily="34" charset="0"/>
                <a:ea typeface="IBM Plex Sans" pitchFamily="34" charset="-122"/>
                <a:cs typeface="IBM Plex Sans" pitchFamily="34" charset="-120"/>
              </a:rPr>
              <a:t> = 56 in batch 1. The miss is r = a − b + d₀ − d₁.</a:t>
            </a:r>
            <a:endParaRPr lang="en-US" sz="1444" dirty="0"/>
          </a:p>
        </p:txBody>
      </p:sp>
      <p:sp>
        <p:nvSpPr>
          <p:cNvPr id="6" name="Text 4"/>
          <p:cNvSpPr/>
          <p:nvPr/>
        </p:nvSpPr>
        <p:spPr>
          <a:xfrm>
            <a:off x="1047119" y="2390942"/>
            <a:ext cx="10400696" cy="609618"/>
          </a:xfrm>
          <a:prstGeom prst="rect">
            <a:avLst/>
          </a:prstGeom>
          <a:noFill/>
          <a:ln/>
        </p:spPr>
        <p:txBody>
          <a:bodyPr wrap="square" lIns="0" tIns="0" rIns="0" bIns="0" rtlCol="0" anchor="t">
            <a:normAutofit/>
          </a:bodyPr>
          <a:lstStyle/>
          <a:p>
            <a:pPr algn="l" indent="0" marL="0">
              <a:lnSpc>
                <a:spcPts val="2310"/>
              </a:lnSpc>
              <a:buNone/>
            </a:pPr>
            <a:r>
              <a:rPr lang="en-US" sz="1444" dirty="0">
                <a:solidFill>
                  <a:srgbClr val="1B2A3A"/>
                </a:solidFill>
                <a:latin typeface="JetBrains Mono" pitchFamily="49" charset="0"/>
                <a:ea typeface="JetBrains Mono" pitchFamily="49" charset="-122"/>
                <a:cs typeface="JetBrains Mono" pitchFamily="49" charset="-120"/>
              </a:rPr>
              <a:t>d₀ = 0, d₁ = −6: 50 − 56 + 0 − (−6) = 0</a:t>
            </a:r>
            <a:endParaRPr lang="en-US" sz="1444" dirty="0"/>
          </a:p>
          <a:p>
            <a:pPr algn="l" indent="0" marL="0">
              <a:lnSpc>
                <a:spcPts val="2310"/>
              </a:lnSpc>
              <a:buNone/>
            </a:pPr>
            <a:r>
              <a:rPr lang="en-US" sz="1444" dirty="0">
                <a:solidFill>
                  <a:srgbClr val="1B2A3A"/>
                </a:solidFill>
                <a:latin typeface="JetBrains Mono" pitchFamily="49" charset="0"/>
                <a:ea typeface="JetBrains Mono" pitchFamily="49" charset="-122"/>
                <a:cs typeface="JetBrains Mono" pitchFamily="49" charset="-120"/>
              </a:rPr>
              <a:t>add 1 to both: 50 − 56 + 1 − (−5) = 0 </a:t>
            </a:r>
            <a:r>
              <a:rPr lang="en-US" sz="1444" dirty="0">
                <a:solidFill>
                  <a:srgbClr val="A9520F"/>
                </a:solidFill>
                <a:latin typeface="JetBrains Mono" pitchFamily="49" charset="0"/>
                <a:ea typeface="JetBrains Mono" pitchFamily="49" charset="-122"/>
                <a:cs typeface="JetBrains Mono" pitchFamily="49" charset="-120"/>
              </a:rPr>
              <a:t>same miss</a:t>
            </a:r>
            <a:endParaRPr lang="en-US" sz="1444" dirty="0"/>
          </a:p>
        </p:txBody>
      </p:sp>
      <p:sp>
        <p:nvSpPr>
          <p:cNvPr id="7" name="Text 5"/>
          <p:cNvSpPr/>
          <p:nvPr/>
        </p:nvSpPr>
        <p:spPr>
          <a:xfrm>
            <a:off x="812782" y="3488891"/>
            <a:ext cx="10883429" cy="556626"/>
          </a:xfrm>
          <a:prstGeom prst="rect">
            <a:avLst/>
          </a:prstGeom>
          <a:noFill/>
          <a:ln/>
        </p:spPr>
        <p:txBody>
          <a:bodyPr wrap="square" lIns="0" tIns="0" rIns="0" bIns="0" rtlCol="0" anchor="t">
            <a:normAutofit/>
          </a:bodyPr>
          <a:lstStyle/>
          <a:p>
            <a:pPr algn="l" indent="0" marL="0">
              <a:lnSpc>
                <a:spcPts val="2107"/>
              </a:lnSpc>
              <a:buNone/>
            </a:pPr>
            <a:r>
              <a:rPr lang="en-US" sz="1453" dirty="0">
                <a:solidFill>
                  <a:srgbClr val="3E4A56"/>
                </a:solidFill>
                <a:latin typeface="IBM Plex Sans" pitchFamily="34" charset="0"/>
                <a:ea typeface="IBM Plex Sans" pitchFamily="34" charset="-122"/>
                <a:cs typeface="IBM Plex Sans" pitchFamily="34" charset="-120"/>
              </a:rPr>
              <a:t>Anchors only say where batches sit </a:t>
            </a:r>
            <a:r>
              <a:rPr lang="en-US" sz="1453" b="1" dirty="0">
                <a:solidFill>
                  <a:srgbClr val="3E4A56"/>
                </a:solidFill>
                <a:latin typeface="IBM Plex Sans" pitchFamily="34" charset="0"/>
                <a:ea typeface="IBM Plex Sans" pitchFamily="34" charset="-122"/>
                <a:cs typeface="IBM Plex Sans" pitchFamily="34" charset="-120"/>
              </a:rPr>
              <a:t>relative to each other</a:t>
            </a:r>
            <a:r>
              <a:rPr lang="en-US" sz="1453" dirty="0">
                <a:solidFill>
                  <a:srgbClr val="3E4A56"/>
                </a:solidFill>
                <a:latin typeface="IBM Plex Sans" pitchFamily="34" charset="0"/>
                <a:ea typeface="IBM Plex Sans" pitchFamily="34" charset="-122"/>
                <a:cs typeface="IBM Plex Sans" pitchFamily="34" charset="-120"/>
              </a:rPr>
              <a:t>. Shift every drift by the same constant and nothing changes, so XᵀX is singular, exactly as in the refresher. We add one extra rule:</a:t>
            </a:r>
            <a:endParaRPr lang="en-US" sz="1453" dirty="0"/>
          </a:p>
        </p:txBody>
      </p:sp>
      <p:sp>
        <p:nvSpPr>
          <p:cNvPr id="8" name="Shape 6"/>
          <p:cNvSpPr/>
          <p:nvPr/>
        </p:nvSpPr>
        <p:spPr>
          <a:xfrm>
            <a:off x="819132" y="4305858"/>
            <a:ext cx="5174681" cy="1529791"/>
          </a:xfrm>
          <a:prstGeom prst="roundRect">
            <a:avLst>
              <a:gd name="adj" fmla="val 6226"/>
            </a:avLst>
          </a:prstGeom>
          <a:solidFill>
            <a:srgbClr val="FDFCF9"/>
          </a:solidFill>
          <a:ln w="12700">
            <a:solidFill>
              <a:srgbClr val="2F6FBF"/>
            </a:solidFill>
            <a:prstDash val="solid"/>
          </a:ln>
        </p:spPr>
      </p:sp>
      <p:sp>
        <p:nvSpPr>
          <p:cNvPr id="9" name="Text 7"/>
          <p:cNvSpPr/>
          <p:nvPr/>
        </p:nvSpPr>
        <p:spPr>
          <a:xfrm>
            <a:off x="1052891" y="4539617"/>
            <a:ext cx="4848378" cy="283594"/>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1B2A3A"/>
                </a:solidFill>
                <a:latin typeface="IBM Plex Sans" pitchFamily="34" charset="0"/>
                <a:ea typeface="IBM Plex Sans" pitchFamily="34" charset="-122"/>
                <a:cs typeface="IBM Plex Sans" pitchFamily="34" charset="-120"/>
              </a:rPr>
              <a:t>Reference gauge (used in the paper)</a:t>
            </a:r>
            <a:endParaRPr lang="en-US" sz="1727" dirty="0"/>
          </a:p>
        </p:txBody>
      </p:sp>
      <p:sp>
        <p:nvSpPr>
          <p:cNvPr id="10" name="Text 8"/>
          <p:cNvSpPr/>
          <p:nvPr/>
        </p:nvSpPr>
        <p:spPr>
          <a:xfrm>
            <a:off x="1052891" y="4873985"/>
            <a:ext cx="4848378" cy="753305"/>
          </a:xfrm>
          <a:prstGeom prst="rect">
            <a:avLst/>
          </a:prstGeom>
          <a:noFill/>
          <a:ln/>
        </p:spPr>
        <p:txBody>
          <a:bodyPr wrap="square" lIns="0" tIns="0" rIns="0" bIns="0" rtlCol="0" anchor="t">
            <a:normAutofit/>
          </a:bodyPr>
          <a:lstStyle/>
          <a:p>
            <a:pPr algn="l" indent="0" marL="0">
              <a:lnSpc>
                <a:spcPts val="1935"/>
              </a:lnSpc>
              <a:buNone/>
            </a:pPr>
            <a:r>
              <a:rPr lang="en-US" sz="1334" dirty="0">
                <a:solidFill>
                  <a:srgbClr val="3E4A56"/>
                </a:solidFill>
                <a:latin typeface="IBM Plex Sans" pitchFamily="34" charset="0"/>
                <a:ea typeface="IBM Plex Sans" pitchFamily="34" charset="-122"/>
                <a:cs typeface="IBM Plex Sans" pitchFamily="34" charset="-120"/>
              </a:rPr>
              <a:t>Pin one batch’s drift to 0. The shared clock is then that batch’s own clock: sep2015, the batch with the most anchors.</a:t>
            </a:r>
            <a:endParaRPr lang="en-US" sz="1334" dirty="0"/>
          </a:p>
        </p:txBody>
      </p:sp>
      <p:sp>
        <p:nvSpPr>
          <p:cNvPr id="11" name="Shape 9"/>
          <p:cNvSpPr/>
          <p:nvPr/>
        </p:nvSpPr>
        <p:spPr>
          <a:xfrm>
            <a:off x="6206511" y="4302683"/>
            <a:ext cx="5169531" cy="1536141"/>
          </a:xfrm>
          <a:prstGeom prst="roundRect">
            <a:avLst>
              <a:gd name="adj" fmla="val 6407"/>
            </a:avLst>
          </a:prstGeom>
          <a:solidFill>
            <a:srgbClr val="FDFCF9"/>
          </a:solidFill>
          <a:ln w="6350">
            <a:solidFill>
              <a:srgbClr val="D3DAE0"/>
            </a:solidFill>
            <a:prstDash val="solid"/>
          </a:ln>
        </p:spPr>
      </p:sp>
      <p:sp>
        <p:nvSpPr>
          <p:cNvPr id="12" name="Text 10"/>
          <p:cNvSpPr/>
          <p:nvPr/>
        </p:nvSpPr>
        <p:spPr>
          <a:xfrm>
            <a:off x="6437673" y="4533844"/>
            <a:ext cx="4848424"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Mean gauge</a:t>
            </a:r>
            <a:endParaRPr lang="en-US" sz="1800" dirty="0"/>
          </a:p>
        </p:txBody>
      </p:sp>
      <p:sp>
        <p:nvSpPr>
          <p:cNvPr id="13" name="Text 11"/>
          <p:cNvSpPr/>
          <p:nvPr/>
        </p:nvSpPr>
        <p:spPr>
          <a:xfrm>
            <a:off x="6437673" y="4884310"/>
            <a:ext cx="4848424"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Make all the drifts add to 0 at every knot. The shared clock is the batches’ average.</a:t>
            </a:r>
            <a:endParaRPr lang="en-US" sz="1400" dirty="0"/>
          </a:p>
        </p:txBody>
      </p:sp>
      <p:sp>
        <p:nvSpPr>
          <p:cNvPr id="14" name="Text 12"/>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8 · Only a constant shift is truly invisible. The two gauges give maps about 0.2 bins apart in the toy, so the paper leaves the choice open.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9 · THE SMOOTHNESS PENALTY</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Straight lines are free; every bend costs</a:t>
            </a:r>
            <a:endParaRPr lang="en-US" sz="3200" dirty="0"/>
          </a:p>
        </p:txBody>
      </p:sp>
      <p:sp>
        <p:nvSpPr>
          <p:cNvPr id="4" name="Text 2"/>
          <p:cNvSpPr/>
          <p:nvPr/>
        </p:nvSpPr>
        <p:spPr>
          <a:xfrm>
            <a:off x="812782" y="1854082"/>
            <a:ext cx="5284752"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The </a:t>
            </a:r>
            <a:r>
              <a:rPr lang="en-US" sz="1500" b="1" dirty="0">
                <a:solidFill>
                  <a:srgbClr val="3E4A56"/>
                </a:solidFill>
                <a:latin typeface="IBM Plex Sans" pitchFamily="34" charset="0"/>
                <a:ea typeface="IBM Plex Sans" pitchFamily="34" charset="-122"/>
                <a:cs typeface="IBM Plex Sans" pitchFamily="34" charset="-120"/>
              </a:rPr>
              <a:t>second difference</a:t>
            </a:r>
            <a:r>
              <a:rPr lang="en-US" sz="1500" dirty="0">
                <a:solidFill>
                  <a:srgbClr val="3E4A56"/>
                </a:solidFill>
                <a:latin typeface="IBM Plex Sans" pitchFamily="34" charset="0"/>
                <a:ea typeface="IBM Plex Sans" pitchFamily="34" charset="-122"/>
                <a:cs typeface="IBM Plex Sans" pitchFamily="34" charset="-120"/>
              </a:rPr>
              <a:t> of three neighbours x₀, x₁, x₂ is x₀ − 2x₁ + x₂. It measures how much the line bends there.</a:t>
            </a:r>
            <a:endParaRPr lang="en-US" sz="1500" dirty="0"/>
          </a:p>
        </p:txBody>
      </p:sp>
      <p:sp>
        <p:nvSpPr>
          <p:cNvPr id="5" name="Text 3"/>
          <p:cNvSpPr/>
          <p:nvPr/>
        </p:nvSpPr>
        <p:spPr>
          <a:xfrm>
            <a:off x="812782" y="2508021"/>
            <a:ext cx="5284752" cy="594284"/>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(0, 2, 1, 3) → (−3, 3) bends</a:t>
            </a:r>
            <a:endParaRPr lang="en-US" sz="1400" dirty="0"/>
          </a:p>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(0, 1, 2, 3) → (0, 0) straight</a:t>
            </a:r>
            <a:endParaRPr lang="en-US" sz="1400" dirty="0"/>
          </a:p>
        </p:txBody>
      </p:sp>
      <p:sp>
        <p:nvSpPr>
          <p:cNvPr id="6" name="Text 4"/>
          <p:cNvSpPr/>
          <p:nvPr/>
        </p:nvSpPr>
        <p:spPr>
          <a:xfrm>
            <a:off x="6248391" y="1854082"/>
            <a:ext cx="5284752"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We add </a:t>
            </a:r>
            <a:r>
              <a:rPr lang="en-US" sz="1500" b="1" dirty="0">
                <a:solidFill>
                  <a:srgbClr val="3E4A56"/>
                </a:solidFill>
                <a:latin typeface="IBM Plex Sans" pitchFamily="34" charset="0"/>
                <a:ea typeface="IBM Plex Sans" pitchFamily="34" charset="-122"/>
                <a:cs typeface="IBM Plex Sans" pitchFamily="34" charset="-120"/>
              </a:rPr>
              <a:t>λ × (sum of squared second differences)</a:t>
            </a:r>
            <a:r>
              <a:rPr lang="en-US" sz="1500" dirty="0">
                <a:solidFill>
                  <a:srgbClr val="3E4A56"/>
                </a:solidFill>
                <a:latin typeface="IBM Plex Sans" pitchFamily="34" charset="0"/>
                <a:ea typeface="IBM Plex Sans" pitchFamily="34" charset="-122"/>
                <a:cs typeface="IBM Plex Sans" pitchFamily="34" charset="-120"/>
              </a:rPr>
              <a:t> to the misses. λ sets how much we care about bending.</a:t>
            </a:r>
            <a:endParaRPr lang="en-US" sz="1500" dirty="0"/>
          </a:p>
        </p:txBody>
      </p:sp>
      <p:sp>
        <p:nvSpPr>
          <p:cNvPr id="7" name="Text 5"/>
          <p:cNvSpPr/>
          <p:nvPr/>
        </p:nvSpPr>
        <p:spPr>
          <a:xfrm>
            <a:off x="6248391" y="2508021"/>
            <a:ext cx="5284752"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Trick: a penalty is just </a:t>
            </a:r>
            <a:r>
              <a:rPr lang="en-US" sz="1500" b="1" dirty="0">
                <a:solidFill>
                  <a:srgbClr val="3E4A56"/>
                </a:solidFill>
                <a:latin typeface="IBM Plex Sans" pitchFamily="34" charset="0"/>
                <a:ea typeface="IBM Plex Sans" pitchFamily="34" charset="-122"/>
                <a:cs typeface="IBM Plex Sans" pitchFamily="34" charset="-120"/>
              </a:rPr>
              <a:t>extra rows</a:t>
            </a:r>
            <a:r>
              <a:rPr lang="en-US" sz="1500" dirty="0">
                <a:solidFill>
                  <a:srgbClr val="3E4A56"/>
                </a:solidFill>
                <a:latin typeface="IBM Plex Sans" pitchFamily="34" charset="0"/>
                <a:ea typeface="IBM Plex Sans" pitchFamily="34" charset="-122"/>
                <a:cs typeface="IBM Plex Sans" pitchFamily="34" charset="-120"/>
              </a:rPr>
              <a:t> with target 0, so it is still plain least squares.</a:t>
            </a:r>
            <a:endParaRPr lang="en-US" sz="1500" dirty="0"/>
          </a:p>
        </p:txBody>
      </p:sp>
      <p:sp>
        <p:nvSpPr>
          <p:cNvPr id="8" name="Shape 6"/>
          <p:cNvSpPr/>
          <p:nvPr/>
        </p:nvSpPr>
        <p:spPr>
          <a:xfrm>
            <a:off x="815957" y="3359472"/>
            <a:ext cx="3376468" cy="1464297"/>
          </a:xfrm>
          <a:prstGeom prst="roundRect">
            <a:avLst>
              <a:gd name="adj" fmla="val 6722"/>
            </a:avLst>
          </a:prstGeom>
          <a:solidFill>
            <a:srgbClr val="FDFCF9"/>
          </a:solidFill>
          <a:ln w="6350">
            <a:solidFill>
              <a:srgbClr val="D3DAE0"/>
            </a:solidFill>
            <a:prstDash val="solid"/>
          </a:ln>
        </p:spPr>
      </p:sp>
      <p:sp>
        <p:nvSpPr>
          <p:cNvPr id="9" name="Text 7"/>
          <p:cNvSpPr/>
          <p:nvPr/>
        </p:nvSpPr>
        <p:spPr>
          <a:xfrm>
            <a:off x="1021728" y="3565240"/>
            <a:ext cx="305387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9520F"/>
                </a:solidFill>
                <a:latin typeface="IBM Plex Sans" pitchFamily="34" charset="0"/>
                <a:ea typeface="IBM Plex Sans" pitchFamily="34" charset="-122"/>
                <a:cs typeface="IBM Plex Sans" pitchFamily="34" charset="-120"/>
              </a:rPr>
              <a:t>λ too small</a:t>
            </a:r>
            <a:endParaRPr lang="en-US" sz="1600" dirty="0"/>
          </a:p>
        </p:txBody>
      </p:sp>
      <p:sp>
        <p:nvSpPr>
          <p:cNvPr id="10" name="Text 8"/>
          <p:cNvSpPr/>
          <p:nvPr/>
        </p:nvSpPr>
        <p:spPr>
          <a:xfrm>
            <a:off x="1021728" y="3859876"/>
            <a:ext cx="3053875"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The drift wiggles to chase noise in the anchors.</a:t>
            </a:r>
            <a:endParaRPr lang="en-US" sz="1400" dirty="0"/>
          </a:p>
        </p:txBody>
      </p:sp>
      <p:sp>
        <p:nvSpPr>
          <p:cNvPr id="11" name="Shape 9"/>
          <p:cNvSpPr/>
          <p:nvPr/>
        </p:nvSpPr>
        <p:spPr>
          <a:xfrm>
            <a:off x="4405123" y="3362647"/>
            <a:ext cx="3381709" cy="1457947"/>
          </a:xfrm>
          <a:prstGeom prst="roundRect">
            <a:avLst>
              <a:gd name="adj" fmla="val 6533"/>
            </a:avLst>
          </a:prstGeom>
          <a:solidFill>
            <a:srgbClr val="FDFCF9"/>
          </a:solidFill>
          <a:ln w="12700">
            <a:solidFill>
              <a:srgbClr val="2F6FBF"/>
            </a:solidFill>
            <a:prstDash val="solid"/>
          </a:ln>
        </p:spPr>
      </p:sp>
      <p:sp>
        <p:nvSpPr>
          <p:cNvPr id="12" name="Text 10"/>
          <p:cNvSpPr/>
          <p:nvPr/>
        </p:nvSpPr>
        <p:spPr>
          <a:xfrm>
            <a:off x="4613491" y="3571013"/>
            <a:ext cx="305392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BF"/>
                </a:solidFill>
                <a:latin typeface="IBM Plex Sans" pitchFamily="34" charset="0"/>
                <a:ea typeface="IBM Plex Sans" pitchFamily="34" charset="-122"/>
                <a:cs typeface="IBM Plex Sans" pitchFamily="34" charset="-120"/>
              </a:rPr>
              <a:t>λ about right</a:t>
            </a:r>
            <a:endParaRPr lang="en-US" sz="1600" dirty="0"/>
          </a:p>
        </p:txBody>
      </p:sp>
      <p:sp>
        <p:nvSpPr>
          <p:cNvPr id="13" name="Text 11"/>
          <p:cNvSpPr/>
          <p:nvPr/>
        </p:nvSpPr>
        <p:spPr>
          <a:xfrm>
            <a:off x="4613491" y="3865649"/>
            <a:ext cx="3053921" cy="7719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Follows the real drift, ignores the noise. Chosen from data (slide “Choosing λ”).</a:t>
            </a:r>
            <a:endParaRPr lang="en-US" sz="1400" dirty="0"/>
          </a:p>
        </p:txBody>
      </p:sp>
      <p:sp>
        <p:nvSpPr>
          <p:cNvPr id="14" name="Shape 12"/>
          <p:cNvSpPr/>
          <p:nvPr/>
        </p:nvSpPr>
        <p:spPr>
          <a:xfrm>
            <a:off x="7999530" y="3359472"/>
            <a:ext cx="3376513" cy="1464297"/>
          </a:xfrm>
          <a:prstGeom prst="roundRect">
            <a:avLst>
              <a:gd name="adj" fmla="val 6722"/>
            </a:avLst>
          </a:prstGeom>
          <a:solidFill>
            <a:srgbClr val="FDFCF9"/>
          </a:solidFill>
          <a:ln w="6350">
            <a:solidFill>
              <a:srgbClr val="D3DAE0"/>
            </a:solidFill>
            <a:prstDash val="solid"/>
          </a:ln>
        </p:spPr>
      </p:sp>
      <p:sp>
        <p:nvSpPr>
          <p:cNvPr id="15" name="Text 13"/>
          <p:cNvSpPr/>
          <p:nvPr/>
        </p:nvSpPr>
        <p:spPr>
          <a:xfrm>
            <a:off x="8205300" y="3565240"/>
            <a:ext cx="305392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9520F"/>
                </a:solidFill>
                <a:latin typeface="IBM Plex Sans" pitchFamily="34" charset="0"/>
                <a:ea typeface="IBM Plex Sans" pitchFamily="34" charset="-122"/>
                <a:cs typeface="IBM Plex Sans" pitchFamily="34" charset="-120"/>
              </a:rPr>
              <a:t>λ too large</a:t>
            </a:r>
            <a:endParaRPr lang="en-US" sz="1600" dirty="0"/>
          </a:p>
        </p:txBody>
      </p:sp>
      <p:sp>
        <p:nvSpPr>
          <p:cNvPr id="16" name="Text 14"/>
          <p:cNvSpPr/>
          <p:nvPr/>
        </p:nvSpPr>
        <p:spPr>
          <a:xfrm>
            <a:off x="8205300" y="3859876"/>
            <a:ext cx="3053921" cy="52311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Only a straight line is cheap enough, so real bumps are missed.</a:t>
            </a:r>
            <a:endParaRPr lang="en-US" sz="1400" dirty="0"/>
          </a:p>
        </p:txBody>
      </p:sp>
      <p:sp>
        <p:nvSpPr>
          <p:cNvPr id="17" name="Text 15"/>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9 · λ is scaled by the number of anchors, so one λ means the same smoothness with 600 or 25,000 anchors. Paper Eq. 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10 · BOUNDS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Bounds keep every warp running forwards</a:t>
            </a:r>
            <a:endParaRPr lang="en-US" sz="3200" dirty="0"/>
          </a:p>
        </p:txBody>
      </p:sp>
      <p:sp>
        <p:nvSpPr>
          <p:cNvPr id="4" name="Text 2"/>
          <p:cNvSpPr/>
          <p:nvPr/>
        </p:nvSpPr>
        <p:spPr>
          <a:xfrm>
            <a:off x="812782" y="1879470"/>
            <a:ext cx="10883429"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Two mismatched anchors can tempt the fit to run a batch’s clock backwards for a stretch. The increments trick turned “slope between 0.5 and 2” into simple limits on each step δ. With knots 9.95 bins apart: </a:t>
            </a:r>
            <a:r>
              <a:rPr lang="en-US" sz="1500" b="1" dirty="0">
                <a:solidFill>
                  <a:srgbClr val="3E4A56"/>
                </a:solidFill>
                <a:latin typeface="IBM Plex Sans" pitchFamily="34" charset="0"/>
                <a:ea typeface="IBM Plex Sans" pitchFamily="34" charset="-122"/>
                <a:cs typeface="IBM Plex Sans" pitchFamily="34" charset="-120"/>
              </a:rPr>
              <a:t>−4.98 ≤ δ ≤ 9.95</a:t>
            </a:r>
            <a:r>
              <a:rPr lang="en-US" sz="1500" dirty="0">
                <a:solidFill>
                  <a:srgbClr val="3E4A56"/>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9132" y="2871831"/>
            <a:ext cx="4686345" cy="1277640"/>
          </a:xfrm>
          <a:prstGeom prst="roundRect">
            <a:avLst>
              <a:gd name="adj" fmla="val 7455"/>
            </a:avLst>
          </a:prstGeom>
          <a:solidFill>
            <a:srgbClr val="FDFCF9"/>
          </a:solidFill>
          <a:ln w="12700">
            <a:solidFill>
              <a:srgbClr val="C8641E"/>
            </a:solidFill>
            <a:prstDash val="solid"/>
          </a:ln>
        </p:spPr>
      </p:sp>
      <p:sp>
        <p:nvSpPr>
          <p:cNvPr id="6" name="Text 4"/>
          <p:cNvSpPr/>
          <p:nvPr/>
        </p:nvSpPr>
        <p:spPr>
          <a:xfrm>
            <a:off x="1052891" y="3105590"/>
            <a:ext cx="434539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Without bounds</a:t>
            </a:r>
            <a:endParaRPr lang="en-US" sz="1600" dirty="0"/>
          </a:p>
        </p:txBody>
      </p:sp>
      <p:sp>
        <p:nvSpPr>
          <p:cNvPr id="7" name="Text 5"/>
          <p:cNvSpPr/>
          <p:nvPr/>
        </p:nvSpPr>
        <p:spPr>
          <a:xfrm>
            <a:off x="1052891" y="3400227"/>
            <a:ext cx="4345391"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The fit wants δ = −30.</a:t>
            </a:r>
            <a:endParaRPr lang="en-US" sz="1400" dirty="0"/>
          </a:p>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Slope 1 − 30 / 9.95 ≈ −2.0: </a:t>
            </a:r>
            <a:r>
              <a:rPr lang="en-US" sz="1400" b="1" dirty="0">
                <a:solidFill>
                  <a:srgbClr val="3E4A56"/>
                </a:solidFill>
                <a:latin typeface="IBM Plex Sans" pitchFamily="34" charset="0"/>
                <a:ea typeface="IBM Plex Sans" pitchFamily="34" charset="-122"/>
                <a:cs typeface="IBM Plex Sans" pitchFamily="34" charset="-120"/>
              </a:rPr>
              <a:t>time runs backwards</a:t>
            </a:r>
            <a:r>
              <a:rPr lang="en-US" sz="1400" dirty="0">
                <a:solidFill>
                  <a:srgbClr val="3E4A56"/>
                </a:solidFill>
                <a:latin typeface="IBM Plex Sans" pitchFamily="34" charset="0"/>
                <a:ea typeface="IBM Plex Sans" pitchFamily="34" charset="-122"/>
                <a:cs typeface="IBM Plex Sans" pitchFamily="34" charset="-120"/>
              </a:rPr>
              <a:t>.</a:t>
            </a:r>
            <a:endParaRPr lang="en-US" sz="1400" dirty="0"/>
          </a:p>
        </p:txBody>
      </p:sp>
      <p:pic>
        <p:nvPicPr>
          <p:cNvPr id="8" name="Image 0" descr="arrow-right">    </p:cNvPr>
          <p:cNvPicPr>
            <a:picLocks noChangeAspect="1"/>
          </p:cNvPicPr>
          <p:nvPr/>
        </p:nvPicPr>
        <p:blipFill>
          <a:blip r:embed="rId1"/>
          <a:srcRect l="-5" r="-5" t="0" b="0"/>
          <a:stretch/>
        </p:blipFill>
        <p:spPr>
          <a:xfrm>
            <a:off x="5715000" y="3332888"/>
            <a:ext cx="762000" cy="355564"/>
          </a:xfrm>
          <a:prstGeom prst="rect">
            <a:avLst/>
          </a:prstGeom>
        </p:spPr>
      </p:pic>
      <p:sp>
        <p:nvSpPr>
          <p:cNvPr id="9" name="Shape 6"/>
          <p:cNvSpPr/>
          <p:nvPr/>
        </p:nvSpPr>
        <p:spPr>
          <a:xfrm>
            <a:off x="6686523" y="2742983"/>
            <a:ext cx="4686345" cy="1535383"/>
          </a:xfrm>
          <a:prstGeom prst="roundRect">
            <a:avLst>
              <a:gd name="adj" fmla="val 6204"/>
            </a:avLst>
          </a:prstGeom>
          <a:solidFill>
            <a:srgbClr val="FDFCF9"/>
          </a:solidFill>
          <a:ln w="12700">
            <a:solidFill>
              <a:srgbClr val="2F6FBF"/>
            </a:solidFill>
            <a:prstDash val="solid"/>
          </a:ln>
        </p:spPr>
      </p:sp>
      <p:sp>
        <p:nvSpPr>
          <p:cNvPr id="10" name="Text 7"/>
          <p:cNvSpPr/>
          <p:nvPr/>
        </p:nvSpPr>
        <p:spPr>
          <a:xfrm>
            <a:off x="6920282" y="2976742"/>
            <a:ext cx="434539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With bounds</a:t>
            </a:r>
            <a:endParaRPr lang="en-US" sz="1600" dirty="0"/>
          </a:p>
        </p:txBody>
      </p:sp>
      <p:sp>
        <p:nvSpPr>
          <p:cNvPr id="11" name="Text 8"/>
          <p:cNvSpPr/>
          <p:nvPr/>
        </p:nvSpPr>
        <p:spPr>
          <a:xfrm>
            <a:off x="6920282" y="3271372"/>
            <a:ext cx="4345391"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δ is held at −4.98.</a:t>
            </a:r>
            <a:endParaRPr lang="en-US" sz="1400" dirty="0"/>
          </a:p>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Slope 0.5: </a:t>
            </a:r>
            <a:r>
              <a:rPr lang="en-US" sz="1400" b="1" dirty="0">
                <a:solidFill>
                  <a:srgbClr val="3E4A56"/>
                </a:solidFill>
                <a:latin typeface="IBM Plex Sans" pitchFamily="34" charset="0"/>
                <a:ea typeface="IBM Plex Sans" pitchFamily="34" charset="-122"/>
                <a:cs typeface="IBM Plex Sans" pitchFamily="34" charset="-120"/>
              </a:rPr>
              <a:t>slow, but forwards</a:t>
            </a:r>
            <a:r>
              <a:rPr lang="en-US" sz="1400" dirty="0">
                <a:solidFill>
                  <a:srgbClr val="3E4A56"/>
                </a:solidFill>
                <a:latin typeface="IBM Plex Sans" pitchFamily="34" charset="0"/>
                <a:ea typeface="IBM Plex Sans" pitchFamily="34" charset="-122"/>
                <a:cs typeface="IBM Plex Sans" pitchFamily="34" charset="-120"/>
              </a:rPr>
              <a:t>. The other steps adjust around it.</a:t>
            </a:r>
            <a:endParaRPr lang="en-US" sz="1400" dirty="0"/>
          </a:p>
        </p:txBody>
      </p:sp>
      <p:sp>
        <p:nvSpPr>
          <p:cNvPr id="12" name="Text 9"/>
          <p:cNvSpPr/>
          <p:nvPr/>
        </p:nvSpPr>
        <p:spPr>
          <a:xfrm>
            <a:off x="812782" y="4589494"/>
            <a:ext cx="10566436" cy="1009506"/>
          </a:xfrm>
          <a:prstGeom prst="roundRect">
            <a:avLst>
              <a:gd name="adj" fmla="val 10064"/>
            </a:avLst>
          </a:prstGeom>
          <a:solidFill>
            <a:srgbClr val="1B2A3A"/>
          </a:solidFill>
          <a:ln/>
        </p:spPr>
        <p:txBody>
          <a:bodyPr wrap="square" lIns="198806" tIns="198842" rIns="0" bIns="173370" rtlCol="0" anchor="t">
            <a:normAutofit/>
          </a:bodyPr>
          <a:lstStyle/>
          <a:p>
            <a:pPr algn="l" indent="0" marL="0">
              <a:lnSpc>
                <a:spcPts val="2175"/>
              </a:lnSpc>
              <a:buNone/>
            </a:pPr>
            <a:r>
              <a:rPr lang="en-US" sz="1500" b="1" dirty="0">
                <a:solidFill>
                  <a:srgbClr val="F2EFE8"/>
                </a:solidFill>
                <a:latin typeface="IBM Plex Sans" pitchFamily="34" charset="0"/>
                <a:ea typeface="IBM Plex Sans" pitchFamily="34" charset="-122"/>
                <a:cs typeface="IBM Plex Sans" pitchFamily="34" charset="-120"/>
              </a:rPr>
              <a:t>How the solver (BVLS) does it:</a:t>
            </a:r>
            <a:r>
              <a:rPr lang="en-US" sz="1500" dirty="0">
                <a:solidFill>
                  <a:srgbClr val="F2EFE8"/>
                </a:solidFill>
                <a:latin typeface="IBM Plex Sans" pitchFamily="34" charset="0"/>
                <a:ea typeface="IBM Plex Sans" pitchFamily="34" charset="-122"/>
                <a:cs typeface="IBM Plex Sans" pitchFamily="34" charset="-120"/>
              </a:rPr>
              <a:t> hold any step that wants to break its limit at the limit, solve ordinary least squares for the rest, and repeat until nothing changes.</a:t>
            </a:r>
            <a:endParaRPr lang="en-US" sz="1500" dirty="0"/>
          </a:p>
        </p:txBody>
      </p:sp>
      <p:sp>
        <p:nvSpPr>
          <p:cNvPr id="13" name="Text 10"/>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10 · Code: lsq_linear(…, bounds=(lb, ub), method='bvls'). The real code goes via a Cholesky factor; same answer.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11 · ROBUST REWEIGHTING</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Listen less to anchors that are far off</a:t>
            </a:r>
            <a:endParaRPr lang="en-US" sz="3200" dirty="0"/>
          </a:p>
        </p:txBody>
      </p:sp>
      <p:sp>
        <p:nvSpPr>
          <p:cNvPr id="4" name="Text 2"/>
          <p:cNvSpPr/>
          <p:nvPr/>
        </p:nvSpPr>
        <p:spPr>
          <a:xfrm>
            <a:off x="812782" y="1854088"/>
            <a:ext cx="5938848"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Some anchors are wrong: two different compounds with similar spectra. One anchor 30 bins off adds 30² = 900 to the sum of squares and drags the fit.</a:t>
            </a:r>
            <a:endParaRPr lang="en-US" sz="1500" dirty="0"/>
          </a:p>
        </p:txBody>
      </p:sp>
      <p:sp>
        <p:nvSpPr>
          <p:cNvPr id="5" name="Text 3"/>
          <p:cNvSpPr/>
          <p:nvPr/>
        </p:nvSpPr>
        <p:spPr>
          <a:xfrm>
            <a:off x="812782" y="2809652"/>
            <a:ext cx="5938848" cy="1130156"/>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A typical miss size that outliers can’t inflate.</a:t>
            </a:r>
            <a:r>
              <a:rPr lang="en-US" sz="1500" dirty="0">
                <a:solidFill>
                  <a:srgbClr val="3E4A56"/>
                </a:solidFill>
                <a:latin typeface="IBM Plex Sans" pitchFamily="34" charset="0"/>
                <a:ea typeface="IBM Plex Sans" pitchFamily="34" charset="-122"/>
                <a:cs typeface="IBM Plex Sans" pitchFamily="34" charset="-120"/>
              </a:rPr>
              <a:t> Misses (1, 2, 3, 4, 100): the median is 3, distances from it are (2, 1, 0, 1, 97), their median is 1. Scale σ̂ = 1.4826 × 1 ≈ 1.48. (The standard deviation would be 39.)</a:t>
            </a:r>
            <a:endParaRPr lang="en-US" sz="1500" dirty="0"/>
          </a:p>
        </p:txBody>
      </p:sp>
      <p:sp>
        <p:nvSpPr>
          <p:cNvPr id="6" name="Text 4"/>
          <p:cNvSpPr/>
          <p:nvPr/>
        </p:nvSpPr>
        <p:spPr>
          <a:xfrm>
            <a:off x="812782" y="4041409"/>
            <a:ext cx="5938848" cy="301589"/>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Then repeat:</a:t>
            </a:r>
            <a:r>
              <a:rPr lang="en-US" sz="1500" dirty="0">
                <a:solidFill>
                  <a:srgbClr val="3E4A56"/>
                </a:solidFill>
                <a:latin typeface="IBM Plex Sans" pitchFamily="34" charset="0"/>
                <a:ea typeface="IBM Plex Sans" pitchFamily="34" charset="-122"/>
                <a:cs typeface="IBM Plex Sans" pitchFamily="34" charset="-120"/>
              </a:rPr>
              <a:t> fit → misses → σ̂ → weights → fit again.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45763" y="1865634"/>
          <a:ext cx="4433455" cy="2469194"/>
        </p:xfrm>
        <a:graphic>
          <a:graphicData uri="http://schemas.openxmlformats.org/drawingml/2006/table">
            <a:tbl>
              <a:tblPr/>
              <a:tblGrid>
                <a:gridCol w="1330036"/>
                <a:gridCol w="1551709"/>
                <a:gridCol w="1551709"/>
              </a:tblGrid>
              <a:tr h="411532">
                <a:tc>
                  <a:txBody>
                    <a:bodyPr/>
                    <a:lstStyle/>
                    <a:p>
                      <a:pP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Miss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algn="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Huber weight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algn="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Tukey weight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0.96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1.00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0.84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0.66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0.66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100 (wrong)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4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4B5A9"/>
                      </a:solidFill>
                      <a:prstDash val="solid"/>
                      <a:round/>
                      <a:headEnd type="none" w="med" len="med"/>
                      <a:tailEnd type="none" w="med" len="med"/>
                    </a:lnB>
                    <a:solidFill>
                      <a:srgbClr val="F5E2D3"/>
                    </a:solidFill>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0.02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B5A9"/>
                      </a:solidFill>
                      <a:prstDash val="solid"/>
                      <a:round/>
                      <a:headEnd type="none" w="med" len="med"/>
                      <a:tailEnd type="none" w="med" len="med"/>
                    </a:lnL>
                    <a:lnR w="12700" cap="flat" cmpd="sng" algn="ctr">
                      <a:solidFill>
                        <a:srgbClr val="C4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4B5A9"/>
                      </a:solidFill>
                      <a:prstDash val="solid"/>
                      <a:round/>
                      <a:headEnd type="none" w="med" len="med"/>
                      <a:tailEnd type="none" w="med" len="med"/>
                    </a:lnB>
                    <a:solidFill>
                      <a:srgbClr val="F5E2D3"/>
                    </a:solidFill>
                  </a:tcPr>
                </a:tc>
                <a:tc>
                  <a:txBody>
                    <a:bodyPr/>
                    <a:lstStyle/>
                    <a:p>
                      <a:pPr algn="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B5A9"/>
                      </a:solidFill>
                      <a:prstDash val="solid"/>
                      <a:round/>
                      <a:headEnd type="none" w="med" len="med"/>
                      <a:tailEnd type="none" w="med" len="med"/>
                    </a:lnL>
                    <a:lnR w="12700" cap="flat" cmpd="sng" algn="ctr">
                      <a:solidFill>
                        <a:srgbClr val="C4B5A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4B5A9"/>
                      </a:solidFill>
                      <a:prstDash val="solid"/>
                      <a:round/>
                      <a:headEnd type="none" w="med" len="med"/>
                      <a:tailEnd type="none" w="med" len="med"/>
                    </a:lnB>
                    <a:solidFill>
                      <a:srgbClr val="F5E2D3"/>
                    </a:solidFill>
                  </a:tcPr>
                </a:tc>
              </a:tr>
            </a:tbl>
          </a:graphicData>
        </a:graphic>
      </p:graphicFrame>
      <p:sp>
        <p:nvSpPr>
          <p:cNvPr id="8" name="Text 5"/>
          <p:cNvSpPr/>
          <p:nvPr/>
        </p:nvSpPr>
        <p:spPr>
          <a:xfrm>
            <a:off x="6934218" y="4436387"/>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Huber (3 rounds) shrinks big misses but never to zero. Tukey (4 rounds) drops gross ones entirely.</a:t>
            </a:r>
            <a:endParaRPr lang="en-US" sz="1200" dirty="0"/>
          </a:p>
        </p:txBody>
      </p:sp>
      <p:sp>
        <p:nvSpPr>
          <p:cNvPr id="9" name="Text 6"/>
          <p:cNvSpPr/>
          <p:nvPr/>
        </p:nvSpPr>
        <p:spPr>
          <a:xfrm>
            <a:off x="812782" y="6238292"/>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11 · Huber: weight 1 up to 1.345σ̂, then shrinking. Tukey: (1 − (r/c)²)² up to c = 4.685σ̂, else 0. Code: _robust_sigma, fit_joint.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12 · MAPS BETWEEN BATCHES</a:t>
            </a:r>
            <a:endParaRPr lang="en-US" sz="1200" dirty="0"/>
          </a:p>
        </p:txBody>
      </p:sp>
      <p:sp>
        <p:nvSpPr>
          <p:cNvPr id="3" name="Text 1"/>
          <p:cNvSpPr/>
          <p:nvPr>
            <p:ph type="title"/>
          </p:nvPr>
        </p:nvSpPr>
        <p:spPr>
          <a:xfrm>
            <a:off x="812782" y="1127671"/>
            <a:ext cx="10883429"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Every route through the shared clock gives the same answer</a:t>
            </a:r>
            <a:endParaRPr lang="en-US" sz="3200" dirty="0"/>
          </a:p>
        </p:txBody>
      </p:sp>
      <p:sp>
        <p:nvSpPr>
          <p:cNvPr id="4" name="Text 2"/>
          <p:cNvSpPr/>
          <p:nvPr/>
        </p:nvSpPr>
        <p:spPr>
          <a:xfrm>
            <a:off x="812782" y="2301112"/>
            <a:ext cx="10883429" cy="30158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Three toy warps: f</a:t>
            </a:r>
            <a:r>
              <a:rPr lang="en-US" sz="1500" dirty="0">
                <a:solidFill>
                  <a:srgbClr val="3E4A56"/>
                </a:solidFill>
                <a:latin typeface="IBM Plex Sans" pitchFamily="34" charset="0"/>
                <a:ea typeface="IBM Plex Sans" pitchFamily="34" charset="-122"/>
                <a:cs typeface="IBM Plex Sans" pitchFamily="34" charset="-120"/>
              </a:rPr>
              <a:t>ₖ</a:t>
            </a:r>
            <a:r>
              <a:rPr lang="en-US" sz="1500" dirty="0">
                <a:solidFill>
                  <a:srgbClr val="3E4A56"/>
                </a:solidFill>
                <a:latin typeface="IBM Plex Sans" pitchFamily="34" charset="0"/>
                <a:ea typeface="IBM Plex Sans" pitchFamily="34" charset="-122"/>
                <a:cs typeface="IBM Plex Sans" pitchFamily="34" charset="-120"/>
              </a:rPr>
              <a:t>(t) = t + 2, fₗ(t) = t − 3, fₘ(t) = 2t. Their inverses undo them: fₗ⁻¹ adds 3 back, fₘ⁻¹ halves.</a:t>
            </a:r>
            <a:endParaRPr lang="en-US" sz="1500" dirty="0"/>
          </a:p>
        </p:txBody>
      </p:sp>
      <p:sp>
        <p:nvSpPr>
          <p:cNvPr id="5" name="Shape 3"/>
          <p:cNvSpPr/>
          <p:nvPr/>
        </p:nvSpPr>
        <p:spPr>
          <a:xfrm>
            <a:off x="815957" y="2859869"/>
            <a:ext cx="10560086" cy="713753"/>
          </a:xfrm>
          <a:prstGeom prst="roundRect">
            <a:avLst>
              <a:gd name="adj" fmla="val 13790"/>
            </a:avLst>
          </a:prstGeom>
          <a:solidFill>
            <a:srgbClr val="FDFCF9"/>
          </a:solidFill>
          <a:ln w="6350">
            <a:solidFill>
              <a:srgbClr val="D3DAE0"/>
            </a:solidFill>
            <a:prstDash val="solid"/>
          </a:ln>
        </p:spPr>
      </p:sp>
      <p:sp>
        <p:nvSpPr>
          <p:cNvPr id="6" name="Text 4"/>
          <p:cNvSpPr/>
          <p:nvPr/>
        </p:nvSpPr>
        <p:spPr>
          <a:xfrm>
            <a:off x="1021728" y="3083409"/>
            <a:ext cx="183134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Direct k → l</a:t>
            </a:r>
            <a:endParaRPr lang="en-US" sz="1500" dirty="0"/>
          </a:p>
        </p:txBody>
      </p:sp>
      <p:sp>
        <p:nvSpPr>
          <p:cNvPr id="7" name="Text 5"/>
          <p:cNvSpPr/>
          <p:nvPr/>
        </p:nvSpPr>
        <p:spPr>
          <a:xfrm>
            <a:off x="3002900" y="3065636"/>
            <a:ext cx="8412392" cy="32761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B2A3A"/>
                </a:solidFill>
                <a:latin typeface="JetBrains Mono" pitchFamily="49" charset="0"/>
                <a:ea typeface="JetBrains Mono" pitchFamily="49" charset="-122"/>
                <a:cs typeface="JetBrains Mono" pitchFamily="49" charset="-120"/>
              </a:rPr>
              <a:t>10 ─fₖ→ 12 ─fₗ⁻¹→ </a:t>
            </a:r>
            <a:r>
              <a:rPr lang="en-US" sz="1700" b="1" dirty="0">
                <a:solidFill>
                  <a:srgbClr val="2F6FBF"/>
                </a:solidFill>
                <a:latin typeface="JetBrains Mono" pitchFamily="49" charset="0"/>
                <a:ea typeface="JetBrains Mono" pitchFamily="49" charset="-122"/>
                <a:cs typeface="JetBrains Mono" pitchFamily="49" charset="-120"/>
              </a:rPr>
              <a:t>15</a:t>
            </a:r>
            <a:endParaRPr lang="en-US" sz="1700" dirty="0"/>
          </a:p>
        </p:txBody>
      </p:sp>
      <p:sp>
        <p:nvSpPr>
          <p:cNvPr id="8" name="Shape 6"/>
          <p:cNvSpPr/>
          <p:nvPr/>
        </p:nvSpPr>
        <p:spPr>
          <a:xfrm>
            <a:off x="815957" y="3706968"/>
            <a:ext cx="10560086" cy="713753"/>
          </a:xfrm>
          <a:prstGeom prst="roundRect">
            <a:avLst>
              <a:gd name="adj" fmla="val 13790"/>
            </a:avLst>
          </a:prstGeom>
          <a:solidFill>
            <a:srgbClr val="FDFCF9"/>
          </a:solidFill>
          <a:ln w="6350">
            <a:solidFill>
              <a:srgbClr val="D3DAE0"/>
            </a:solidFill>
            <a:prstDash val="solid"/>
          </a:ln>
        </p:spPr>
      </p:sp>
      <p:sp>
        <p:nvSpPr>
          <p:cNvPr id="9" name="Text 7"/>
          <p:cNvSpPr/>
          <p:nvPr/>
        </p:nvSpPr>
        <p:spPr>
          <a:xfrm>
            <a:off x="1021728" y="3930507"/>
            <a:ext cx="183134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Via m</a:t>
            </a:r>
            <a:endParaRPr lang="en-US" sz="1500" dirty="0"/>
          </a:p>
        </p:txBody>
      </p:sp>
      <p:sp>
        <p:nvSpPr>
          <p:cNvPr id="10" name="Text 8"/>
          <p:cNvSpPr/>
          <p:nvPr/>
        </p:nvSpPr>
        <p:spPr>
          <a:xfrm>
            <a:off x="3002900" y="3912741"/>
            <a:ext cx="8412392" cy="32761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B2A3A"/>
                </a:solidFill>
                <a:latin typeface="JetBrains Mono" pitchFamily="49" charset="0"/>
                <a:ea typeface="JetBrains Mono" pitchFamily="49" charset="-122"/>
                <a:cs typeface="JetBrains Mono" pitchFamily="49" charset="-120"/>
              </a:rPr>
              <a:t>10 ─fₖ→ 12 ─fₘ⁻¹→ 6 ─fₘ→ 12 ─fₗ⁻¹→ </a:t>
            </a:r>
            <a:r>
              <a:rPr lang="en-US" sz="1700" b="1" dirty="0">
                <a:solidFill>
                  <a:srgbClr val="2F6FBF"/>
                </a:solidFill>
                <a:latin typeface="JetBrains Mono" pitchFamily="49" charset="0"/>
                <a:ea typeface="JetBrains Mono" pitchFamily="49" charset="-122"/>
                <a:cs typeface="JetBrains Mono" pitchFamily="49" charset="-120"/>
              </a:rPr>
              <a:t>15</a:t>
            </a:r>
            <a:endParaRPr lang="en-US" sz="1700" dirty="0"/>
          </a:p>
        </p:txBody>
      </p:sp>
      <p:sp>
        <p:nvSpPr>
          <p:cNvPr id="11" name="Text 9"/>
          <p:cNvSpPr/>
          <p:nvPr/>
        </p:nvSpPr>
        <p:spPr>
          <a:xfrm>
            <a:off x="812782" y="4703285"/>
            <a:ext cx="5284752"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Both routes pass through 12 on the shared clock, so they </a:t>
            </a:r>
            <a:r>
              <a:rPr lang="en-US" sz="1500" b="1" dirty="0">
                <a:solidFill>
                  <a:srgbClr val="3E4A56"/>
                </a:solidFill>
                <a:latin typeface="IBM Plex Sans" pitchFamily="34" charset="0"/>
                <a:ea typeface="IBM Plex Sans" pitchFamily="34" charset="-122"/>
                <a:cs typeface="IBM Plex Sans" pitchFamily="34" charset="-120"/>
              </a:rPr>
              <a:t>must</a:t>
            </a:r>
            <a:r>
              <a:rPr lang="en-US" sz="1500" dirty="0">
                <a:solidFill>
                  <a:srgbClr val="3E4A56"/>
                </a:solidFill>
                <a:latin typeface="IBM Plex Sans" pitchFamily="34" charset="0"/>
                <a:ea typeface="IBM Plex Sans" pitchFamily="34" charset="-122"/>
                <a:cs typeface="IBM Plex Sans" pitchFamily="34" charset="-120"/>
              </a:rPr>
              <a:t> agree. This is called </a:t>
            </a:r>
            <a:r>
              <a:rPr lang="en-US" sz="1500" b="1" dirty="0">
                <a:solidFill>
                  <a:srgbClr val="3E4A56"/>
                </a:solidFill>
                <a:latin typeface="IBM Plex Sans" pitchFamily="34" charset="0"/>
                <a:ea typeface="IBM Plex Sans" pitchFamily="34" charset="-122"/>
                <a:cs typeface="IBM Plex Sans" pitchFamily="34" charset="-120"/>
              </a:rPr>
              <a:t>transitivity</a:t>
            </a:r>
            <a:r>
              <a:rPr lang="en-US" sz="1500" dirty="0">
                <a:solidFill>
                  <a:srgbClr val="3E4A56"/>
                </a:solidFill>
                <a:latin typeface="IBM Plex Sans" pitchFamily="34" charset="0"/>
                <a:ea typeface="IBM Plex Sans" pitchFamily="34" charset="-122"/>
                <a:cs typeface="IBM Plex Sans" pitchFamily="34" charset="-120"/>
              </a:rPr>
              <a:t>, and the joint model has it by construction.</a:t>
            </a:r>
            <a:endParaRPr lang="en-US" sz="1500" dirty="0"/>
          </a:p>
        </p:txBody>
      </p:sp>
      <p:sp>
        <p:nvSpPr>
          <p:cNvPr id="12" name="Text 10"/>
          <p:cNvSpPr/>
          <p:nvPr/>
        </p:nvSpPr>
        <p:spPr>
          <a:xfrm>
            <a:off x="6248391" y="4703285"/>
            <a:ext cx="5284752"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Fit each pair separately and the three maps around a triangle come from three unrelated fits. On the fish data they disagree by 0.116 min on average (paper result).</a:t>
            </a:r>
            <a:endParaRPr lang="en-US" sz="1500" dirty="0"/>
          </a:p>
        </p:txBody>
      </p:sp>
      <p:sp>
        <p:nvSpPr>
          <p:cNvPr id="13" name="Text 11"/>
          <p:cNvSpPr/>
          <p:nvPr/>
        </p:nvSpPr>
        <p:spPr>
          <a:xfrm>
            <a:off x="812782" y="6238292"/>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12 · In code, f⁻¹ is found by evaluating f on a fine grid and swapping the axes with np.interp. JointWarp.map(k, l, 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13 · BORROWING STRENGTH</a:t>
            </a:r>
            <a:endParaRPr lang="en-US" sz="1200" dirty="0"/>
          </a:p>
        </p:txBody>
      </p:sp>
      <p:sp>
        <p:nvSpPr>
          <p:cNvPr id="3" name="Text 1"/>
          <p:cNvSpPr/>
          <p:nvPr>
            <p:ph type="title"/>
          </p:nvPr>
        </p:nvSpPr>
        <p:spPr>
          <a:xfrm>
            <a:off x="812782" y="1127671"/>
            <a:ext cx="10883429"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batch with few anchors is aligned through the others</a:t>
            </a:r>
            <a:endParaRPr lang="en-US" sz="3200" dirty="0"/>
          </a:p>
        </p:txBody>
      </p:sp>
      <p:sp>
        <p:nvSpPr>
          <p:cNvPr id="4" name="Text 2"/>
          <p:cNvSpPr/>
          <p:nvPr/>
        </p:nvSpPr>
        <p:spPr>
          <a:xfrm>
            <a:off x="812782" y="3418725"/>
            <a:ext cx="889000" cy="635000"/>
          </a:xfrm>
          <a:prstGeom prst="roundRect">
            <a:avLst>
              <a:gd name="adj" fmla="val 16000"/>
            </a:avLst>
          </a:prstGeom>
          <a:solidFill>
            <a:srgbClr val="1B2A3A"/>
          </a:solidFill>
          <a:ln/>
        </p:spPr>
        <p:txBody>
          <a:bodyPr wrap="square" lIns="0" tIns="0" rIns="0" bIns="0" rtlCol="0" anchor="ctr">
            <a:normAutofit/>
          </a:bodyPr>
          <a:lstStyle/>
          <a:p>
            <a:pPr algn="ctr" indent="0" marL="0">
              <a:lnSpc>
                <a:spcPts val="3080"/>
              </a:lnSpc>
              <a:buNone/>
            </a:pPr>
            <a:r>
              <a:rPr lang="en-US" sz="2200" b="1" dirty="0">
                <a:solidFill>
                  <a:srgbClr val="F7F5F0"/>
                </a:solidFill>
                <a:latin typeface="IBM Plex Sans" pitchFamily="34" charset="0"/>
                <a:ea typeface="IBM Plex Sans" pitchFamily="34" charset="-122"/>
                <a:cs typeface="IBM Plex Sans" pitchFamily="34" charset="-120"/>
              </a:rPr>
              <a:t>A</a:t>
            </a:r>
            <a:endParaRPr lang="en-US" sz="2200" dirty="0"/>
          </a:p>
        </p:txBody>
      </p:sp>
      <p:sp>
        <p:nvSpPr>
          <p:cNvPr id="5" name="Text 3"/>
          <p:cNvSpPr/>
          <p:nvPr/>
        </p:nvSpPr>
        <p:spPr>
          <a:xfrm>
            <a:off x="2781282" y="2275725"/>
            <a:ext cx="889000" cy="635000"/>
          </a:xfrm>
          <a:prstGeom prst="roundRect">
            <a:avLst>
              <a:gd name="adj" fmla="val 16000"/>
            </a:avLst>
          </a:prstGeom>
          <a:solidFill>
            <a:srgbClr val="2F6FBF"/>
          </a:solidFill>
          <a:ln/>
        </p:spPr>
        <p:txBody>
          <a:bodyPr wrap="square" lIns="0" tIns="0" rIns="0" bIns="0" rtlCol="0" anchor="ctr">
            <a:normAutofit/>
          </a:bodyPr>
          <a:lstStyle/>
          <a:p>
            <a:pPr algn="ctr" indent="0" marL="0">
              <a:lnSpc>
                <a:spcPts val="3080"/>
              </a:lnSpc>
              <a:buNone/>
            </a:pPr>
            <a:r>
              <a:rPr lang="en-US" sz="2200" b="1" dirty="0">
                <a:solidFill>
                  <a:srgbClr val="F7F5F0"/>
                </a:solidFill>
                <a:latin typeface="IBM Plex Sans" pitchFamily="34" charset="0"/>
                <a:ea typeface="IBM Plex Sans" pitchFamily="34" charset="-122"/>
                <a:cs typeface="IBM Plex Sans" pitchFamily="34" charset="-120"/>
              </a:rPr>
              <a:t>B</a:t>
            </a:r>
            <a:endParaRPr lang="en-US" sz="2200" dirty="0"/>
          </a:p>
        </p:txBody>
      </p:sp>
      <p:sp>
        <p:nvSpPr>
          <p:cNvPr id="6" name="Text 4"/>
          <p:cNvSpPr/>
          <p:nvPr/>
        </p:nvSpPr>
        <p:spPr>
          <a:xfrm>
            <a:off x="2781282" y="4561725"/>
            <a:ext cx="889000" cy="635000"/>
          </a:xfrm>
          <a:prstGeom prst="roundRect">
            <a:avLst>
              <a:gd name="adj" fmla="val 16000"/>
            </a:avLst>
          </a:prstGeom>
          <a:solidFill>
            <a:srgbClr val="2F6FBF"/>
          </a:solidFill>
          <a:ln/>
        </p:spPr>
        <p:txBody>
          <a:bodyPr wrap="square" lIns="0" tIns="0" rIns="0" bIns="0" rtlCol="0" anchor="ctr">
            <a:normAutofit/>
          </a:bodyPr>
          <a:lstStyle/>
          <a:p>
            <a:pPr algn="ctr" indent="0" marL="0">
              <a:lnSpc>
                <a:spcPts val="3080"/>
              </a:lnSpc>
              <a:buNone/>
            </a:pPr>
            <a:r>
              <a:rPr lang="en-US" sz="2200" b="1" dirty="0">
                <a:solidFill>
                  <a:srgbClr val="F7F5F0"/>
                </a:solidFill>
                <a:latin typeface="IBM Plex Sans" pitchFamily="34" charset="0"/>
                <a:ea typeface="IBM Plex Sans" pitchFamily="34" charset="-122"/>
                <a:cs typeface="IBM Plex Sans" pitchFamily="34" charset="-120"/>
              </a:rPr>
              <a:t>C</a:t>
            </a:r>
            <a:endParaRPr lang="en-US" sz="2200" dirty="0"/>
          </a:p>
        </p:txBody>
      </p:sp>
      <p:sp>
        <p:nvSpPr>
          <p:cNvPr id="7" name="Text 5"/>
          <p:cNvSpPr/>
          <p:nvPr/>
        </p:nvSpPr>
        <p:spPr>
          <a:xfrm>
            <a:off x="4749782" y="3418725"/>
            <a:ext cx="889000" cy="635000"/>
          </a:xfrm>
          <a:prstGeom prst="roundRect">
            <a:avLst>
              <a:gd name="adj" fmla="val 16000"/>
            </a:avLst>
          </a:prstGeom>
          <a:solidFill>
            <a:srgbClr val="C8641E"/>
          </a:solidFill>
          <a:ln/>
        </p:spPr>
        <p:txBody>
          <a:bodyPr wrap="square" lIns="0" tIns="0" rIns="0" bIns="0" rtlCol="0" anchor="ctr">
            <a:normAutofit/>
          </a:bodyPr>
          <a:lstStyle/>
          <a:p>
            <a:pPr algn="ctr" indent="0" marL="0">
              <a:lnSpc>
                <a:spcPts val="3080"/>
              </a:lnSpc>
              <a:buNone/>
            </a:pPr>
            <a:r>
              <a:rPr lang="en-US" sz="2200" b="1" dirty="0">
                <a:solidFill>
                  <a:srgbClr val="1B2A3A"/>
                </a:solidFill>
                <a:latin typeface="IBM Plex Sans" pitchFamily="34" charset="0"/>
                <a:ea typeface="IBM Plex Sans" pitchFamily="34" charset="-122"/>
                <a:cs typeface="IBM Plex Sans" pitchFamily="34" charset="-120"/>
              </a:rPr>
              <a:t>D</a:t>
            </a:r>
            <a:endParaRPr lang="en-US" sz="2200" dirty="0"/>
          </a:p>
        </p:txBody>
      </p:sp>
      <p:pic>
        <p:nvPicPr>
          <p:cNvPr id="8" name="Image 0" descr="connector">    </p:cNvPr>
          <p:cNvPicPr>
            <a:picLocks noChangeAspect="1"/>
          </p:cNvPicPr>
          <p:nvPr/>
        </p:nvPicPr>
        <p:blipFill>
          <a:blip r:embed="rId1"/>
          <a:srcRect l="0" r="0" t="0" b="0"/>
          <a:stretch/>
        </p:blipFill>
        <p:spPr>
          <a:xfrm>
            <a:off x="1193782" y="2529725"/>
            <a:ext cx="1651000" cy="952500"/>
          </a:xfrm>
          <a:prstGeom prst="rect">
            <a:avLst/>
          </a:prstGeom>
        </p:spPr>
      </p:pic>
      <p:pic>
        <p:nvPicPr>
          <p:cNvPr id="9" name="Image 1" descr="connector">    </p:cNvPr>
          <p:cNvPicPr>
            <a:picLocks noChangeAspect="1"/>
          </p:cNvPicPr>
          <p:nvPr/>
        </p:nvPicPr>
        <p:blipFill>
          <a:blip r:embed="rId2"/>
          <a:srcRect l="0" r="0" t="0" b="0"/>
          <a:stretch/>
        </p:blipFill>
        <p:spPr>
          <a:xfrm>
            <a:off x="1193782" y="3990225"/>
            <a:ext cx="1651000" cy="952500"/>
          </a:xfrm>
          <a:prstGeom prst="rect">
            <a:avLst/>
          </a:prstGeom>
        </p:spPr>
      </p:pic>
      <p:pic>
        <p:nvPicPr>
          <p:cNvPr id="10" name="Image 2" descr="connector">    </p:cNvPr>
          <p:cNvPicPr>
            <a:picLocks noChangeAspect="1"/>
          </p:cNvPicPr>
          <p:nvPr/>
        </p:nvPicPr>
        <p:blipFill>
          <a:blip r:embed="rId3"/>
          <a:srcRect l="0" r="0" t="0" b="0"/>
          <a:stretch/>
        </p:blipFill>
        <p:spPr>
          <a:xfrm>
            <a:off x="3606782" y="2529725"/>
            <a:ext cx="1651000" cy="952500"/>
          </a:xfrm>
          <a:prstGeom prst="rect">
            <a:avLst/>
          </a:prstGeom>
        </p:spPr>
      </p:pic>
      <p:pic>
        <p:nvPicPr>
          <p:cNvPr id="11" name="Image 3" descr="connector">    </p:cNvPr>
          <p:cNvPicPr>
            <a:picLocks noChangeAspect="1"/>
          </p:cNvPicPr>
          <p:nvPr/>
        </p:nvPicPr>
        <p:blipFill>
          <a:blip r:embed="rId4"/>
          <a:srcRect l="0" r="0" t="0" b="0"/>
          <a:stretch/>
        </p:blipFill>
        <p:spPr>
          <a:xfrm>
            <a:off x="3606782" y="3990225"/>
            <a:ext cx="1651000" cy="952500"/>
          </a:xfrm>
          <a:prstGeom prst="rect">
            <a:avLst/>
          </a:prstGeom>
        </p:spPr>
      </p:pic>
      <p:pic>
        <p:nvPicPr>
          <p:cNvPr id="12" name="Image 4" descr="connector">    </p:cNvPr>
          <p:cNvPicPr>
            <a:picLocks noChangeAspect="1"/>
          </p:cNvPicPr>
          <p:nvPr/>
        </p:nvPicPr>
        <p:blipFill>
          <a:blip r:embed="rId5"/>
          <a:srcRect l="0" r="0" t="0" b="0"/>
          <a:stretch/>
        </p:blipFill>
        <p:spPr>
          <a:xfrm>
            <a:off x="1638282" y="3672725"/>
            <a:ext cx="3175000" cy="127000"/>
          </a:xfrm>
          <a:prstGeom prst="rect">
            <a:avLst/>
          </a:prstGeom>
        </p:spPr>
      </p:pic>
      <p:sp>
        <p:nvSpPr>
          <p:cNvPr id="13" name="Text 6"/>
          <p:cNvSpPr/>
          <p:nvPr/>
        </p:nvSpPr>
        <p:spPr>
          <a:xfrm>
            <a:off x="1422346" y="2275725"/>
            <a:ext cx="132080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B → A: −9</a:t>
            </a:r>
            <a:endParaRPr lang="en-US" sz="1400" dirty="0"/>
          </a:p>
        </p:txBody>
      </p:sp>
      <p:sp>
        <p:nvSpPr>
          <p:cNvPr id="14" name="Text 7"/>
          <p:cNvSpPr/>
          <p:nvPr/>
        </p:nvSpPr>
        <p:spPr>
          <a:xfrm>
            <a:off x="3797282" y="2275725"/>
            <a:ext cx="132080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D → B: +3</a:t>
            </a:r>
            <a:endParaRPr lang="en-US" sz="1400" dirty="0"/>
          </a:p>
        </p:txBody>
      </p:sp>
      <p:sp>
        <p:nvSpPr>
          <p:cNvPr id="15" name="Text 8"/>
          <p:cNvSpPr/>
          <p:nvPr/>
        </p:nvSpPr>
        <p:spPr>
          <a:xfrm>
            <a:off x="2048492" y="3418725"/>
            <a:ext cx="23545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520F"/>
                </a:solidFill>
                <a:latin typeface="IBM Plex Sans" pitchFamily="34" charset="0"/>
                <a:ea typeface="IBM Plex Sans" pitchFamily="34" charset="-122"/>
                <a:cs typeface="IBM Plex Sans" pitchFamily="34" charset="-120"/>
              </a:rPr>
              <a:t>few direct D–A anchors</a:t>
            </a:r>
            <a:endParaRPr lang="en-US" sz="1200" dirty="0"/>
          </a:p>
        </p:txBody>
      </p:sp>
      <p:sp>
        <p:nvSpPr>
          <p:cNvPr id="16" name="Text 9"/>
          <p:cNvSpPr/>
          <p:nvPr/>
        </p:nvSpPr>
        <p:spPr>
          <a:xfrm>
            <a:off x="6045173" y="2755261"/>
            <a:ext cx="5494066"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If D → B is a shift of +3 and B → A is −9, then </a:t>
            </a:r>
            <a:r>
              <a:rPr lang="en-US" sz="1500" b="1" dirty="0">
                <a:solidFill>
                  <a:srgbClr val="3E4A56"/>
                </a:solidFill>
                <a:latin typeface="IBM Plex Sans" pitchFamily="34" charset="0"/>
                <a:ea typeface="IBM Plex Sans" pitchFamily="34" charset="-122"/>
                <a:cs typeface="IBM Plex Sans" pitchFamily="34" charset="-120"/>
              </a:rPr>
              <a:t>D → A is −6</a:t>
            </a:r>
            <a:r>
              <a:rPr lang="en-US" sz="1500" dirty="0">
                <a:solidFill>
                  <a:srgbClr val="3E4A56"/>
                </a:solidFill>
                <a:latin typeface="IBM Plex Sans" pitchFamily="34" charset="0"/>
                <a:ea typeface="IBM Plex Sans" pitchFamily="34" charset="-122"/>
                <a:cs typeface="IBM Plex Sans" pitchFamily="34" charset="-120"/>
              </a:rPr>
              <a:t>, even with no D–A anchor at all.</a:t>
            </a:r>
            <a:endParaRPr lang="en-US" sz="1500" dirty="0"/>
          </a:p>
        </p:txBody>
      </p:sp>
      <p:sp>
        <p:nvSpPr>
          <p:cNvPr id="17" name="Text 10"/>
          <p:cNvSpPr/>
          <p:nvPr/>
        </p:nvSpPr>
        <p:spPr>
          <a:xfrm>
            <a:off x="6045173" y="3460037"/>
            <a:ext cx="5494066"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The joint fit uses every path at once: D → B → A and D → C → A. In the toy, batch D has only 2 samples.</a:t>
            </a:r>
            <a:endParaRPr lang="en-US" sz="1500" dirty="0"/>
          </a:p>
        </p:txBody>
      </p:sp>
      <p:sp>
        <p:nvSpPr>
          <p:cNvPr id="18" name="Text 11"/>
          <p:cNvSpPr/>
          <p:nvPr/>
        </p:nvSpPr>
        <p:spPr>
          <a:xfrm>
            <a:off x="6045173" y="4164800"/>
            <a:ext cx="5494066" cy="577778"/>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The catch:</a:t>
            </a:r>
            <a:r>
              <a:rPr lang="en-US" sz="1500" dirty="0">
                <a:solidFill>
                  <a:srgbClr val="3E4A56"/>
                </a:solidFill>
                <a:latin typeface="IBM Plex Sans" pitchFamily="34" charset="0"/>
                <a:ea typeface="IBM Plex Sans" pitchFamily="34" charset="-122"/>
                <a:cs typeface="IBM Plex Sans" pitchFamily="34" charset="-120"/>
              </a:rPr>
              <a:t> with plenty of good direct anchors, a fit dedicated to one pair can follow it a little more closely.</a:t>
            </a:r>
            <a:endParaRPr lang="en-US" sz="1500" dirty="0"/>
          </a:p>
        </p:txBody>
      </p:sp>
      <p:sp>
        <p:nvSpPr>
          <p:cNvPr id="19" name="Text 12"/>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13 · With all 74 direct D–A anchors, the pairwise fit is slightly better (about 0.4 vs 0.5 bins).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14 · WHERE ANCHORS COME FROM</a:t>
            </a:r>
            <a:endParaRPr lang="en-US" sz="1200" dirty="0"/>
          </a:p>
        </p:txBody>
      </p:sp>
      <p:sp>
        <p:nvSpPr>
          <p:cNvPr id="3" name="Text 1"/>
          <p:cNvSpPr/>
          <p:nvPr>
            <p:ph type="title"/>
          </p:nvPr>
        </p:nvSpPr>
        <p:spPr>
          <a:xfrm>
            <a:off x="812782" y="1127658"/>
            <a:ext cx="10883429" cy="91945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Anchors are found by matching spectra, for every pair of samples</a:t>
            </a:r>
            <a:endParaRPr lang="en-US" sz="3200" dirty="0"/>
          </a:p>
        </p:txBody>
      </p:sp>
      <p:sp>
        <p:nvSpPr>
          <p:cNvPr id="4" name="Text 2"/>
          <p:cNvSpPr/>
          <p:nvPr/>
        </p:nvSpPr>
        <p:spPr>
          <a:xfrm>
            <a:off x="855671" y="2301106"/>
            <a:ext cx="6280769" cy="3324243"/>
          </a:xfrm>
          <a:prstGeom prst="rect">
            <a:avLst/>
          </a:prstGeom>
          <a:noFill/>
          <a:ln/>
        </p:spPr>
        <p:txBody>
          <a:bodyPr wrap="square" lIns="0" tIns="0" rIns="0" bIns="0" rtlCol="0" anchor="t">
            <a:normAutofit/>
          </a:bodyPr>
          <a:lstStyle/>
          <a:p>
            <a:pPr algn="l" marL="211110" indent="-211110">
              <a:lnSpc>
                <a:spcPts val="2250"/>
              </a:lnSpc>
              <a:buSzPct val="100000"/>
              <a:buFontTx/>
              <a:buAutoNum type="arabicPeriod" startAt="1"/>
            </a:pPr>
            <a:r>
              <a:rPr lang="en-US" sz="1500" b="1" dirty="0">
                <a:solidFill>
                  <a:srgbClr val="3E4A56"/>
                </a:solidFill>
                <a:latin typeface="IBM Plex Sans" pitchFamily="34" charset="0"/>
                <a:ea typeface="IBM Plex Sans" pitchFamily="34" charset="-122"/>
                <a:cs typeface="IBM Plex Sans" pitchFamily="34" charset="-120"/>
              </a:rPr>
              <a:t>Peaks:</a:t>
            </a:r>
            <a:r>
              <a:rPr lang="en-US" sz="1500" dirty="0">
                <a:solidFill>
                  <a:srgbClr val="3E4A56"/>
                </a:solidFill>
                <a:latin typeface="IBM Plex Sans" pitchFamily="34" charset="0"/>
                <a:ea typeface="IBM Plex Sans" pitchFamily="34" charset="-122"/>
                <a:cs typeface="IBM Plex Sans" pitchFamily="34" charset="-120"/>
              </a:rPr>
              <a:t> the tallest points of each total ion chromatogram (at most 30).</a:t>
            </a:r>
            <a:endParaRPr lang="en-US" sz="1500" dirty="0"/>
          </a:p>
          <a:p>
            <a:pPr algn="l" marL="211110" indent="-211110">
              <a:lnSpc>
                <a:spcPts val="2250"/>
              </a:lnSpc>
              <a:buSzPct val="100000"/>
              <a:buFontTx/>
              <a:buAutoNum type="arabicPeriod" startAt="1"/>
            </a:pPr>
            <a:r>
              <a:rPr lang="en-US" sz="1500" b="1" dirty="0">
                <a:solidFill>
                  <a:srgbClr val="3E4A56"/>
                </a:solidFill>
                <a:latin typeface="IBM Plex Sans" pitchFamily="34" charset="0"/>
                <a:ea typeface="IBM Plex Sans" pitchFamily="34" charset="-122"/>
                <a:cs typeface="IBM Plex Sans" pitchFamily="34" charset="-120"/>
              </a:rPr>
              <a:t>Fingerprint:</a:t>
            </a:r>
            <a:r>
              <a:rPr lang="en-US" sz="1500" dirty="0">
                <a:solidFill>
                  <a:srgbClr val="3E4A56"/>
                </a:solidFill>
                <a:latin typeface="IBM Plex Sans" pitchFamily="34" charset="0"/>
                <a:ea typeface="IBM Plex Sans" pitchFamily="34" charset="-122"/>
                <a:cs typeface="IBM Plex Sans" pitchFamily="34" charset="-120"/>
              </a:rPr>
              <a:t> the mass spectrum around each peak, scaled to length 1.</a:t>
            </a:r>
            <a:endParaRPr lang="en-US" sz="1500" dirty="0"/>
          </a:p>
          <a:p>
            <a:pPr algn="l" marL="211110" indent="-211110">
              <a:lnSpc>
                <a:spcPts val="2250"/>
              </a:lnSpc>
              <a:buSzPct val="100000"/>
              <a:buFontTx/>
              <a:buAutoNum type="arabicPeriod" startAt="1"/>
            </a:pPr>
            <a:r>
              <a:rPr lang="en-US" sz="1500" b="1" dirty="0">
                <a:solidFill>
                  <a:srgbClr val="3E4A56"/>
                </a:solidFill>
                <a:latin typeface="IBM Plex Sans" pitchFamily="34" charset="0"/>
                <a:ea typeface="IBM Plex Sans" pitchFamily="34" charset="-122"/>
                <a:cs typeface="IBM Plex Sans" pitchFamily="34" charset="-120"/>
              </a:rPr>
              <a:t>Compare</a:t>
            </a:r>
            <a:r>
              <a:rPr lang="en-US" sz="1500" dirty="0">
                <a:solidFill>
                  <a:srgbClr val="3E4A56"/>
                </a:solidFill>
                <a:latin typeface="IBM Plex Sans" pitchFamily="34" charset="0"/>
                <a:ea typeface="IBM Plex Sans" pitchFamily="34" charset="-122"/>
                <a:cs typeface="IBM Plex Sans" pitchFamily="34" charset="-120"/>
              </a:rPr>
              <a:t> every peak in sample A with every peak in sample B by cosine similarity.</a:t>
            </a:r>
            <a:endParaRPr lang="en-US" sz="1500" dirty="0"/>
          </a:p>
          <a:p>
            <a:pPr algn="l" marL="211110" indent="-211110">
              <a:lnSpc>
                <a:spcPts val="2250"/>
              </a:lnSpc>
              <a:buSzPct val="100000"/>
              <a:buFontTx/>
              <a:buAutoNum type="arabicPeriod" startAt="1"/>
            </a:pPr>
            <a:r>
              <a:rPr lang="en-US" sz="1500" b="1" dirty="0">
                <a:solidFill>
                  <a:srgbClr val="3E4A56"/>
                </a:solidFill>
                <a:latin typeface="IBM Plex Sans" pitchFamily="34" charset="0"/>
                <a:ea typeface="IBM Plex Sans" pitchFamily="34" charset="-122"/>
                <a:cs typeface="IBM Plex Sans" pitchFamily="34" charset="-120"/>
              </a:rPr>
              <a:t>Pair them up</a:t>
            </a:r>
            <a:r>
              <a:rPr lang="en-US" sz="1500" dirty="0">
                <a:solidFill>
                  <a:srgbClr val="3E4A56"/>
                </a:solidFill>
                <a:latin typeface="IBM Plex Sans" pitchFamily="34" charset="0"/>
                <a:ea typeface="IBM Plex Sans" pitchFamily="34" charset="-122"/>
                <a:cs typeface="IBM Plex Sans" pitchFamily="34" charset="-120"/>
              </a:rPr>
              <a:t> one-to-one with the best total similarity (Hungarian algorithm).</a:t>
            </a:r>
            <a:endParaRPr lang="en-US" sz="1500" dirty="0"/>
          </a:p>
          <a:p>
            <a:pPr algn="l" marL="211110" indent="-211110">
              <a:lnSpc>
                <a:spcPts val="2250"/>
              </a:lnSpc>
              <a:buSzPct val="100000"/>
              <a:buFontTx/>
              <a:buAutoNum type="arabicPeriod" startAt="1"/>
            </a:pPr>
            <a:r>
              <a:rPr lang="en-US" sz="1500" b="1" dirty="0">
                <a:solidFill>
                  <a:srgbClr val="3E4A56"/>
                </a:solidFill>
                <a:latin typeface="IBM Plex Sans" pitchFamily="34" charset="0"/>
                <a:ea typeface="IBM Plex Sans" pitchFamily="34" charset="-122"/>
                <a:cs typeface="IBM Plex Sans" pitchFamily="34" charset="-120"/>
              </a:rPr>
              <a:t>Clean up:</a:t>
            </a:r>
            <a:r>
              <a:rPr lang="en-US" sz="1500" dirty="0">
                <a:solidFill>
                  <a:srgbClr val="3E4A56"/>
                </a:solidFill>
                <a:latin typeface="IBM Plex Sans" pitchFamily="34" charset="0"/>
                <a:ea typeface="IBM Plex Sans" pitchFamily="34" charset="-122"/>
                <a:cs typeface="IBM Plex Sans" pitchFamily="34" charset="-120"/>
              </a:rPr>
              <a:t> drop weak matches, refine to fractions of a bin, drop matches far off a robust line (RANSAC), keep only pairs in increasing order.</a:t>
            </a:r>
            <a:endParaRPr lang="en-US" sz="1500" dirty="0"/>
          </a:p>
        </p:txBody>
      </p:sp>
      <p:sp>
        <p:nvSpPr>
          <p:cNvPr id="5" name="Shape 3"/>
          <p:cNvSpPr/>
          <p:nvPr/>
        </p:nvSpPr>
        <p:spPr>
          <a:xfrm>
            <a:off x="7315218" y="2301106"/>
            <a:ext cx="4064000" cy="1714184"/>
          </a:xfrm>
          <a:prstGeom prst="roundRect">
            <a:avLst>
              <a:gd name="adj" fmla="val 5927"/>
            </a:avLst>
          </a:prstGeom>
          <a:solidFill>
            <a:srgbClr val="ECF0F3"/>
          </a:solidFill>
          <a:ln/>
        </p:spPr>
      </p:sp>
      <p:sp>
        <p:nvSpPr>
          <p:cNvPr id="6" name="Text 4"/>
          <p:cNvSpPr/>
          <p:nvPr/>
        </p:nvSpPr>
        <p:spPr>
          <a:xfrm>
            <a:off x="7518391" y="2504281"/>
            <a:ext cx="3767383"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9520F"/>
                </a:solidFill>
                <a:latin typeface="IBM Plex Sans" pitchFamily="34" charset="0"/>
                <a:ea typeface="IBM Plex Sans" pitchFamily="34" charset="-122"/>
                <a:cs typeface="IBM Plex Sans" pitchFamily="34" charset="-120"/>
              </a:rPr>
              <a:t>Refresher: cosine similarity</a:t>
            </a:r>
            <a:endParaRPr lang="en-US" sz="1500" dirty="0"/>
          </a:p>
        </p:txBody>
      </p:sp>
      <p:sp>
        <p:nvSpPr>
          <p:cNvPr id="7" name="Text 5"/>
          <p:cNvSpPr/>
          <p:nvPr/>
        </p:nvSpPr>
        <p:spPr>
          <a:xfrm>
            <a:off x="7518391" y="2783619"/>
            <a:ext cx="3767383" cy="7719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For length-1 vectors, the dot product is the cosine: 1 = identical spectra, 0 = nothing shared.</a:t>
            </a:r>
            <a:endParaRPr lang="en-US" sz="1400" dirty="0"/>
          </a:p>
        </p:txBody>
      </p:sp>
      <p:sp>
        <p:nvSpPr>
          <p:cNvPr id="8" name="Text 6"/>
          <p:cNvSpPr/>
          <p:nvPr/>
        </p:nvSpPr>
        <p:spPr>
          <a:xfrm>
            <a:off x="7518391" y="3580978"/>
            <a:ext cx="3767383"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A3A"/>
                </a:solidFill>
                <a:latin typeface="JetBrains Mono" pitchFamily="49" charset="0"/>
                <a:ea typeface="JetBrains Mono" pitchFamily="49" charset="-122"/>
                <a:cs typeface="JetBrains Mono" pitchFamily="49" charset="-120"/>
              </a:rPr>
              <a:t>(1,0,1)/√2 · (1,1,0)/√2 = ½</a:t>
            </a:r>
            <a:endParaRPr lang="en-US" sz="1300" dirty="0"/>
          </a:p>
        </p:txBody>
      </p:sp>
      <p:sp>
        <p:nvSpPr>
          <p:cNvPr id="9" name="Shape 7"/>
          <p:cNvSpPr/>
          <p:nvPr/>
        </p:nvSpPr>
        <p:spPr>
          <a:xfrm>
            <a:off x="7315218" y="4167684"/>
            <a:ext cx="4064000" cy="1432268"/>
          </a:xfrm>
          <a:prstGeom prst="roundRect">
            <a:avLst>
              <a:gd name="adj" fmla="val 7094"/>
            </a:avLst>
          </a:prstGeom>
          <a:solidFill>
            <a:srgbClr val="ECF0F3"/>
          </a:solidFill>
          <a:ln/>
        </p:spPr>
      </p:sp>
      <p:sp>
        <p:nvSpPr>
          <p:cNvPr id="10" name="Text 8"/>
          <p:cNvSpPr/>
          <p:nvPr/>
        </p:nvSpPr>
        <p:spPr>
          <a:xfrm>
            <a:off x="7518391" y="4370846"/>
            <a:ext cx="3767383"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9520F"/>
                </a:solidFill>
                <a:latin typeface="IBM Plex Sans" pitchFamily="34" charset="0"/>
                <a:ea typeface="IBM Plex Sans" pitchFamily="34" charset="-122"/>
                <a:cs typeface="IBM Plex Sans" pitchFamily="34" charset="-120"/>
              </a:rPr>
              <a:t>Why not just greedy?</a:t>
            </a:r>
            <a:endParaRPr lang="en-US" sz="1500" dirty="0"/>
          </a:p>
        </p:txBody>
      </p:sp>
      <p:sp>
        <p:nvSpPr>
          <p:cNvPr id="11" name="Text 9"/>
          <p:cNvSpPr/>
          <p:nvPr/>
        </p:nvSpPr>
        <p:spPr>
          <a:xfrm>
            <a:off x="7518391" y="4650197"/>
            <a:ext cx="3767383" cy="7719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Similarities [[0.9, 0.8], [0.85, 0.1]]. Greedy takes 0.9, then is stuck with 0.1: total 1.0. Best pairing: 0.8 + 0.85 = </a:t>
            </a:r>
            <a:r>
              <a:rPr lang="en-US" sz="1400" b="1" dirty="0">
                <a:solidFill>
                  <a:srgbClr val="3E4A56"/>
                </a:solidFill>
                <a:latin typeface="IBM Plex Sans" pitchFamily="34" charset="0"/>
                <a:ea typeface="IBM Plex Sans" pitchFamily="34" charset="-122"/>
                <a:cs typeface="IBM Plex Sans" pitchFamily="34" charset="-120"/>
              </a:rPr>
              <a:t>1.65</a:t>
            </a:r>
            <a:r>
              <a:rPr lang="en-US" sz="1400" dirty="0">
                <a:solidFill>
                  <a:srgbClr val="3E4A56"/>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14 · Peaks more than 20 min apart are never paired. Code: match_anchors, harvest_anchors. The fish data give 25,011 anchors.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15 · CHOOSING Λ</a:t>
            </a:r>
            <a:endParaRPr lang="en-US" sz="1200" dirty="0"/>
          </a:p>
        </p:txBody>
      </p:sp>
      <p:sp>
        <p:nvSpPr>
          <p:cNvPr id="3" name="Text 1"/>
          <p:cNvSpPr/>
          <p:nvPr>
            <p:ph type="title"/>
          </p:nvPr>
        </p:nvSpPr>
        <p:spPr>
          <a:xfrm>
            <a:off x="812782" y="1127658"/>
            <a:ext cx="11379218"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Hide whole stretches of time, then try to predict them</a:t>
            </a:r>
            <a:endParaRPr lang="en-US" sz="3200" dirty="0"/>
          </a:p>
        </p:txBody>
      </p:sp>
      <p:sp>
        <p:nvSpPr>
          <p:cNvPr id="4" name="Text 2"/>
          <p:cNvSpPr/>
          <p:nvPr/>
        </p:nvSpPr>
        <p:spPr>
          <a:xfrm>
            <a:off x="812782" y="1854076"/>
            <a:ext cx="5284752" cy="1130156"/>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Cross-validation:</a:t>
            </a:r>
            <a:r>
              <a:rPr lang="en-US" sz="1500" dirty="0">
                <a:solidFill>
                  <a:srgbClr val="3E4A56"/>
                </a:solidFill>
                <a:latin typeface="IBM Plex Sans" pitchFamily="34" charset="0"/>
                <a:ea typeface="IBM Plex Sans" pitchFamily="34" charset="-122"/>
                <a:cs typeface="IBM Plex Sans" pitchFamily="34" charset="-120"/>
              </a:rPr>
              <a:t> hide part of the anchors, fit on the rest, score how well the fit predicts the hidden ones. Try each λ; keep the best score. The truth and the evaluation metric are never used.</a:t>
            </a:r>
            <a:endParaRPr lang="en-US" sz="1500" dirty="0"/>
          </a:p>
        </p:txBody>
      </p:sp>
      <p:sp>
        <p:nvSpPr>
          <p:cNvPr id="5" name="Text 3"/>
          <p:cNvSpPr/>
          <p:nvPr/>
        </p:nvSpPr>
        <p:spPr>
          <a:xfrm>
            <a:off x="6248391" y="1854076"/>
            <a:ext cx="5284752" cy="1130156"/>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Why hide time, not samples?</a:t>
            </a:r>
            <a:r>
              <a:rPr lang="en-US" sz="1500" dirty="0">
                <a:solidFill>
                  <a:srgbClr val="3E4A56"/>
                </a:solidFill>
                <a:latin typeface="IBM Plex Sans" pitchFamily="34" charset="0"/>
                <a:ea typeface="IBM Plex Sans" pitchFamily="34" charset="-122"/>
                <a:cs typeface="IBM Plex Sans" pitchFamily="34" charset="-120"/>
              </a:rPr>
              <a:t> Hidden samples leave anchors at the same compounds’ times as the training anchors, so a wiggly drift that passes through every compound still looks perfect.</a:t>
            </a:r>
            <a:endParaRPr lang="en-US" sz="1500" dirty="0"/>
          </a:p>
        </p:txBody>
      </p:sp>
      <p:sp>
        <p:nvSpPr>
          <p:cNvPr id="6" name="Text 4"/>
          <p:cNvSpPr/>
          <p:nvPr/>
        </p:nvSpPr>
        <p:spPr>
          <a:xfrm>
            <a:off x="812782" y="3238227"/>
            <a:ext cx="1088342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6"/>
                </a:solidFill>
                <a:latin typeface="IBM Plex Sans" pitchFamily="34" charset="0"/>
                <a:ea typeface="IBM Plex Sans" pitchFamily="34" charset="-122"/>
                <a:cs typeface="IBM Plex Sans" pitchFamily="34" charset="-120"/>
              </a:rPr>
              <a:t>Retention time cut into blocks of 12 bins; block b goes to fold b mod 5:</a:t>
            </a:r>
            <a:endParaRPr lang="en-US" sz="1400" dirty="0"/>
          </a:p>
        </p:txBody>
      </p:sp>
      <p:sp>
        <p:nvSpPr>
          <p:cNvPr id="7" name="Text 5"/>
          <p:cNvSpPr/>
          <p:nvPr/>
        </p:nvSpPr>
        <p:spPr>
          <a:xfrm>
            <a:off x="812782" y="3588643"/>
            <a:ext cx="1010904" cy="451987"/>
          </a:xfrm>
          <a:prstGeom prst="roundRect">
            <a:avLst>
              <a:gd name="adj" fmla="val 11239"/>
            </a:avLst>
          </a:prstGeom>
          <a:solidFill>
            <a:srgbClr val="2F6FBF"/>
          </a:solidFill>
          <a:ln/>
        </p:spPr>
        <p:txBody>
          <a:bodyPr wrap="square" lIns="61321" tIns="86721" rIns="61321" bIns="61321" rtlCol="0" anchor="t">
            <a:normAutofit/>
          </a:bodyPr>
          <a:lstStyle/>
          <a:p>
            <a:pPr algn="ctr"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0</a:t>
            </a:r>
            <a:endParaRPr lang="en-US" sz="1400" dirty="0"/>
          </a:p>
        </p:txBody>
      </p:sp>
      <p:sp>
        <p:nvSpPr>
          <p:cNvPr id="8" name="Text 6"/>
          <p:cNvSpPr/>
          <p:nvPr/>
        </p:nvSpPr>
        <p:spPr>
          <a:xfrm>
            <a:off x="1874468" y="3588643"/>
            <a:ext cx="1010949" cy="451987"/>
          </a:xfrm>
          <a:prstGeom prst="roundRect">
            <a:avLst>
              <a:gd name="adj" fmla="val 11239"/>
            </a:avLst>
          </a:prstGeom>
          <a:solidFill>
            <a:srgbClr val="DCE7F6"/>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1</a:t>
            </a:r>
            <a:endParaRPr lang="en-US" sz="1400" dirty="0"/>
          </a:p>
        </p:txBody>
      </p:sp>
      <p:sp>
        <p:nvSpPr>
          <p:cNvPr id="9" name="Text 7"/>
          <p:cNvSpPr/>
          <p:nvPr/>
        </p:nvSpPr>
        <p:spPr>
          <a:xfrm>
            <a:off x="2936198" y="3588643"/>
            <a:ext cx="1010904" cy="451987"/>
          </a:xfrm>
          <a:prstGeom prst="roundRect">
            <a:avLst>
              <a:gd name="adj" fmla="val 11239"/>
            </a:avLst>
          </a:prstGeom>
          <a:solidFill>
            <a:srgbClr val="C8641E"/>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2</a:t>
            </a:r>
            <a:endParaRPr lang="en-US" sz="1400" dirty="0"/>
          </a:p>
        </p:txBody>
      </p:sp>
      <p:sp>
        <p:nvSpPr>
          <p:cNvPr id="10" name="Text 8"/>
          <p:cNvSpPr/>
          <p:nvPr/>
        </p:nvSpPr>
        <p:spPr>
          <a:xfrm>
            <a:off x="3997884" y="3588643"/>
            <a:ext cx="1010949" cy="451987"/>
          </a:xfrm>
          <a:prstGeom prst="roundRect">
            <a:avLst>
              <a:gd name="adj" fmla="val 11239"/>
            </a:avLst>
          </a:prstGeom>
          <a:solidFill>
            <a:srgbClr val="F5E2D3"/>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3</a:t>
            </a:r>
            <a:endParaRPr lang="en-US" sz="1400" dirty="0"/>
          </a:p>
        </p:txBody>
      </p:sp>
      <p:sp>
        <p:nvSpPr>
          <p:cNvPr id="11" name="Text 9"/>
          <p:cNvSpPr/>
          <p:nvPr/>
        </p:nvSpPr>
        <p:spPr>
          <a:xfrm>
            <a:off x="5059615" y="3588643"/>
            <a:ext cx="1010949" cy="451987"/>
          </a:xfrm>
          <a:prstGeom prst="roundRect">
            <a:avLst>
              <a:gd name="adj" fmla="val 11239"/>
            </a:avLst>
          </a:prstGeom>
          <a:solidFill>
            <a:srgbClr val="9AA8B5"/>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4</a:t>
            </a:r>
            <a:endParaRPr lang="en-US" sz="1400" dirty="0"/>
          </a:p>
        </p:txBody>
      </p:sp>
      <p:sp>
        <p:nvSpPr>
          <p:cNvPr id="12" name="Text 10"/>
          <p:cNvSpPr/>
          <p:nvPr/>
        </p:nvSpPr>
        <p:spPr>
          <a:xfrm>
            <a:off x="6121346" y="3588643"/>
            <a:ext cx="1010949" cy="451987"/>
          </a:xfrm>
          <a:prstGeom prst="roundRect">
            <a:avLst>
              <a:gd name="adj" fmla="val 11239"/>
            </a:avLst>
          </a:prstGeom>
          <a:solidFill>
            <a:srgbClr val="2F6FBF"/>
          </a:solidFill>
          <a:ln/>
        </p:spPr>
        <p:txBody>
          <a:bodyPr wrap="square" lIns="61321" tIns="86721" rIns="61321" bIns="61321" rtlCol="0" anchor="t">
            <a:normAutofit/>
          </a:bodyPr>
          <a:lstStyle/>
          <a:p>
            <a:pPr algn="ctr"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0</a:t>
            </a:r>
            <a:endParaRPr lang="en-US" sz="1400" dirty="0"/>
          </a:p>
        </p:txBody>
      </p:sp>
      <p:sp>
        <p:nvSpPr>
          <p:cNvPr id="13" name="Text 11"/>
          <p:cNvSpPr/>
          <p:nvPr/>
        </p:nvSpPr>
        <p:spPr>
          <a:xfrm>
            <a:off x="7183076" y="3588643"/>
            <a:ext cx="1010949" cy="451987"/>
          </a:xfrm>
          <a:prstGeom prst="roundRect">
            <a:avLst>
              <a:gd name="adj" fmla="val 11239"/>
            </a:avLst>
          </a:prstGeom>
          <a:solidFill>
            <a:srgbClr val="DCE7F6"/>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1</a:t>
            </a:r>
            <a:endParaRPr lang="en-US" sz="1400" dirty="0"/>
          </a:p>
        </p:txBody>
      </p:sp>
      <p:sp>
        <p:nvSpPr>
          <p:cNvPr id="14" name="Text 12"/>
          <p:cNvSpPr/>
          <p:nvPr/>
        </p:nvSpPr>
        <p:spPr>
          <a:xfrm>
            <a:off x="8244808" y="3588643"/>
            <a:ext cx="1010949" cy="451987"/>
          </a:xfrm>
          <a:prstGeom prst="roundRect">
            <a:avLst>
              <a:gd name="adj" fmla="val 11239"/>
            </a:avLst>
          </a:prstGeom>
          <a:solidFill>
            <a:srgbClr val="C8641E"/>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2</a:t>
            </a:r>
            <a:endParaRPr lang="en-US" sz="1400" dirty="0"/>
          </a:p>
        </p:txBody>
      </p:sp>
      <p:sp>
        <p:nvSpPr>
          <p:cNvPr id="15" name="Text 13"/>
          <p:cNvSpPr/>
          <p:nvPr/>
        </p:nvSpPr>
        <p:spPr>
          <a:xfrm>
            <a:off x="9306538" y="3588643"/>
            <a:ext cx="1010949" cy="451987"/>
          </a:xfrm>
          <a:prstGeom prst="roundRect">
            <a:avLst>
              <a:gd name="adj" fmla="val 11239"/>
            </a:avLst>
          </a:prstGeom>
          <a:solidFill>
            <a:srgbClr val="F5E2D3"/>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3</a:t>
            </a:r>
            <a:endParaRPr lang="en-US" sz="1400" dirty="0"/>
          </a:p>
        </p:txBody>
      </p:sp>
      <p:sp>
        <p:nvSpPr>
          <p:cNvPr id="16" name="Text 14"/>
          <p:cNvSpPr/>
          <p:nvPr/>
        </p:nvSpPr>
        <p:spPr>
          <a:xfrm>
            <a:off x="10368269" y="3588643"/>
            <a:ext cx="1010949" cy="451987"/>
          </a:xfrm>
          <a:prstGeom prst="roundRect">
            <a:avLst>
              <a:gd name="adj" fmla="val 11239"/>
            </a:avLst>
          </a:prstGeom>
          <a:solidFill>
            <a:srgbClr val="9AA8B5"/>
          </a:solidFill>
          <a:ln/>
        </p:spPr>
        <p:txBody>
          <a:bodyPr wrap="square" lIns="61321" tIns="86721" rIns="61321" bIns="61321" rtlCol="0" anchor="t">
            <a:normAutofit/>
          </a:bodyPr>
          <a:lstStyle/>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4</a:t>
            </a:r>
            <a:endParaRPr lang="en-US" sz="1400" dirty="0"/>
          </a:p>
        </p:txBody>
      </p:sp>
      <p:sp>
        <p:nvSpPr>
          <p:cNvPr id="17" name="Text 15"/>
          <p:cNvSpPr/>
          <p:nvPr/>
        </p:nvSpPr>
        <p:spPr>
          <a:xfrm>
            <a:off x="812782" y="4142197"/>
            <a:ext cx="10883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Bins 0–11, 12–23, …, 108–119: the first ten blocks, labelled with their fold.</a:t>
            </a:r>
            <a:endParaRPr lang="en-US" sz="1200" dirty="0"/>
          </a:p>
        </p:txBody>
      </p:sp>
      <p:sp>
        <p:nvSpPr>
          <p:cNvPr id="18" name="Text 16"/>
          <p:cNvSpPr/>
          <p:nvPr/>
        </p:nvSpPr>
        <p:spPr>
          <a:xfrm>
            <a:off x="812782" y="4634905"/>
            <a:ext cx="10883429"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Example: t = 30 is in block 2 → fold 2; t = 70 is in block 5 → fold 0. The anchor (30, 70) is hidden in both folds 2 and 0. On the fish data this chose </a:t>
            </a:r>
            <a:r>
              <a:rPr lang="en-US" sz="1500" b="1" dirty="0">
                <a:solidFill>
                  <a:srgbClr val="3E4A56"/>
                </a:solidFill>
                <a:latin typeface="IBM Plex Sans" pitchFamily="34" charset="0"/>
                <a:ea typeface="IBM Plex Sans" pitchFamily="34" charset="-122"/>
                <a:cs typeface="IBM Plex Sans" pitchFamily="34" charset="-120"/>
              </a:rPr>
              <a:t>λ = 10</a:t>
            </a:r>
            <a:r>
              <a:rPr lang="en-US" sz="1500" dirty="0">
                <a:solidFill>
                  <a:srgbClr val="3E4A56"/>
                </a:solidFill>
                <a:latin typeface="IBM Plex Sans" pitchFamily="34" charset="0"/>
                <a:ea typeface="IBM Plex Sans" pitchFamily="34" charset="-122"/>
                <a:cs typeface="IBM Plex Sans" pitchFamily="34" charset="-120"/>
              </a:rPr>
              <a:t>.</a:t>
            </a:r>
            <a:endParaRPr lang="en-US" sz="1500" dirty="0"/>
          </a:p>
        </p:txBody>
      </p:sp>
      <p:sp>
        <p:nvSpPr>
          <p:cNvPr id="19" name="Text 17"/>
          <p:cNvSpPr/>
          <p:nvPr/>
        </p:nvSpPr>
        <p:spPr>
          <a:xfrm>
            <a:off x="812782" y="6238280"/>
            <a:ext cx="11379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15 · An anchor trains a fold only if neither of its times is in that fold. Score: median |prediction error|. Code: scripts/30_multibatch_align.py.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25055"/>
          </a:xfrm>
          <a:prstGeom prst="rect">
            <a:avLst/>
          </a:prstGeom>
          <a:noFill/>
          <a:ln/>
        </p:spPr>
        <p:txBody>
          <a:bodyPr wrap="square" lIns="0" tIns="0" rIns="0" bIns="0" rtlCol="0" anchor="t">
            <a:normAutofit/>
          </a:bodyPr>
          <a:lstStyle/>
          <a:p>
            <a:pPr algn="l" indent="0" marL="0">
              <a:lnSpc>
                <a:spcPts val="1575"/>
              </a:lnSpc>
              <a:buNone/>
            </a:pPr>
            <a:r>
              <a:rPr lang="en-US" sz="1125" b="1" spc="100" kern="0" dirty="0">
                <a:solidFill>
                  <a:srgbClr val="2F6FBF"/>
                </a:solidFill>
                <a:latin typeface="IBM Plex Sans" pitchFamily="34" charset="0"/>
                <a:ea typeface="IBM Plex Sans" pitchFamily="34" charset="-122"/>
                <a:cs typeface="IBM Plex Sans" pitchFamily="34" charset="-120"/>
              </a:rPr>
              <a:t>16 · BOOTSTRAP UNCERTAINTY</a:t>
            </a:r>
            <a:endParaRPr lang="en-US" sz="1125" dirty="0"/>
          </a:p>
        </p:txBody>
      </p:sp>
      <p:sp>
        <p:nvSpPr>
          <p:cNvPr id="3" name="Text 1"/>
          <p:cNvSpPr/>
          <p:nvPr>
            <p:ph type="title"/>
          </p:nvPr>
        </p:nvSpPr>
        <p:spPr>
          <a:xfrm>
            <a:off x="812782" y="1113991"/>
            <a:ext cx="11379218" cy="862130"/>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B2A3A"/>
                </a:solidFill>
                <a:latin typeface="Source Serif 4" pitchFamily="18" charset="0"/>
                <a:ea typeface="Source Serif 4" pitchFamily="18" charset="-122"/>
                <a:cs typeface="Source Serif 4" pitchFamily="18" charset="-120"/>
              </a:rPr>
              <a:t>Refit on resampled data to see how much the warps move</a:t>
            </a:r>
            <a:endParaRPr lang="en-US" sz="3020" dirty="0"/>
          </a:p>
        </p:txBody>
      </p:sp>
      <p:sp>
        <p:nvSpPr>
          <p:cNvPr id="4" name="Shape 2"/>
          <p:cNvSpPr/>
          <p:nvPr/>
        </p:nvSpPr>
        <p:spPr>
          <a:xfrm>
            <a:off x="815957" y="2233290"/>
            <a:ext cx="3380347" cy="1706526"/>
          </a:xfrm>
          <a:prstGeom prst="roundRect">
            <a:avLst>
              <a:gd name="adj" fmla="val 5768"/>
            </a:avLst>
          </a:prstGeom>
          <a:solidFill>
            <a:srgbClr val="FDFCF9"/>
          </a:solidFill>
          <a:ln w="6350">
            <a:solidFill>
              <a:srgbClr val="D3DAE0"/>
            </a:solidFill>
            <a:prstDash val="solid"/>
          </a:ln>
        </p:spPr>
      </p:sp>
      <p:sp>
        <p:nvSpPr>
          <p:cNvPr id="5" name="Text 3"/>
          <p:cNvSpPr/>
          <p:nvPr/>
        </p:nvSpPr>
        <p:spPr>
          <a:xfrm>
            <a:off x="1047119" y="2464457"/>
            <a:ext cx="3005564" cy="248823"/>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B2A3A"/>
                </a:solidFill>
                <a:latin typeface="IBM Plex Sans" pitchFamily="34" charset="0"/>
                <a:ea typeface="IBM Plex Sans" pitchFamily="34" charset="-122"/>
                <a:cs typeface="IBM Plex Sans" pitchFamily="34" charset="-120"/>
              </a:rPr>
              <a:t>1. Resample</a:t>
            </a:r>
            <a:endParaRPr lang="en-US" sz="1475" dirty="0"/>
          </a:p>
        </p:txBody>
      </p:sp>
      <p:sp>
        <p:nvSpPr>
          <p:cNvPr id="6" name="Text 4"/>
          <p:cNvSpPr/>
          <p:nvPr/>
        </p:nvSpPr>
        <p:spPr>
          <a:xfrm>
            <a:off x="1047119" y="2764048"/>
            <a:ext cx="3005564" cy="970008"/>
          </a:xfrm>
          <a:prstGeom prst="rect">
            <a:avLst/>
          </a:prstGeom>
          <a:noFill/>
          <a:ln/>
        </p:spPr>
        <p:txBody>
          <a:bodyPr wrap="square" lIns="0" tIns="0" rIns="0" bIns="0" rtlCol="0" anchor="t">
            <a:normAutofit/>
          </a:bodyPr>
          <a:lstStyle/>
          <a:p>
            <a:pPr algn="l" indent="0" marL="0">
              <a:lnSpc>
                <a:spcPts val="1878"/>
              </a:lnSpc>
              <a:buNone/>
            </a:pPr>
            <a:r>
              <a:rPr lang="en-US" sz="1295" dirty="0">
                <a:solidFill>
                  <a:srgbClr val="3E4A56"/>
                </a:solidFill>
                <a:latin typeface="IBM Plex Sans" pitchFamily="34" charset="0"/>
                <a:ea typeface="IBM Plex Sans" pitchFamily="34" charset="-122"/>
                <a:cs typeface="IBM Plex Sans" pitchFamily="34" charset="-120"/>
              </a:rPr>
              <a:t>Within each batch, draw samples with replacement. Counts (2, 0, 1): sample 0 twice, sample 1 never, sample 2 once.</a:t>
            </a:r>
            <a:endParaRPr lang="en-US" sz="1295" dirty="0"/>
          </a:p>
        </p:txBody>
      </p:sp>
      <p:sp>
        <p:nvSpPr>
          <p:cNvPr id="7" name="Shape 5"/>
          <p:cNvSpPr/>
          <p:nvPr/>
        </p:nvSpPr>
        <p:spPr>
          <a:xfrm>
            <a:off x="4405826" y="2233290"/>
            <a:ext cx="3380347" cy="1706526"/>
          </a:xfrm>
          <a:prstGeom prst="roundRect">
            <a:avLst>
              <a:gd name="adj" fmla="val 5768"/>
            </a:avLst>
          </a:prstGeom>
          <a:solidFill>
            <a:srgbClr val="FDFCF9"/>
          </a:solidFill>
          <a:ln w="6350">
            <a:solidFill>
              <a:srgbClr val="D3DAE0"/>
            </a:solidFill>
            <a:prstDash val="solid"/>
          </a:ln>
        </p:spPr>
      </p:sp>
      <p:sp>
        <p:nvSpPr>
          <p:cNvPr id="8" name="Text 6"/>
          <p:cNvSpPr/>
          <p:nvPr/>
        </p:nvSpPr>
        <p:spPr>
          <a:xfrm>
            <a:off x="4636988" y="2464457"/>
            <a:ext cx="3005564"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2. Reweight, refit</a:t>
            </a:r>
            <a:endParaRPr lang="en-US" sz="1600" dirty="0"/>
          </a:p>
        </p:txBody>
      </p:sp>
      <p:sp>
        <p:nvSpPr>
          <p:cNvPr id="9" name="Text 7"/>
          <p:cNvSpPr/>
          <p:nvPr/>
        </p:nvSpPr>
        <p:spPr>
          <a:xfrm>
            <a:off x="4636988" y="2784475"/>
            <a:ext cx="3005564"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An anchor’s weight = the product of its two samples’ counts: 2 × 1 = 2. Refit, and repeat 200 times.</a:t>
            </a:r>
            <a:endParaRPr lang="en-US" sz="1400" dirty="0"/>
          </a:p>
        </p:txBody>
      </p:sp>
      <p:sp>
        <p:nvSpPr>
          <p:cNvPr id="10" name="Shape 8"/>
          <p:cNvSpPr/>
          <p:nvPr/>
        </p:nvSpPr>
        <p:spPr>
          <a:xfrm>
            <a:off x="7995696" y="2233290"/>
            <a:ext cx="3380347" cy="1706526"/>
          </a:xfrm>
          <a:prstGeom prst="roundRect">
            <a:avLst>
              <a:gd name="adj" fmla="val 5768"/>
            </a:avLst>
          </a:prstGeom>
          <a:solidFill>
            <a:srgbClr val="FDFCF9"/>
          </a:solidFill>
          <a:ln w="6350">
            <a:solidFill>
              <a:srgbClr val="D3DAE0"/>
            </a:solidFill>
            <a:prstDash val="solid"/>
          </a:ln>
        </p:spPr>
      </p:sp>
      <p:sp>
        <p:nvSpPr>
          <p:cNvPr id="11" name="Text 9"/>
          <p:cNvSpPr/>
          <p:nvPr/>
        </p:nvSpPr>
        <p:spPr>
          <a:xfrm>
            <a:off x="8226858" y="2464457"/>
            <a:ext cx="3005564" cy="248823"/>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B2A3A"/>
                </a:solidFill>
                <a:latin typeface="IBM Plex Sans" pitchFamily="34" charset="0"/>
                <a:ea typeface="IBM Plex Sans" pitchFamily="34" charset="-122"/>
                <a:cs typeface="IBM Plex Sans" pitchFamily="34" charset="-120"/>
              </a:rPr>
              <a:t>3. Read off a band</a:t>
            </a:r>
            <a:endParaRPr lang="en-US" sz="1475" dirty="0"/>
          </a:p>
        </p:txBody>
      </p:sp>
      <p:sp>
        <p:nvSpPr>
          <p:cNvPr id="12" name="Text 10"/>
          <p:cNvSpPr/>
          <p:nvPr/>
        </p:nvSpPr>
        <p:spPr>
          <a:xfrm>
            <a:off x="8226858" y="2764048"/>
            <a:ext cx="3005564" cy="970008"/>
          </a:xfrm>
          <a:prstGeom prst="rect">
            <a:avLst/>
          </a:prstGeom>
          <a:noFill/>
          <a:ln/>
        </p:spPr>
        <p:txBody>
          <a:bodyPr wrap="square" lIns="0" tIns="0" rIns="0" bIns="0" rtlCol="0" anchor="t">
            <a:normAutofit/>
          </a:bodyPr>
          <a:lstStyle/>
          <a:p>
            <a:pPr algn="l" indent="0" marL="0">
              <a:lnSpc>
                <a:spcPts val="1922"/>
              </a:lnSpc>
              <a:buNone/>
            </a:pPr>
            <a:r>
              <a:rPr lang="en-US" sz="1326" dirty="0">
                <a:solidFill>
                  <a:srgbClr val="3E4A56"/>
                </a:solidFill>
                <a:latin typeface="IBM Plex Sans" pitchFamily="34" charset="0"/>
                <a:ea typeface="IBM Plex Sans" pitchFamily="34" charset="-122"/>
                <a:cs typeface="IBM Plex Sans" pitchFamily="34" charset="-120"/>
              </a:rPr>
              <a:t>The 5th–95th percentile of the refitted maps at each time: a 90% band. Add anchor scatter for a predictive interval.</a:t>
            </a:r>
            <a:endParaRPr lang="en-US" sz="1326" dirty="0"/>
          </a:p>
        </p:txBody>
      </p:sp>
      <p:sp>
        <p:nvSpPr>
          <p:cNvPr id="13" name="Shape 11"/>
          <p:cNvSpPr/>
          <p:nvPr/>
        </p:nvSpPr>
        <p:spPr>
          <a:xfrm>
            <a:off x="812782" y="4222390"/>
            <a:ext cx="10566436" cy="1619611"/>
          </a:xfrm>
          <a:prstGeom prst="roundRect">
            <a:avLst>
              <a:gd name="adj" fmla="val 6273"/>
            </a:avLst>
          </a:prstGeom>
          <a:solidFill>
            <a:srgbClr val="1B2A3A"/>
          </a:solidFill>
          <a:ln/>
        </p:spPr>
      </p:sp>
      <p:sp>
        <p:nvSpPr>
          <p:cNvPr id="14" name="Text 12"/>
          <p:cNvSpPr/>
          <p:nvPr/>
        </p:nvSpPr>
        <p:spPr>
          <a:xfrm>
            <a:off x="1066782" y="4476390"/>
            <a:ext cx="10360189" cy="577688"/>
          </a:xfrm>
          <a:prstGeom prst="rect">
            <a:avLst/>
          </a:prstGeom>
          <a:noFill/>
          <a:ln/>
        </p:spPr>
        <p:txBody>
          <a:bodyPr wrap="square" lIns="0" tIns="0" rIns="0" bIns="0" rtlCol="0" anchor="t">
            <a:normAutofit/>
          </a:bodyPr>
          <a:lstStyle/>
          <a:p>
            <a:pPr algn="l" indent="0" marL="0">
              <a:lnSpc>
                <a:spcPts val="2182"/>
              </a:lnSpc>
              <a:buNone/>
            </a:pPr>
            <a:r>
              <a:rPr lang="en-US" sz="1505" b="1" dirty="0">
                <a:solidFill>
                  <a:srgbClr val="F2EFE8"/>
                </a:solidFill>
                <a:latin typeface="IBM Plex Sans" pitchFamily="34" charset="0"/>
                <a:ea typeface="IBM Plex Sans" pitchFamily="34" charset="-122"/>
                <a:cs typeface="IBM Plex Sans" pitchFamily="34" charset="-120"/>
              </a:rPr>
              <a:t>Honest result: the intervals are too narrow.</a:t>
            </a:r>
            <a:r>
              <a:rPr lang="en-US" sz="1505" dirty="0">
                <a:solidFill>
                  <a:srgbClr val="F2EFE8"/>
                </a:solidFill>
                <a:latin typeface="IBM Plex Sans" pitchFamily="34" charset="0"/>
                <a:ea typeface="IBM Plex Sans" pitchFamily="34" charset="-122"/>
                <a:cs typeface="IBM Plex Sans" pitchFamily="34" charset="-120"/>
              </a:rPr>
              <a:t> On the fish data the 90% predictive intervals contain 81% of held-out anchors (paper result).</a:t>
            </a:r>
            <a:endParaRPr lang="en-US" sz="1505" dirty="0"/>
          </a:p>
        </p:txBody>
      </p:sp>
      <p:sp>
        <p:nvSpPr>
          <p:cNvPr id="15" name="Text 13"/>
          <p:cNvSpPr/>
          <p:nvPr/>
        </p:nvSpPr>
        <p:spPr>
          <a:xfrm>
            <a:off x="1066782" y="5104842"/>
            <a:ext cx="10360189" cy="508550"/>
          </a:xfrm>
          <a:prstGeom prst="rect">
            <a:avLst/>
          </a:prstGeom>
          <a:noFill/>
          <a:ln/>
        </p:spPr>
        <p:txBody>
          <a:bodyPr wrap="square" lIns="0" tIns="0" rIns="0" bIns="0" rtlCol="0" anchor="t">
            <a:normAutofit/>
          </a:bodyPr>
          <a:lstStyle/>
          <a:p>
            <a:pPr algn="l" indent="0" marL="0">
              <a:lnSpc>
                <a:spcPts val="1909"/>
              </a:lnSpc>
              <a:buNone/>
            </a:pPr>
            <a:r>
              <a:rPr lang="en-US" sz="1317" dirty="0">
                <a:solidFill>
                  <a:srgbClr val="C9D3DC"/>
                </a:solidFill>
                <a:latin typeface="IBM Plex Sans" pitchFamily="34" charset="0"/>
                <a:ea typeface="IBM Plex Sans" pitchFamily="34" charset="-122"/>
                <a:cs typeface="IBM Plex Sans" pitchFamily="34" charset="-120"/>
              </a:rPr>
              <a:t>Why: a bootstrap sees how much a fit </a:t>
            </a:r>
            <a:r>
              <a:rPr lang="en-US" sz="1317" i="1" dirty="0">
                <a:solidFill>
                  <a:srgbClr val="C9D3DC"/>
                </a:solidFill>
                <a:latin typeface="IBM Plex Sans" pitchFamily="34" charset="0"/>
                <a:ea typeface="IBM Plex Sans" pitchFamily="34" charset="-122"/>
                <a:cs typeface="IBM Plex Sans" pitchFamily="34" charset="-120"/>
              </a:rPr>
              <a:t>varies</a:t>
            </a:r>
            <a:r>
              <a:rPr lang="en-US" sz="1317" dirty="0">
                <a:solidFill>
                  <a:srgbClr val="C9D3DC"/>
                </a:solidFill>
                <a:latin typeface="IBM Plex Sans" pitchFamily="34" charset="0"/>
                <a:ea typeface="IBM Plex Sans" pitchFamily="34" charset="-122"/>
                <a:cs typeface="IBM Plex Sans" pitchFamily="34" charset="-120"/>
              </a:rPr>
              <a:t>, not a </a:t>
            </a:r>
            <a:r>
              <a:rPr lang="en-US" sz="1317" i="1" dirty="0">
                <a:solidFill>
                  <a:srgbClr val="C9D3DC"/>
                </a:solidFill>
                <a:latin typeface="IBM Plex Sans" pitchFamily="34" charset="0"/>
                <a:ea typeface="IBM Plex Sans" pitchFamily="34" charset="-122"/>
                <a:cs typeface="IBM Plex Sans" pitchFamily="34" charset="-120"/>
              </a:rPr>
              <a:t>bias</a:t>
            </a:r>
            <a:r>
              <a:rPr lang="en-US" sz="1317" dirty="0">
                <a:solidFill>
                  <a:srgbClr val="C9D3DC"/>
                </a:solidFill>
                <a:latin typeface="IBM Plex Sans" pitchFamily="34" charset="0"/>
                <a:ea typeface="IBM Plex Sans" pitchFamily="34" charset="-122"/>
                <a:cs typeface="IBM Plex Sans" pitchFamily="34" charset="-120"/>
              </a:rPr>
              <a:t> every refit shares. The smoothness penalty pulls every refit towards a straighter drift the same way, so the band sits in slightly the wrong place.</a:t>
            </a:r>
            <a:endParaRPr lang="en-US" sz="1317" dirty="0"/>
          </a:p>
        </p:txBody>
      </p:sp>
      <p:sp>
        <p:nvSpPr>
          <p:cNvPr id="16" name="Text 14"/>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Notebook § 16 · Predictive half-width = √(half-band² + (1.645 σ)²), σ the pair’s robust scale. Calibration (e.g. conformal) is the suggested fix.</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4E6"/>
                </a:solidFill>
                <a:latin typeface="IBM Plex Sans" pitchFamily="34" charset="0"/>
                <a:ea typeface="IBM Plex Sans" pitchFamily="34" charset="-122"/>
                <a:cs typeface="IBM Plex Sans" pitchFamily="34" charset="-120"/>
              </a:rPr>
              <a:t>THE WHOLE RECIPE</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Source Serif 4" pitchFamily="18" charset="0"/>
                <a:ea typeface="Source Serif 4" pitchFamily="18" charset="-122"/>
                <a:cs typeface="Source Serif 4" pitchFamily="18" charset="-120"/>
              </a:rPr>
              <a:t>One least-squares problem, with four additions</a:t>
            </a:r>
            <a:endParaRPr lang="en-US" sz="3200" dirty="0"/>
          </a:p>
        </p:txBody>
      </p:sp>
      <p:sp>
        <p:nvSpPr>
          <p:cNvPr id="4" name="Text 2"/>
          <p:cNvSpPr/>
          <p:nvPr/>
        </p:nvSpPr>
        <p:spPr>
          <a:xfrm>
            <a:off x="812782" y="1854076"/>
            <a:ext cx="10883429" cy="807695"/>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7F5F0"/>
                </a:solidFill>
                <a:latin typeface="Source Serif 4" pitchFamily="18" charset="0"/>
                <a:ea typeface="Source Serif 4" pitchFamily="18" charset="-122"/>
                <a:cs typeface="Source Serif 4" pitchFamily="18" charset="-120"/>
              </a:rPr>
              <a:t>minimise Σ wⱼ rⱼ² + λ′ · bending + γ · gauge</a:t>
            </a:r>
            <a:endParaRPr lang="en-US" sz="2200" dirty="0"/>
          </a:p>
          <a:p>
            <a:pPr algn="l" indent="0" marL="0">
              <a:lnSpc>
                <a:spcPts val="3080"/>
              </a:lnSpc>
              <a:buNone/>
            </a:pPr>
            <a:r>
              <a:rPr lang="en-US" sz="2200" dirty="0">
                <a:solidFill>
                  <a:srgbClr val="C9D3DC"/>
                </a:solidFill>
                <a:latin typeface="Source Serif 4" pitchFamily="18" charset="0"/>
                <a:ea typeface="Source Serif 4" pitchFamily="18" charset="-122"/>
                <a:cs typeface="Source Serif 4" pitchFamily="18" charset="-120"/>
              </a:rPr>
              <a:t>keeping every slope between 0.5 and 2</a:t>
            </a:r>
            <a:endParaRPr lang="en-US" sz="2200" dirty="0"/>
          </a:p>
        </p:txBody>
      </p:sp>
      <p:sp>
        <p:nvSpPr>
          <p:cNvPr id="5" name="Shape 3"/>
          <p:cNvSpPr/>
          <p:nvPr/>
        </p:nvSpPr>
        <p:spPr>
          <a:xfrm>
            <a:off x="812782" y="2915766"/>
            <a:ext cx="2011660" cy="1592416"/>
          </a:xfrm>
          <a:prstGeom prst="roundRect">
            <a:avLst>
              <a:gd name="adj" fmla="val 6380"/>
            </a:avLst>
          </a:prstGeom>
          <a:solidFill>
            <a:srgbClr val="26394D"/>
          </a:solidFill>
          <a:ln/>
        </p:spPr>
      </p:sp>
      <p:sp>
        <p:nvSpPr>
          <p:cNvPr id="6" name="Text 4"/>
          <p:cNvSpPr/>
          <p:nvPr/>
        </p:nvSpPr>
        <p:spPr>
          <a:xfrm>
            <a:off x="990564" y="3093541"/>
            <a:ext cx="170689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FB4E6"/>
                </a:solidFill>
                <a:latin typeface="IBM Plex Sans" pitchFamily="34" charset="0"/>
                <a:ea typeface="IBM Plex Sans" pitchFamily="34" charset="-122"/>
                <a:cs typeface="IBM Plex Sans" pitchFamily="34" charset="-120"/>
              </a:rPr>
              <a:t>rⱼ</a:t>
            </a:r>
            <a:endParaRPr lang="en-US" sz="1500" dirty="0"/>
          </a:p>
        </p:txBody>
      </p:sp>
      <p:sp>
        <p:nvSpPr>
          <p:cNvPr id="7" name="Text 5"/>
          <p:cNvSpPr/>
          <p:nvPr/>
        </p:nvSpPr>
        <p:spPr>
          <a:xfrm>
            <a:off x="990564" y="3372892"/>
            <a:ext cx="1706896"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one miss per anchor, linear in θ</a:t>
            </a:r>
            <a:endParaRPr lang="en-US" sz="1300" dirty="0"/>
          </a:p>
        </p:txBody>
      </p:sp>
      <p:sp>
        <p:nvSpPr>
          <p:cNvPr id="8" name="Text 6"/>
          <p:cNvSpPr/>
          <p:nvPr/>
        </p:nvSpPr>
        <p:spPr>
          <a:xfrm>
            <a:off x="990564" y="3885940"/>
            <a:ext cx="17068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 3–7</a:t>
            </a:r>
            <a:endParaRPr lang="en-US" sz="1200" dirty="0"/>
          </a:p>
        </p:txBody>
      </p:sp>
      <p:sp>
        <p:nvSpPr>
          <p:cNvPr id="9" name="Shape 7"/>
          <p:cNvSpPr/>
          <p:nvPr/>
        </p:nvSpPr>
        <p:spPr>
          <a:xfrm>
            <a:off x="2951442" y="2915766"/>
            <a:ext cx="2011705" cy="1592416"/>
          </a:xfrm>
          <a:prstGeom prst="roundRect">
            <a:avLst>
              <a:gd name="adj" fmla="val 6380"/>
            </a:avLst>
          </a:prstGeom>
          <a:solidFill>
            <a:srgbClr val="26394D"/>
          </a:solidFill>
          <a:ln/>
        </p:spPr>
      </p:sp>
      <p:sp>
        <p:nvSpPr>
          <p:cNvPr id="10" name="Text 8"/>
          <p:cNvSpPr/>
          <p:nvPr/>
        </p:nvSpPr>
        <p:spPr>
          <a:xfrm>
            <a:off x="3129224" y="3093541"/>
            <a:ext cx="17069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FB4E6"/>
                </a:solidFill>
                <a:latin typeface="IBM Plex Sans" pitchFamily="34" charset="0"/>
                <a:ea typeface="IBM Plex Sans" pitchFamily="34" charset="-122"/>
                <a:cs typeface="IBM Plex Sans" pitchFamily="34" charset="-120"/>
              </a:rPr>
              <a:t>wⱼ</a:t>
            </a:r>
            <a:endParaRPr lang="en-US" sz="1500" dirty="0"/>
          </a:p>
        </p:txBody>
      </p:sp>
      <p:sp>
        <p:nvSpPr>
          <p:cNvPr id="11" name="Text 9"/>
          <p:cNvSpPr/>
          <p:nvPr/>
        </p:nvSpPr>
        <p:spPr>
          <a:xfrm>
            <a:off x="3129224" y="3372892"/>
            <a:ext cx="1706941"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robust weights, updated each round</a:t>
            </a:r>
            <a:endParaRPr lang="en-US" sz="1300" dirty="0"/>
          </a:p>
        </p:txBody>
      </p:sp>
      <p:sp>
        <p:nvSpPr>
          <p:cNvPr id="12" name="Text 10"/>
          <p:cNvSpPr/>
          <p:nvPr/>
        </p:nvSpPr>
        <p:spPr>
          <a:xfrm>
            <a:off x="3129224" y="3885940"/>
            <a:ext cx="1706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 11</a:t>
            </a:r>
            <a:endParaRPr lang="en-US" sz="1200" dirty="0"/>
          </a:p>
        </p:txBody>
      </p:sp>
      <p:sp>
        <p:nvSpPr>
          <p:cNvPr id="13" name="Shape 11"/>
          <p:cNvSpPr/>
          <p:nvPr/>
        </p:nvSpPr>
        <p:spPr>
          <a:xfrm>
            <a:off x="5090147" y="2915766"/>
            <a:ext cx="2011660" cy="1592416"/>
          </a:xfrm>
          <a:prstGeom prst="roundRect">
            <a:avLst>
              <a:gd name="adj" fmla="val 6380"/>
            </a:avLst>
          </a:prstGeom>
          <a:solidFill>
            <a:srgbClr val="26394D"/>
          </a:solidFill>
          <a:ln/>
        </p:spPr>
      </p:sp>
      <p:sp>
        <p:nvSpPr>
          <p:cNvPr id="14" name="Text 12"/>
          <p:cNvSpPr/>
          <p:nvPr/>
        </p:nvSpPr>
        <p:spPr>
          <a:xfrm>
            <a:off x="5267929" y="3093541"/>
            <a:ext cx="170689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FB4E6"/>
                </a:solidFill>
                <a:latin typeface="IBM Plex Sans" pitchFamily="34" charset="0"/>
                <a:ea typeface="IBM Plex Sans" pitchFamily="34" charset="-122"/>
                <a:cs typeface="IBM Plex Sans" pitchFamily="34" charset="-120"/>
              </a:rPr>
              <a:t>bending</a:t>
            </a:r>
            <a:endParaRPr lang="en-US" sz="1500" dirty="0"/>
          </a:p>
        </p:txBody>
      </p:sp>
      <p:sp>
        <p:nvSpPr>
          <p:cNvPr id="15" name="Text 13"/>
          <p:cNvSpPr/>
          <p:nvPr/>
        </p:nvSpPr>
        <p:spPr>
          <a:xfrm>
            <a:off x="5267929" y="3372892"/>
            <a:ext cx="1706896" cy="7188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squared second differences; λ by blocked CV</a:t>
            </a:r>
            <a:endParaRPr lang="en-US" sz="1300" dirty="0"/>
          </a:p>
        </p:txBody>
      </p:sp>
      <p:sp>
        <p:nvSpPr>
          <p:cNvPr id="16" name="Text 14"/>
          <p:cNvSpPr/>
          <p:nvPr/>
        </p:nvSpPr>
        <p:spPr>
          <a:xfrm>
            <a:off x="5267929" y="4117082"/>
            <a:ext cx="17068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 9, 15</a:t>
            </a:r>
            <a:endParaRPr lang="en-US" sz="1200" dirty="0"/>
          </a:p>
        </p:txBody>
      </p:sp>
      <p:sp>
        <p:nvSpPr>
          <p:cNvPr id="17" name="Shape 15"/>
          <p:cNvSpPr/>
          <p:nvPr/>
        </p:nvSpPr>
        <p:spPr>
          <a:xfrm>
            <a:off x="7228808" y="2915766"/>
            <a:ext cx="2011705" cy="1592416"/>
          </a:xfrm>
          <a:prstGeom prst="roundRect">
            <a:avLst>
              <a:gd name="adj" fmla="val 6380"/>
            </a:avLst>
          </a:prstGeom>
          <a:solidFill>
            <a:srgbClr val="26394D"/>
          </a:solidFill>
          <a:ln/>
        </p:spPr>
      </p:sp>
      <p:sp>
        <p:nvSpPr>
          <p:cNvPr id="18" name="Text 16"/>
          <p:cNvSpPr/>
          <p:nvPr/>
        </p:nvSpPr>
        <p:spPr>
          <a:xfrm>
            <a:off x="7406589" y="3093541"/>
            <a:ext cx="17069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FB4E6"/>
                </a:solidFill>
                <a:latin typeface="IBM Plex Sans" pitchFamily="34" charset="0"/>
                <a:ea typeface="IBM Plex Sans" pitchFamily="34" charset="-122"/>
                <a:cs typeface="IBM Plex Sans" pitchFamily="34" charset="-120"/>
              </a:rPr>
              <a:t>gauge</a:t>
            </a:r>
            <a:endParaRPr lang="en-US" sz="1500" dirty="0"/>
          </a:p>
        </p:txBody>
      </p:sp>
      <p:sp>
        <p:nvSpPr>
          <p:cNvPr id="19" name="Text 17"/>
          <p:cNvSpPr/>
          <p:nvPr/>
        </p:nvSpPr>
        <p:spPr>
          <a:xfrm>
            <a:off x="7406589" y="3372892"/>
            <a:ext cx="1706941"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pins where the shared clock sits</a:t>
            </a:r>
            <a:endParaRPr lang="en-US" sz="1300" dirty="0"/>
          </a:p>
        </p:txBody>
      </p:sp>
      <p:sp>
        <p:nvSpPr>
          <p:cNvPr id="20" name="Text 18"/>
          <p:cNvSpPr/>
          <p:nvPr/>
        </p:nvSpPr>
        <p:spPr>
          <a:xfrm>
            <a:off x="7406589" y="3885940"/>
            <a:ext cx="1706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 8</a:t>
            </a:r>
            <a:endParaRPr lang="en-US" sz="1200" dirty="0"/>
          </a:p>
        </p:txBody>
      </p:sp>
      <p:sp>
        <p:nvSpPr>
          <p:cNvPr id="21" name="Shape 19"/>
          <p:cNvSpPr/>
          <p:nvPr/>
        </p:nvSpPr>
        <p:spPr>
          <a:xfrm>
            <a:off x="9367513" y="2915766"/>
            <a:ext cx="2011705" cy="1592416"/>
          </a:xfrm>
          <a:prstGeom prst="roundRect">
            <a:avLst>
              <a:gd name="adj" fmla="val 6380"/>
            </a:avLst>
          </a:prstGeom>
          <a:solidFill>
            <a:srgbClr val="26394D"/>
          </a:solidFill>
          <a:ln/>
        </p:spPr>
      </p:sp>
      <p:sp>
        <p:nvSpPr>
          <p:cNvPr id="22" name="Text 20"/>
          <p:cNvSpPr/>
          <p:nvPr/>
        </p:nvSpPr>
        <p:spPr>
          <a:xfrm>
            <a:off x="9545294" y="3093541"/>
            <a:ext cx="1706941"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FB4E6"/>
                </a:solidFill>
                <a:latin typeface="IBM Plex Sans" pitchFamily="34" charset="0"/>
                <a:ea typeface="IBM Plex Sans" pitchFamily="34" charset="-122"/>
                <a:cs typeface="IBM Plex Sans" pitchFamily="34" charset="-120"/>
              </a:rPr>
              <a:t>slope limits</a:t>
            </a:r>
            <a:endParaRPr lang="en-US" sz="1500" dirty="0"/>
          </a:p>
        </p:txBody>
      </p:sp>
      <p:sp>
        <p:nvSpPr>
          <p:cNvPr id="23" name="Text 21"/>
          <p:cNvSpPr/>
          <p:nvPr/>
        </p:nvSpPr>
        <p:spPr>
          <a:xfrm>
            <a:off x="9545294" y="3372892"/>
            <a:ext cx="1706941" cy="4876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8"/>
                </a:solidFill>
                <a:latin typeface="IBM Plex Sans" pitchFamily="34" charset="0"/>
                <a:ea typeface="IBM Plex Sans" pitchFamily="34" charset="-122"/>
                <a:cs typeface="IBM Plex Sans" pitchFamily="34" charset="-120"/>
              </a:rPr>
              <a:t>box bounds on each step δ</a:t>
            </a:r>
            <a:endParaRPr lang="en-US" sz="1300" dirty="0"/>
          </a:p>
        </p:txBody>
      </p:sp>
      <p:sp>
        <p:nvSpPr>
          <p:cNvPr id="24" name="Text 22"/>
          <p:cNvSpPr/>
          <p:nvPr/>
        </p:nvSpPr>
        <p:spPr>
          <a:xfrm>
            <a:off x="9545294" y="3885940"/>
            <a:ext cx="17069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 4, 10</a:t>
            </a:r>
            <a:endParaRPr lang="en-US" sz="1200" dirty="0"/>
          </a:p>
        </p:txBody>
      </p:sp>
      <p:sp>
        <p:nvSpPr>
          <p:cNvPr id="25" name="Text 23"/>
          <p:cNvSpPr/>
          <p:nvPr/>
        </p:nvSpPr>
        <p:spPr>
          <a:xfrm>
            <a:off x="812782" y="4787565"/>
            <a:ext cx="10883429"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2EFE8"/>
                </a:solidFill>
                <a:latin typeface="IBM Plex Sans" pitchFamily="34" charset="0"/>
                <a:ea typeface="IBM Plex Sans" pitchFamily="34" charset="-122"/>
                <a:cs typeface="IBM Plex Sans" pitchFamily="34" charset="-120"/>
              </a:rPr>
              <a:t>Then every map between batches is </a:t>
            </a:r>
            <a:r>
              <a:rPr lang="en-US" sz="1600" b="1" dirty="0">
                <a:solidFill>
                  <a:srgbClr val="F2EFE8"/>
                </a:solidFill>
                <a:latin typeface="IBM Plex Sans" pitchFamily="34" charset="0"/>
                <a:ea typeface="IBM Plex Sans" pitchFamily="34" charset="-122"/>
                <a:cs typeface="IBM Plex Sans" pitchFamily="34" charset="-120"/>
              </a:rPr>
              <a:t>g(k→l) = fₗ⁻¹ ∘ fₖ</a:t>
            </a:r>
            <a:r>
              <a:rPr lang="en-US" sz="1600" dirty="0">
                <a:solidFill>
                  <a:srgbClr val="F2EFE8"/>
                </a:solidFill>
                <a:latin typeface="IBM Plex Sans" pitchFamily="34" charset="0"/>
                <a:ea typeface="IBM Plex Sans" pitchFamily="34" charset="-122"/>
                <a:cs typeface="IBM Plex Sans" pitchFamily="34" charset="-120"/>
              </a:rPr>
              <a:t> (§ 12), consistent by construction, with a bootstrap band (§ 16).</a:t>
            </a:r>
            <a:endParaRPr lang="en-US" sz="1600" dirty="0"/>
          </a:p>
        </p:txBody>
      </p:sp>
      <p:sp>
        <p:nvSpPr>
          <p:cNvPr id="26" name="Text 24"/>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Section numbers refer to tutorial/mba_from_scratch.ipynb. § 18 checks the from-scratch version against src/multibatch.py.</a:t>
            </a:r>
            <a:endParaRPr lang="en-US" sz="1200" dirty="0"/>
          </a:p>
        </p:txBody>
      </p:sp>
    </p:spTree>
  </p:cSld>
  <p:clrMapOvr>
    <a:masterClrMapping/>
  </p:clrMapOvr>
</p:sld>
</file>

<file path=ppt/theme/theme1.xml><?xml version="1.0" encoding="utf-8"?>
<a:theme xmlns:a="http://schemas.openxmlformats.org/drawingml/2006/main" name="The Joint Model, Step by Step">
  <a:themeElements>
    <a:clrScheme name="The Joint Model, Step by Step">
      <a:dk1>
        <a:srgbClr val="3E4A56"/>
      </a:dk1>
      <a:lt1>
        <a:srgbClr val="F7F5F0"/>
      </a:lt1>
      <a:dk2>
        <a:srgbClr val="6C757D"/>
      </a:dk2>
      <a:lt2>
        <a:srgbClr val="E5E4E1"/>
      </a:lt2>
      <a:accent1>
        <a:srgbClr val="2F6FBF"/>
      </a:accent1>
      <a:accent2>
        <a:srgbClr val="A9520F"/>
      </a:accent2>
      <a:accent3>
        <a:srgbClr val="8FB4E6"/>
      </a:accent3>
      <a:accent4>
        <a:srgbClr val="C8641E"/>
      </a:accent4>
      <a:accent5>
        <a:srgbClr val="1B2A3A"/>
      </a:accent5>
      <a:accent6>
        <a:srgbClr val="6A7682"/>
      </a:accent6>
      <a:hlink>
        <a:srgbClr val="0563C1"/>
      </a:hlink>
      <a:folHlink>
        <a:srgbClr val="954F72"/>
      </a:folHlink>
    </a:clrScheme>
    <a:fontScheme name="The Joint Model, Step by St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Joint Model, Step by Step</dc:title>
  <dc:subject/>
  <dc:creator/>
  <cp:lastModifiedBy/>
  <cp:revision>1</cp:revision>
  <dcterms:created xsi:type="dcterms:W3CDTF">2026-10-14T04:21:54Z</dcterms:created>
  <dcterms:modified xsi:type="dcterms:W3CDTF">2026-10-14T04:21:54Z</dcterms:modified>
</cp:coreProperties>
</file>